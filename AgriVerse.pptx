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944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embeddedFontLst>
    <p:embeddedFont>
      <p:font typeface="Algerian" panose="04020705040A02060702" pitchFamily="82" charset="0"/>
      <p:regular r:id="rId17"/>
    </p:embeddedFont>
    <p:embeddedFont>
      <p:font typeface="Source Sans 3" panose="020B0604020202020204" charset="0"/>
      <p:regular r:id="rId18"/>
    </p:embeddedFont>
    <p:embeddedFont>
      <p:font typeface="Source Serif 4 SemiBold" panose="020B0604020202020204" charset="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899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44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46672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3F476-9DED-1ECF-B22E-E66D8FFD90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DFC5B-E7B5-50D4-F1B4-CD7729494C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361BA-1A88-5A82-F3DD-180EDD8A95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8C5FF-3BC8-401A-BD8F-20C875AEA416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AFB210-E0D4-3487-D501-C9FFC550D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3ECC08-2566-2E48-8558-968439CE7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ABA714-D9E9-41FA-8E4C-A1CB0230C61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7414668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28381-92E3-31FE-B9F7-A74626887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2CB56-E529-97DB-2020-474BA0724F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6D7F0-6B21-5CAF-130E-2262E9C71A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8C5FF-3BC8-401A-BD8F-20C875AEA416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278D26-66E4-94D4-ED70-37A5157FB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23F8B1-FCE0-F96C-D1B4-D0143C9A9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ABA714-D9E9-41FA-8E4C-A1CB0230C61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0434712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05782-2B14-7029-730F-22C4AA4C9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C61AC4-D595-927B-E93A-73701190CE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C29105-8F66-7712-568F-8EA5F0F33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8C5FF-3BC8-401A-BD8F-20C875AEA416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EE1E60-25EE-C71A-742C-7352E4E10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5EEF12-547F-AF4D-44B9-1AE610A10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ABA714-D9E9-41FA-8E4C-A1CB0230C61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9946139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5E7E1-69D1-ABE6-A8D4-11A63E096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6B04EF-2633-33B1-0F1B-477EAAE9F3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04D401-727E-9F71-887F-DCB22470A6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C04E20-C4A3-ED22-646A-6ED860533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8C5FF-3BC8-401A-BD8F-20C875AEA416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F96350-81D9-0A16-8D1A-ED0387FEA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848A0-393C-1998-86F9-A982FC81A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ABA714-D9E9-41FA-8E4C-A1CB0230C61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723224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563F5-F7C8-8B0C-64F7-FF166629E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935BAF-1D03-EC7C-EC32-3EDEA1F8B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4A763C-5D80-5508-77DB-69A1C38A71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D67E66-6BE8-2634-69A0-FF4823A50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C169B4-551E-A558-3497-4152442B3D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8F7634-177F-6945-2B42-BFE6970D6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8C5FF-3BC8-401A-BD8F-20C875AEA416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1FA8B0-D4B8-CFC3-F7C7-5A7BEC2BD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221AD8-CA47-E68A-EDBA-0269A692A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ABA714-D9E9-41FA-8E4C-A1CB0230C61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059603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47991-141F-80DC-82E2-E46F344FF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DED006-0F99-869D-E365-F786773535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8C5FF-3BC8-401A-BD8F-20C875AEA416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220D3B-0722-3155-0B61-5CB3C6BA3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78252A-E6C6-2524-5464-CBCB7E5A5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ABA714-D9E9-41FA-8E4C-A1CB0230C61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2124018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6F4B71-64ED-529C-9444-7488EC2EE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8C5FF-3BC8-401A-BD8F-20C875AEA416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A46755-5C0C-E134-D2C9-B493153C9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C154AC-192C-98FC-736E-72A4A7527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ABA714-D9E9-41FA-8E4C-A1CB0230C61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3465294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9EEB1-FB6B-4366-9537-99BFE8D07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F567C-DB81-773B-17E1-0C5560796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4EC236-BFD3-004D-E53C-F9A9B214BB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8E4CDB-A777-9237-3B1C-45CDE4067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8C5FF-3BC8-401A-BD8F-20C875AEA416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6580D-FC45-7F3B-CC56-0F3214914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A7233F-0CBD-EF40-711E-8DA2BEBBF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ABA714-D9E9-41FA-8E4C-A1CB0230C61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957950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58B96-3DDB-2538-C6C9-9FB7DBFB7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4CFA01-D710-9E08-38F5-EB0BEE327C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137EAA-3B20-8B9A-E2DC-5C07FD4457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7C881C-3A70-456F-1C04-99C593419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8C5FF-3BC8-401A-BD8F-20C875AEA416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4E2556-87E5-7888-9F73-5F029270F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29F2BB-88E1-A3B5-0E8B-61042F3C9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ABA714-D9E9-41FA-8E4C-A1CB0230C61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158488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A4F2BE-ADC2-2804-F0AD-56B5EA89A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AE3282-50A9-F6CC-EBE9-073FD92168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BD3A13-420A-0A4F-09B5-82FCFEE7D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8C5FF-3BC8-401A-BD8F-20C875AEA416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05CDD1-FD6D-7104-19FC-4CE29E8BA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155125-6CC9-1EAC-7CED-367B01416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ABA714-D9E9-41FA-8E4C-A1CB0230C61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628369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051C807-64CB-6792-456F-255D2F2D09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A0B0A5-1715-2D50-6776-825C5D9A93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F5B7F4-E009-180B-31FE-A01D0F891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8C5FF-3BC8-401A-BD8F-20C875AEA416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142E90-1B75-A9FD-157A-071946808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AE703-5F65-60FA-D1F6-F3CEC7CFC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ABA714-D9E9-41FA-8E4C-A1CB0230C61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036111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7918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3E3EC8-91C0-A478-D555-BFF80F179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4F7DBC-D604-3646-69BE-5F4949FAC9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FBF09-B9D4-9666-B6DA-742878C0F6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08C5FF-3BC8-401A-BD8F-20C875AEA416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152983-8C95-30D0-BAC0-09E8A85FA7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DAAA2F-6C37-F9CD-BADD-9518A23F66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ABA714-D9E9-41FA-8E4C-A1CB0230C61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60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5" r:id="rId1"/>
    <p:sldLayoutId id="2147483946" r:id="rId2"/>
    <p:sldLayoutId id="2147483947" r:id="rId3"/>
    <p:sldLayoutId id="2147483948" r:id="rId4"/>
    <p:sldLayoutId id="2147483949" r:id="rId5"/>
    <p:sldLayoutId id="2147483950" r:id="rId6"/>
    <p:sldLayoutId id="2147483951" r:id="rId7"/>
    <p:sldLayoutId id="2147483952" r:id="rId8"/>
    <p:sldLayoutId id="2147483953" r:id="rId9"/>
    <p:sldLayoutId id="2147483954" r:id="rId10"/>
    <p:sldLayoutId id="2147483955" r:id="rId11"/>
    <p:sldLayoutId id="2147483956" r:id="rId12"/>
  </p:sldLayoutIdLst>
  <p:hf sldNum="0"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0" y="0"/>
            <a:ext cx="4571887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98086" y="1221865"/>
            <a:ext cx="6223639" cy="5930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4000" u="sng" kern="0" spc="-75" dirty="0">
                <a:solidFill>
                  <a:srgbClr val="000000"/>
                </a:solidFill>
                <a:latin typeface="Algerian" panose="04020705040A02060702" pitchFamily="82" charset="0"/>
                <a:ea typeface="Twemoji Mozilla" pitchFamily="34" charset="-122"/>
                <a:cs typeface="Twemoji Mozilla" pitchFamily="34" charset="-120"/>
              </a:rPr>
              <a:t>🌾</a:t>
            </a:r>
            <a:r>
              <a:rPr lang="en-US" sz="4000" u="sng" kern="0" spc="-75" dirty="0">
                <a:solidFill>
                  <a:srgbClr val="000000"/>
                </a:solidFill>
                <a:latin typeface="Algerian" panose="04020705040A02060702" pitchFamily="82" charset="0"/>
                <a:ea typeface="Source Serif 4 SemiBold" pitchFamily="34" charset="-122"/>
                <a:cs typeface="Source Serif 4 SemiBold" pitchFamily="34" charset="-120"/>
              </a:rPr>
              <a:t> AgriVerse</a:t>
            </a:r>
            <a:endParaRPr lang="en-US" sz="4000" u="sng" dirty="0">
              <a:latin typeface="Algerian" panose="04020705040A02060702" pitchFamily="82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707417" y="2784501"/>
            <a:ext cx="6223639" cy="7038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algn="ctr">
              <a:lnSpc>
                <a:spcPct val="104000"/>
              </a:lnSpc>
            </a:pPr>
            <a:r>
              <a:rPr lang="en-US" sz="2400" b="1" u="sng" kern="0" spc="-44" dirty="0">
                <a:solidFill>
                  <a:srgbClr val="000000"/>
                </a:solidFill>
                <a:latin typeface="Times New Roman" panose="02020603050405020304" pitchFamily="18" charset="0"/>
                <a:ea typeface="Segoe UI Historic" panose="020B0502040204020203" pitchFamily="34" charset="0"/>
                <a:cs typeface="Times New Roman" panose="02020603050405020304" pitchFamily="18" charset="0"/>
              </a:rPr>
              <a:t>Intelligent Farm Operations Platform with Smart Agro Precision System</a:t>
            </a:r>
            <a:endParaRPr lang="en-US" sz="2400" b="1" u="sng" dirty="0">
              <a:latin typeface="Times New Roman" panose="02020603050405020304" pitchFamily="18" charset="0"/>
              <a:ea typeface="Segoe UI Historic" panose="020B0502040204020203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363896" y="3823340"/>
            <a:ext cx="7147249" cy="1830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751"/>
              </a:spcAft>
            </a:pPr>
            <a:r>
              <a:rPr lang="en-US" b="1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 Bold" pitchFamily="34" charset="-122"/>
                <a:cs typeface="Times New Roman" panose="02020603050405020304" pitchFamily="18" charset="0"/>
              </a:rPr>
              <a:t>Theme:</a:t>
            </a:r>
            <a:r>
              <a:rPr lang="en-US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 Agriculture, Food Tech &amp; Rural Development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 Bold" pitchFamily="34" charset="-122"/>
                <a:cs typeface="Times New Roman" panose="02020603050405020304" pitchFamily="18" charset="0"/>
              </a:rPr>
              <a:t>Presented by:</a:t>
            </a:r>
            <a:r>
              <a:rPr lang="en-US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 Team C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Puspal Das | Mittapalli Praharsha | Muthyala Meghana | Ramanaboina Sowjanya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 Bold" pitchFamily="34" charset="-122"/>
                <a:cs typeface="Times New Roman" panose="02020603050405020304" pitchFamily="18" charset="0"/>
              </a:rPr>
              <a:t>Guide:</a:t>
            </a:r>
            <a:r>
              <a:rPr lang="en-US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 Ragul S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7" y="778077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4000" u="sng" kern="0" spc="-75" dirty="0">
                <a:solidFill>
                  <a:srgbClr val="000000"/>
                </a:solidFill>
                <a:latin typeface="Algerian" panose="04020705040A02060702" pitchFamily="82" charset="0"/>
                <a:ea typeface="Source Serif 4 SemiBold" pitchFamily="34" charset="-122"/>
                <a:cs typeface="Source Serif 4 SemiBold" pitchFamily="34" charset="-120"/>
              </a:rPr>
              <a:t>Problem Statement</a:t>
            </a:r>
            <a:endParaRPr lang="en-US" sz="4000" u="sng" dirty="0">
              <a:latin typeface="Algerian" panose="04020705040A02060702" pitchFamily="8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98239" y="2195647"/>
            <a:ext cx="10795524" cy="7015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/>
            <a:r>
              <a:rPr lang="en-US" sz="20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Agriculture remains one of the most important sectors of the economy, yet many farmers face challenges due to limited access to modern digital technologies and integrated farming solutions.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698086" y="3429002"/>
            <a:ext cx="10657269" cy="17121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314952" indent="-314952" algn="just">
              <a:lnSpc>
                <a:spcPct val="120000"/>
              </a:lnSpc>
              <a:buSzPct val="100000"/>
              <a:buFont typeface="+mj-lt"/>
              <a:buAutoNum type="arabicPeriod"/>
            </a:pPr>
            <a:r>
              <a:rPr lang="en-US" sz="20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Lack of a unified platform for managing agricultural activities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4952" indent="-314952" algn="just">
              <a:lnSpc>
                <a:spcPct val="120000"/>
              </a:lnSpc>
              <a:buSzPct val="100000"/>
              <a:buFont typeface="+mj-lt"/>
              <a:buAutoNum type="arabicPeriod" startAt="2"/>
            </a:pPr>
            <a:r>
              <a:rPr lang="en-US" sz="20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Limited access to expert guidance for crop planning and disease management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4952" indent="-314952" algn="just">
              <a:lnSpc>
                <a:spcPct val="120000"/>
              </a:lnSpc>
              <a:buSzPct val="100000"/>
              <a:buFont typeface="+mj-lt"/>
              <a:buAutoNum type="arabicPeriod" startAt="3"/>
            </a:pPr>
            <a:r>
              <a:rPr lang="en-US" sz="20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Delayed pest identification leading to reduced crop productivity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4952" indent="-314952" algn="just">
              <a:lnSpc>
                <a:spcPct val="120000"/>
              </a:lnSpc>
              <a:buSzPct val="100000"/>
              <a:buFont typeface="+mj-lt"/>
              <a:buAutoNum type="arabicPeriod" startAt="4"/>
            </a:pPr>
            <a:r>
              <a:rPr lang="en-US" sz="20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Limited access to real-time weather forecasts and market price information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4952" indent="-314952" algn="just">
              <a:lnSpc>
                <a:spcPct val="120000"/>
              </a:lnSpc>
              <a:buSzPct val="100000"/>
              <a:buFont typeface="+mj-lt"/>
              <a:buAutoNum type="arabicPeriod" startAt="5"/>
            </a:pPr>
            <a:r>
              <a:rPr lang="en-US" sz="20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Inefficient record management and decision-making processes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1609" y="0"/>
            <a:ext cx="3990087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14093" y="1118791"/>
            <a:ext cx="6223639" cy="83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algn="ctr">
              <a:lnSpc>
                <a:spcPct val="104000"/>
              </a:lnSpc>
            </a:pPr>
            <a:r>
              <a:rPr lang="en-US" sz="3200" u="sng" kern="0" spc="-75" dirty="0">
                <a:solidFill>
                  <a:srgbClr val="000000"/>
                </a:solidFill>
                <a:latin typeface="Algerian" panose="04020705040A02060702" pitchFamily="82" charset="0"/>
                <a:ea typeface="Source Serif 4 SemiBold" pitchFamily="34" charset="-122"/>
                <a:cs typeface="Source Serif 4 SemiBold" pitchFamily="34" charset="-120"/>
              </a:rPr>
              <a:t>Proposed Solution &amp; Objectives</a:t>
            </a:r>
            <a:endParaRPr lang="en-US" sz="3200" u="sng" dirty="0">
              <a:latin typeface="Algerian" panose="04020705040A02060702" pitchFamily="82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698084" y="2049580"/>
            <a:ext cx="7055653" cy="83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/>
            <a:r>
              <a:rPr lang="en-US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AgriVerse is a Java Full Stack smart agriculture platform designed to simplify farm management by integrating crop advisory, weather insights, marketplace services, and expert consultation into a single secure application.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1114093" y="3253037"/>
            <a:ext cx="6223639" cy="3519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2800" u="sng" kern="0" spc="-44" dirty="0">
                <a:solidFill>
                  <a:srgbClr val="000000"/>
                </a:solidFill>
                <a:latin typeface="Algerian" panose="04020705040A02060702" pitchFamily="82" charset="0"/>
                <a:ea typeface="Source Serif 4 SemiBold" pitchFamily="34" charset="-122"/>
                <a:cs typeface="Source Serif 4 SemiBold" pitchFamily="34" charset="-120"/>
              </a:rPr>
              <a:t>Objectives</a:t>
            </a:r>
            <a:endParaRPr lang="en-US" sz="2800" u="sng" dirty="0">
              <a:latin typeface="Algerian" panose="04020705040A02060702" pitchFamily="82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1114092" y="3972005"/>
            <a:ext cx="6546341" cy="16200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14952" indent="-314952" algn="just">
              <a:buSzPct val="100000"/>
              <a:buChar char="•"/>
            </a:pPr>
            <a:r>
              <a:rPr lang="en-US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Deliver a unified platform for modern farm management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4952" indent="-314952" algn="just">
              <a:buSzPct val="100000"/>
              <a:buChar char="•"/>
            </a:pPr>
            <a:r>
              <a:rPr lang="en-US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Enable AI-driven crop advisory and early pest detection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4952" indent="-314952" algn="just">
              <a:buSzPct val="100000"/>
              <a:buChar char="•"/>
            </a:pPr>
            <a:r>
              <a:rPr lang="en-US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Provide real-time weather updates and market price insights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4952" indent="-314952" algn="just">
              <a:buSzPct val="100000"/>
              <a:buChar char="•"/>
            </a:pPr>
            <a:r>
              <a:rPr lang="en-US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Connect farmers with agricultural experts and buyers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4952" indent="-314952" algn="just">
              <a:buSzPct val="100000"/>
              <a:buChar char="•"/>
            </a:pPr>
            <a:r>
              <a:rPr lang="en-US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Improve productivity through secure and data-driven decision making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07781" y="824956"/>
            <a:ext cx="6874979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4000" u="sng" kern="0" spc="-75" dirty="0">
                <a:solidFill>
                  <a:srgbClr val="000000"/>
                </a:solidFill>
                <a:latin typeface="Algerian" panose="04020705040A02060702" pitchFamily="82" charset="0"/>
                <a:ea typeface="Source Serif 4 SemiBold" pitchFamily="34" charset="-122"/>
                <a:cs typeface="Source Serif 4 SemiBold" pitchFamily="34" charset="-120"/>
              </a:rPr>
              <a:t>Technology Stack</a:t>
            </a:r>
            <a:endParaRPr lang="en-US" sz="4000" u="sng" dirty="0">
              <a:latin typeface="Algerian" panose="04020705040A02060702" pitchFamily="82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31" y="1912714"/>
            <a:ext cx="4368436" cy="4236349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2919619"/>
              </p:ext>
            </p:extLst>
          </p:nvPr>
        </p:nvGraphicFramePr>
        <p:xfrm>
          <a:off x="5166662" y="1912714"/>
          <a:ext cx="6504608" cy="4236352"/>
        </p:xfrm>
        <a:graphic>
          <a:graphicData uri="http://schemas.openxmlformats.org/drawingml/2006/table">
            <a:tbl>
              <a:tblPr/>
              <a:tblGrid>
                <a:gridCol w="281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4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256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Frontend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HTML,CSS3,Vanilla JavaScript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6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Backend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Spring Boot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6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Security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Spring Security, JWT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6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Database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MySQL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6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ORM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Spring Data JPA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6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Build Tool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Maven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6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APIs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REST APIs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30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Version Control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Git &amp; GitHub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345477" y="2312315"/>
            <a:ext cx="5154484" cy="1246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6345477" y="2825859"/>
            <a:ext cx="5154484" cy="1246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6345477" y="3339401"/>
            <a:ext cx="5154484" cy="1246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6345477" y="3852945"/>
            <a:ext cx="5154484" cy="1246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9" name="Shape 5"/>
          <p:cNvSpPr/>
          <p:nvPr/>
        </p:nvSpPr>
        <p:spPr>
          <a:xfrm>
            <a:off x="6345477" y="4366489"/>
            <a:ext cx="5154484" cy="1246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0" name="Shape 6"/>
          <p:cNvSpPr/>
          <p:nvPr/>
        </p:nvSpPr>
        <p:spPr>
          <a:xfrm>
            <a:off x="6345477" y="4880032"/>
            <a:ext cx="5154484" cy="1246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1" name="Shape 7"/>
          <p:cNvSpPr/>
          <p:nvPr/>
        </p:nvSpPr>
        <p:spPr>
          <a:xfrm>
            <a:off x="6345477" y="5393576"/>
            <a:ext cx="5154484" cy="1246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363" y="974131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3651" u="sng" kern="0" spc="-75" dirty="0">
                <a:solidFill>
                  <a:srgbClr val="000000"/>
                </a:solidFill>
                <a:latin typeface="Algerian" panose="04020705040A02060702" pitchFamily="82" charset="0"/>
                <a:ea typeface="Source Serif 4 SemiBold" pitchFamily="34" charset="-122"/>
                <a:cs typeface="Source Serif 4 SemiBold" pitchFamily="34" charset="-120"/>
              </a:rPr>
              <a:t>System Architecture</a:t>
            </a:r>
            <a:endParaRPr lang="en-US" sz="3651" u="sng" dirty="0">
              <a:latin typeface="Algerian" panose="04020705040A02060702" pitchFamily="8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8087" y="2065735"/>
            <a:ext cx="99712" cy="99715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4" name="Text 2"/>
          <p:cNvSpPr/>
          <p:nvPr/>
        </p:nvSpPr>
        <p:spPr>
          <a:xfrm>
            <a:off x="997224" y="1959770"/>
            <a:ext cx="1660483" cy="5865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104000"/>
              </a:lnSpc>
            </a:pPr>
            <a:r>
              <a:rPr lang="en-US" b="1" kern="0" spc="-37" dirty="0">
                <a:solidFill>
                  <a:srgbClr val="272525"/>
                </a:solidFill>
                <a:latin typeface="Times New Roman" panose="02020603050405020304" pitchFamily="18" charset="0"/>
                <a:ea typeface="Source Serif 4 SemiBold" pitchFamily="34" charset="-122"/>
                <a:cs typeface="Times New Roman" panose="02020603050405020304" pitchFamily="18" charset="0"/>
              </a:rPr>
              <a:t>Three-Tier Architecture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997224" y="2666009"/>
            <a:ext cx="1660483" cy="2251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/>
            <a:r>
              <a:rPr lang="en-US" sz="1600" kern="0" spc="-31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Frontend connects to a robust Spring Boot API, which in turn integrates with a specialized Spring AI Microservice, ensuring a scalable and modular design.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907037" y="2065735"/>
            <a:ext cx="99712" cy="99715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7" name="Text 5"/>
          <p:cNvSpPr/>
          <p:nvPr/>
        </p:nvSpPr>
        <p:spPr>
          <a:xfrm>
            <a:off x="3206175" y="1959769"/>
            <a:ext cx="1660483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b="1" kern="0" spc="-37" dirty="0">
                <a:solidFill>
                  <a:srgbClr val="272525"/>
                </a:solidFill>
                <a:latin typeface="Times New Roman" panose="02020603050405020304" pitchFamily="18" charset="0"/>
                <a:ea typeface="Source Serif 4 SemiBold" pitchFamily="34" charset="-122"/>
                <a:cs typeface="Times New Roman" panose="02020603050405020304" pitchFamily="18" charset="0"/>
              </a:rPr>
              <a:t>Data Flow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206175" y="2372718"/>
            <a:ext cx="1660483" cy="3511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algn="just">
              <a:lnSpc>
                <a:spcPct val="133000"/>
              </a:lnSpc>
            </a:pPr>
            <a:r>
              <a:rPr lang="en-US" sz="16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Requests are meticulously processed: first authenticated by Spring Security, then routed through @RestController to interact with MongoDB Atlas, before a response is delivered.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115988" y="2065735"/>
            <a:ext cx="99712" cy="99715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10" name="Text 8"/>
          <p:cNvSpPr/>
          <p:nvPr/>
        </p:nvSpPr>
        <p:spPr>
          <a:xfrm>
            <a:off x="5415125" y="1959769"/>
            <a:ext cx="1660483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2000" b="1" kern="0" spc="-37" dirty="0">
                <a:solidFill>
                  <a:srgbClr val="272525"/>
                </a:solidFill>
                <a:latin typeface="Times New Roman" panose="02020603050405020304" pitchFamily="18" charset="0"/>
                <a:ea typeface="Source Serif 4 SemiBold" pitchFamily="34" charset="-122"/>
                <a:cs typeface="Times New Roman" panose="02020603050405020304" pitchFamily="18" charset="0"/>
              </a:rPr>
              <a:t>AI Pipeline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415125" y="2372718"/>
            <a:ext cx="1660483" cy="3511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algn="just">
              <a:lnSpc>
                <a:spcPct val="133000"/>
              </a:lnSpc>
            </a:pPr>
            <a:r>
              <a:rPr lang="en-US" sz="16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Our AI pipeline transforms raw images through Google Gemini  API integration for real-time generative AI advisory, and performs advanced disease classification to provide precise agricultural insights.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324939" y="2065735"/>
            <a:ext cx="99712" cy="99715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13" name="Text 11"/>
          <p:cNvSpPr/>
          <p:nvPr/>
        </p:nvSpPr>
        <p:spPr>
          <a:xfrm>
            <a:off x="7624077" y="1959769"/>
            <a:ext cx="1660483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2000" b="1" kern="0" spc="-37" dirty="0">
                <a:solidFill>
                  <a:srgbClr val="272525"/>
                </a:solidFill>
                <a:latin typeface="Times New Roman" panose="02020603050405020304" pitchFamily="18" charset="0"/>
                <a:ea typeface="Source Serif 4 SemiBold" pitchFamily="34" charset="-122"/>
                <a:cs typeface="Times New Roman" panose="02020603050405020304" pitchFamily="18" charset="0"/>
              </a:rPr>
              <a:t>Database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624077" y="2372718"/>
            <a:ext cx="1660483" cy="15959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>
              <a:lnSpc>
                <a:spcPct val="133000"/>
              </a:lnSpc>
            </a:pPr>
            <a:r>
              <a:rPr lang="en-US" sz="16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MongoDB stores application data using scalable NoSQL Document Collections.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533891" y="2065735"/>
            <a:ext cx="99712" cy="99715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16" name="Text 14"/>
          <p:cNvSpPr/>
          <p:nvPr/>
        </p:nvSpPr>
        <p:spPr>
          <a:xfrm>
            <a:off x="9833028" y="1959769"/>
            <a:ext cx="1660483" cy="879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algn="ctr">
              <a:lnSpc>
                <a:spcPct val="104000"/>
              </a:lnSpc>
            </a:pPr>
            <a:r>
              <a:rPr lang="en-US" sz="2000" b="1" kern="0" spc="-37" dirty="0">
                <a:solidFill>
                  <a:srgbClr val="272525"/>
                </a:solidFill>
                <a:latin typeface="Times New Roman" panose="02020603050405020304" pitchFamily="18" charset="0"/>
                <a:ea typeface="Source Serif 4 SemiBold" pitchFamily="34" charset="-122"/>
                <a:cs typeface="Times New Roman" panose="02020603050405020304" pitchFamily="18" charset="0"/>
              </a:rPr>
              <a:t>Authentication &amp; Authorization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833028" y="2959298"/>
            <a:ext cx="1660483" cy="25534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133000"/>
              </a:lnSpc>
            </a:pPr>
            <a:r>
              <a:rPr lang="en-US" sz="1551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Secure authentication is powered by Spring Security, JWT, implementing strict role-based access control for Farmers, Vets, and Admins.</a:t>
            </a:r>
            <a:endParaRPr lang="en-US" sz="155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8374" y="672903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4000" u="sng" kern="0" spc="-75" dirty="0">
                <a:solidFill>
                  <a:srgbClr val="000000"/>
                </a:solidFill>
                <a:latin typeface="Algerian" panose="04020705040A02060702" pitchFamily="82" charset="0"/>
                <a:ea typeface="Source Serif 4 SemiBold" pitchFamily="34" charset="-122"/>
                <a:cs typeface="Source Serif 4 SemiBold" pitchFamily="34" charset="-120"/>
              </a:rPr>
              <a:t>Database Design</a:t>
            </a:r>
            <a:endParaRPr lang="en-US" sz="4000" u="sng" dirty="0">
              <a:latin typeface="Algerian" panose="04020705040A02060702" pitchFamily="8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2893516" y="1521753"/>
            <a:ext cx="640456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20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MySQL stores all application data using relational tables.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98087" y="2102249"/>
            <a:ext cx="2549263" cy="2101255"/>
          </a:xfrm>
          <a:prstGeom prst="roundRect">
            <a:avLst>
              <a:gd name="adj" fmla="val 3987"/>
            </a:avLst>
          </a:prstGeom>
          <a:solidFill>
            <a:srgbClr val="F0D4F7"/>
          </a:solidFill>
          <a:ln w="6350">
            <a:solidFill>
              <a:srgbClr val="D6BA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3860" y="2308028"/>
            <a:ext cx="2137715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kern="0" spc="-37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Users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03860" y="2720976"/>
            <a:ext cx="2137715" cy="1276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>
              <a:lnSpc>
                <a:spcPct val="133000"/>
              </a:lnSpc>
            </a:pPr>
            <a:r>
              <a:rPr lang="en-US" sz="16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Authentication, roles, and profile details for farmers, buyers, and administrators.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46773" y="2102249"/>
            <a:ext cx="2549363" cy="2101255"/>
          </a:xfrm>
          <a:prstGeom prst="roundRect">
            <a:avLst>
              <a:gd name="adj" fmla="val 3987"/>
            </a:avLst>
          </a:prstGeom>
          <a:solidFill>
            <a:srgbClr val="F0D4F7"/>
          </a:solidFill>
          <a:ln w="6350">
            <a:solidFill>
              <a:srgbClr val="D6BA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2548" y="2308028"/>
            <a:ext cx="2137813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kern="0" spc="-37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Crops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652548" y="2720975"/>
            <a:ext cx="2137813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>
              <a:lnSpc>
                <a:spcPct val="133000"/>
              </a:lnSpc>
            </a:pPr>
            <a:r>
              <a:rPr lang="en-US" sz="16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Crop records with planting details, disease status, and cultivation metadata.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195562" y="2102249"/>
            <a:ext cx="2549263" cy="2101255"/>
          </a:xfrm>
          <a:prstGeom prst="roundRect">
            <a:avLst>
              <a:gd name="adj" fmla="val 3987"/>
            </a:avLst>
          </a:prstGeom>
          <a:solidFill>
            <a:srgbClr val="F0D4F7"/>
          </a:solidFill>
          <a:ln w="6350">
            <a:solidFill>
              <a:srgbClr val="D6BA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1333" y="2308028"/>
            <a:ext cx="2137715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kern="0" spc="-37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Products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401333" y="2720975"/>
            <a:ext cx="2137715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>
              <a:lnSpc>
                <a:spcPct val="133000"/>
              </a:lnSpc>
            </a:pPr>
            <a:r>
              <a:rPr lang="en-US" sz="1551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Marketplace product listings linked to crop inventory and availability.</a:t>
            </a:r>
            <a:endParaRPr lang="en-US" sz="155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944247" y="2102249"/>
            <a:ext cx="2549363" cy="2101255"/>
          </a:xfrm>
          <a:prstGeom prst="roundRect">
            <a:avLst>
              <a:gd name="adj" fmla="val 3987"/>
            </a:avLst>
          </a:prstGeom>
          <a:solidFill>
            <a:srgbClr val="F0D4F7"/>
          </a:solidFill>
          <a:ln w="6350">
            <a:solidFill>
              <a:srgbClr val="D6BA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50023" y="2308028"/>
            <a:ext cx="2137813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kern="0" spc="-37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Orders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150023" y="2720975"/>
            <a:ext cx="2137813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>
              <a:lnSpc>
                <a:spcPct val="133000"/>
              </a:lnSpc>
            </a:pPr>
            <a:r>
              <a:rPr lang="en-US" sz="16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Purchase transactions, order status, quantities, and delivery tracking.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98087" y="4402931"/>
            <a:ext cx="3465525" cy="1782068"/>
          </a:xfrm>
          <a:prstGeom prst="roundRect">
            <a:avLst>
              <a:gd name="adj" fmla="val 4701"/>
            </a:avLst>
          </a:prstGeom>
          <a:solidFill>
            <a:srgbClr val="F0D4F7"/>
          </a:solidFill>
          <a:ln w="6350">
            <a:solidFill>
              <a:srgbClr val="D6BA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3860" y="4608712"/>
            <a:ext cx="30539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kern="0" spc="-37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Consultations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03860" y="5021659"/>
            <a:ext cx="3053976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>
              <a:lnSpc>
                <a:spcPct val="133000"/>
              </a:lnSpc>
            </a:pPr>
            <a:r>
              <a:rPr lang="en-US" sz="1551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Expert advice sessions, diagnosis notes, and recommendations for users.</a:t>
            </a:r>
            <a:endParaRPr lang="en-US" sz="155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363036" y="4402931"/>
            <a:ext cx="3465525" cy="1782068"/>
          </a:xfrm>
          <a:prstGeom prst="roundRect">
            <a:avLst>
              <a:gd name="adj" fmla="val 4701"/>
            </a:avLst>
          </a:prstGeom>
          <a:solidFill>
            <a:srgbClr val="F0D4F7"/>
          </a:solidFill>
          <a:ln w="6350">
            <a:solidFill>
              <a:srgbClr val="D6BA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8811" y="4608712"/>
            <a:ext cx="30539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kern="0" spc="-37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Weather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568811" y="5021659"/>
            <a:ext cx="3053976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>
              <a:lnSpc>
                <a:spcPct val="133000"/>
              </a:lnSpc>
            </a:pPr>
            <a:r>
              <a:rPr lang="en-US" sz="1551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Location-based forecasts, alerts, and environmental conditions for decision-making.</a:t>
            </a:r>
            <a:endParaRPr lang="en-US" sz="155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027985" y="4402931"/>
            <a:ext cx="3465624" cy="1782068"/>
          </a:xfrm>
          <a:prstGeom prst="roundRect">
            <a:avLst>
              <a:gd name="adj" fmla="val 4701"/>
            </a:avLst>
          </a:prstGeom>
          <a:solidFill>
            <a:srgbClr val="F0D4F7"/>
          </a:solidFill>
          <a:ln w="6350">
            <a:solidFill>
              <a:srgbClr val="D6BA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33761" y="4608712"/>
            <a:ext cx="3054075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kern="0" spc="-37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Marketplace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233761" y="5021659"/>
            <a:ext cx="3054075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>
              <a:lnSpc>
                <a:spcPct val="133000"/>
              </a:lnSpc>
            </a:pPr>
            <a:r>
              <a:rPr lang="en-US" sz="1551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Listings, pricing, categories, and buyer-seller interactions across the platform.</a:t>
            </a:r>
            <a:endParaRPr lang="en-US" sz="155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0683" y="1078409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3651" u="sng" kern="0" spc="-75" dirty="0">
                <a:solidFill>
                  <a:srgbClr val="000000"/>
                </a:solidFill>
                <a:latin typeface="Algerian" panose="04020705040A02060702" pitchFamily="82" charset="0"/>
                <a:ea typeface="Source Serif 4 SemiBold" pitchFamily="34" charset="-122"/>
                <a:cs typeface="Times New Roman" panose="02020603050405020304" pitchFamily="18" charset="0"/>
              </a:rPr>
              <a:t>System Workflow &amp; Security</a:t>
            </a:r>
            <a:endParaRPr lang="en-US" sz="3651" u="sng" dirty="0">
              <a:latin typeface="Algerian" panose="04020705040A02060702" pitchFamily="82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76325" y="1816150"/>
            <a:ext cx="10373419" cy="6113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20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AgriVerse ensures secure access through role-based authentication and controlled application workflow.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43677" y="2477593"/>
            <a:ext cx="5831337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u="sng" kern="0" spc="-37" dirty="0">
                <a:solidFill>
                  <a:srgbClr val="000000"/>
                </a:solidFill>
                <a:latin typeface="Times New Roman" panose="02020603050405020304" pitchFamily="18" charset="0"/>
                <a:ea typeface="Source Serif 4 SemiBold" pitchFamily="34" charset="-122"/>
                <a:cs typeface="Times New Roman" panose="02020603050405020304" pitchFamily="18" charset="0"/>
              </a:rPr>
              <a:t>Workflow</a:t>
            </a:r>
            <a:endParaRPr lang="en-US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256377" y="4200775"/>
            <a:ext cx="5831337" cy="25400"/>
          </a:xfrm>
          <a:prstGeom prst="roundRect">
            <a:avLst>
              <a:gd name="adj" fmla="val 49999"/>
            </a:avLst>
          </a:prstGeom>
          <a:solidFill>
            <a:srgbClr val="D6BADD"/>
          </a:solidFill>
          <a:ln/>
        </p:spPr>
      </p:sp>
      <p:sp>
        <p:nvSpPr>
          <p:cNvPr id="6" name="Shape 4"/>
          <p:cNvSpPr/>
          <p:nvPr/>
        </p:nvSpPr>
        <p:spPr>
          <a:xfrm>
            <a:off x="2132457" y="3602387"/>
            <a:ext cx="25399" cy="598388"/>
          </a:xfrm>
          <a:prstGeom prst="roundRect">
            <a:avLst>
              <a:gd name="adj" fmla="val 50001"/>
            </a:avLst>
          </a:prstGeom>
          <a:solidFill>
            <a:srgbClr val="D6BADD"/>
          </a:solidFill>
          <a:ln/>
        </p:spPr>
      </p:sp>
      <p:sp>
        <p:nvSpPr>
          <p:cNvPr id="7" name="Shape 5"/>
          <p:cNvSpPr/>
          <p:nvPr/>
        </p:nvSpPr>
        <p:spPr>
          <a:xfrm>
            <a:off x="2070398" y="4126013"/>
            <a:ext cx="149519" cy="149523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8" name="Shape 6"/>
          <p:cNvSpPr/>
          <p:nvPr/>
        </p:nvSpPr>
        <p:spPr>
          <a:xfrm>
            <a:off x="1256378" y="2871639"/>
            <a:ext cx="1777559" cy="730747"/>
          </a:xfrm>
          <a:prstGeom prst="roundRect">
            <a:avLst>
              <a:gd name="adj" fmla="val 11465"/>
            </a:avLst>
          </a:prstGeom>
          <a:solidFill>
            <a:srgbClr val="F0D4F7"/>
          </a:solidFill>
          <a:ln w="6350">
            <a:solidFill>
              <a:srgbClr val="D6BA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62149" y="3077420"/>
            <a:ext cx="1366011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33000"/>
              </a:lnSpc>
            </a:pPr>
            <a:r>
              <a:rPr lang="en-US" sz="1551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User Login</a:t>
            </a:r>
            <a:endParaRPr lang="en-US" sz="155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145851" y="4200775"/>
            <a:ext cx="25399" cy="598388"/>
          </a:xfrm>
          <a:prstGeom prst="roundRect">
            <a:avLst>
              <a:gd name="adj" fmla="val 50001"/>
            </a:avLst>
          </a:prstGeom>
          <a:solidFill>
            <a:srgbClr val="D6BADD"/>
          </a:solidFill>
          <a:ln/>
        </p:spPr>
      </p:sp>
      <p:sp>
        <p:nvSpPr>
          <p:cNvPr id="11" name="Shape 9"/>
          <p:cNvSpPr/>
          <p:nvPr/>
        </p:nvSpPr>
        <p:spPr>
          <a:xfrm>
            <a:off x="3083791" y="4126013"/>
            <a:ext cx="149519" cy="149523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12" name="Shape 10"/>
          <p:cNvSpPr/>
          <p:nvPr/>
        </p:nvSpPr>
        <p:spPr>
          <a:xfrm>
            <a:off x="2269773" y="4799163"/>
            <a:ext cx="1777559" cy="1049933"/>
          </a:xfrm>
          <a:prstGeom prst="roundRect">
            <a:avLst>
              <a:gd name="adj" fmla="val 7980"/>
            </a:avLst>
          </a:prstGeom>
          <a:solidFill>
            <a:srgbClr val="F0D4F7"/>
          </a:solidFill>
          <a:ln w="6350">
            <a:solidFill>
              <a:srgbClr val="D6BA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75545" y="5004943"/>
            <a:ext cx="1366011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133000"/>
              </a:lnSpc>
            </a:pPr>
            <a:r>
              <a:rPr lang="en-US" sz="1551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JWT Authentication</a:t>
            </a:r>
            <a:endParaRPr lang="en-US" sz="155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159346" y="3602387"/>
            <a:ext cx="25399" cy="598388"/>
          </a:xfrm>
          <a:prstGeom prst="roundRect">
            <a:avLst>
              <a:gd name="adj" fmla="val 50001"/>
            </a:avLst>
          </a:prstGeom>
          <a:solidFill>
            <a:srgbClr val="D6BADD"/>
          </a:solidFill>
          <a:ln/>
        </p:spPr>
      </p:sp>
      <p:sp>
        <p:nvSpPr>
          <p:cNvPr id="15" name="Shape 13"/>
          <p:cNvSpPr/>
          <p:nvPr/>
        </p:nvSpPr>
        <p:spPr>
          <a:xfrm>
            <a:off x="4097286" y="4126013"/>
            <a:ext cx="149519" cy="149523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16" name="Shape 14"/>
          <p:cNvSpPr/>
          <p:nvPr/>
        </p:nvSpPr>
        <p:spPr>
          <a:xfrm>
            <a:off x="3283266" y="2871639"/>
            <a:ext cx="1777559" cy="730747"/>
          </a:xfrm>
          <a:prstGeom prst="roundRect">
            <a:avLst>
              <a:gd name="adj" fmla="val 11465"/>
            </a:avLst>
          </a:prstGeom>
          <a:solidFill>
            <a:srgbClr val="F0D4F7"/>
          </a:solidFill>
          <a:ln w="6350">
            <a:solidFill>
              <a:srgbClr val="D6BA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89039" y="3077420"/>
            <a:ext cx="1366011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33000"/>
              </a:lnSpc>
            </a:pPr>
            <a:r>
              <a:rPr lang="en-US" sz="1551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Role Verification</a:t>
            </a:r>
            <a:endParaRPr lang="en-US" sz="155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172741" y="4200775"/>
            <a:ext cx="25399" cy="598388"/>
          </a:xfrm>
          <a:prstGeom prst="roundRect">
            <a:avLst>
              <a:gd name="adj" fmla="val 50001"/>
            </a:avLst>
          </a:prstGeom>
          <a:solidFill>
            <a:srgbClr val="D6BADD"/>
          </a:solidFill>
          <a:ln/>
        </p:spPr>
      </p:sp>
      <p:sp>
        <p:nvSpPr>
          <p:cNvPr id="19" name="Shape 17"/>
          <p:cNvSpPr/>
          <p:nvPr/>
        </p:nvSpPr>
        <p:spPr>
          <a:xfrm>
            <a:off x="5110682" y="4126013"/>
            <a:ext cx="149519" cy="149523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20" name="Shape 18"/>
          <p:cNvSpPr/>
          <p:nvPr/>
        </p:nvSpPr>
        <p:spPr>
          <a:xfrm>
            <a:off x="4296662" y="4799163"/>
            <a:ext cx="1777559" cy="1049933"/>
          </a:xfrm>
          <a:prstGeom prst="roundRect">
            <a:avLst>
              <a:gd name="adj" fmla="val 7980"/>
            </a:avLst>
          </a:prstGeom>
          <a:solidFill>
            <a:srgbClr val="F0D4F7"/>
          </a:solidFill>
          <a:ln w="6350">
            <a:solidFill>
              <a:srgbClr val="D6BA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02433" y="5004943"/>
            <a:ext cx="1366011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133000"/>
              </a:lnSpc>
            </a:pPr>
            <a:r>
              <a:rPr lang="en-US" sz="1551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Personalized Dashboard</a:t>
            </a:r>
            <a:endParaRPr lang="en-US" sz="155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186235" y="3602387"/>
            <a:ext cx="25399" cy="598388"/>
          </a:xfrm>
          <a:prstGeom prst="roundRect">
            <a:avLst>
              <a:gd name="adj" fmla="val 50001"/>
            </a:avLst>
          </a:prstGeom>
          <a:solidFill>
            <a:srgbClr val="D6BADD"/>
          </a:solidFill>
          <a:ln/>
        </p:spPr>
      </p:sp>
      <p:sp>
        <p:nvSpPr>
          <p:cNvPr id="23" name="Shape 21"/>
          <p:cNvSpPr/>
          <p:nvPr/>
        </p:nvSpPr>
        <p:spPr>
          <a:xfrm>
            <a:off x="6124175" y="4126013"/>
            <a:ext cx="149519" cy="149523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24" name="Shape 22"/>
          <p:cNvSpPr/>
          <p:nvPr/>
        </p:nvSpPr>
        <p:spPr>
          <a:xfrm>
            <a:off x="5310155" y="2871639"/>
            <a:ext cx="1777559" cy="730747"/>
          </a:xfrm>
          <a:prstGeom prst="roundRect">
            <a:avLst>
              <a:gd name="adj" fmla="val 11465"/>
            </a:avLst>
          </a:prstGeom>
          <a:solidFill>
            <a:srgbClr val="F0D4F7"/>
          </a:solidFill>
          <a:ln w="6350">
            <a:solidFill>
              <a:srgbClr val="D6BA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15928" y="3077420"/>
            <a:ext cx="1366011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33000"/>
              </a:lnSpc>
            </a:pPr>
            <a:r>
              <a:rPr lang="en-US" sz="1551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Access Features</a:t>
            </a:r>
            <a:endParaRPr lang="en-US" sz="155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7022329" y="2433539"/>
            <a:ext cx="4477531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u="sng" kern="0" spc="-37" dirty="0">
                <a:solidFill>
                  <a:srgbClr val="000000"/>
                </a:solidFill>
                <a:latin typeface="Times New Roman" panose="02020603050405020304" pitchFamily="18" charset="0"/>
                <a:ea typeface="Source Serif 4 SemiBold" pitchFamily="34" charset="-122"/>
                <a:cs typeface="Times New Roman" panose="02020603050405020304" pitchFamily="18" charset="0"/>
              </a:rPr>
              <a:t>Security</a:t>
            </a:r>
            <a:endParaRPr lang="en-US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429516" y="2877399"/>
            <a:ext cx="2075019" cy="10970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14952" indent="-314952">
              <a:lnSpc>
                <a:spcPct val="133000"/>
              </a:lnSpc>
              <a:buSzPct val="100000"/>
              <a:buFont typeface="+mj-lt"/>
              <a:buAutoNum type="arabicPeriod"/>
            </a:pPr>
            <a:r>
              <a:rPr lang="en-US" sz="1551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 Spring Security</a:t>
            </a:r>
            <a:endParaRPr lang="en-US" sz="155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4952" indent="-314952">
              <a:lnSpc>
                <a:spcPct val="133000"/>
              </a:lnSpc>
              <a:buSzPct val="100000"/>
              <a:buFont typeface="+mj-lt"/>
              <a:buAutoNum type="arabicPeriod" startAt="2"/>
            </a:pPr>
            <a:r>
              <a:rPr lang="en-US" sz="1551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 JWT Auth</a:t>
            </a:r>
            <a:endParaRPr lang="en-US" sz="155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4952" indent="-314952">
              <a:lnSpc>
                <a:spcPct val="133000"/>
              </a:lnSpc>
              <a:buSzPct val="100000"/>
              <a:buFont typeface="+mj-lt"/>
              <a:buAutoNum type="arabicPeriod" startAt="3"/>
            </a:pPr>
            <a:r>
              <a:rPr lang="en-US" sz="1551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 Role-Based Access</a:t>
            </a:r>
            <a:endParaRPr lang="en-US" sz="155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7" y="921104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3651" u="sng" kern="0" spc="-75" dirty="0">
                <a:solidFill>
                  <a:srgbClr val="000000"/>
                </a:solidFill>
                <a:latin typeface="Algerian" panose="04020705040A02060702" pitchFamily="82" charset="0"/>
                <a:ea typeface="Source Serif 4 SemiBold" pitchFamily="34" charset="-122"/>
                <a:cs typeface="Times New Roman" panose="02020603050405020304" pitchFamily="18" charset="0"/>
              </a:rPr>
              <a:t>Core Features &amp; Modules</a:t>
            </a:r>
            <a:endParaRPr lang="en-US" sz="3651" u="sng" dirty="0">
              <a:latin typeface="Algerian" panose="04020705040A02060702" pitchFamily="82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98087" y="1856455"/>
            <a:ext cx="10795524" cy="96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/>
            <a:r>
              <a:rPr lang="en-US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AgriVerse provides a complete digital farming ecosystem by combining secure farm management, intelligent decision support, and role-based services on a single platform.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1136421"/>
              </p:ext>
            </p:extLst>
          </p:nvPr>
        </p:nvGraphicFramePr>
        <p:xfrm>
          <a:off x="698087" y="2598241"/>
          <a:ext cx="10795525" cy="3490628"/>
        </p:xfrm>
        <a:graphic>
          <a:graphicData uri="http://schemas.openxmlformats.org/drawingml/2006/table">
            <a:tbl>
              <a:tblPr/>
              <a:tblGrid>
                <a:gridCol w="35625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04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25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436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Core Features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Application Modules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AI &amp; Smart Services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3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Secure Authentication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Farmer Portal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AI Crop Advisory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3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Crop Management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Expert Portal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Pest Detection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3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Weather Insights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Marketplace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Weather Analysis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3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Digital Marketplace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Admin Dashboard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Market Price Insights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071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Analytics Dashboard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Role-Based Access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Smart Recommendations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98087" y="3163313"/>
            <a:ext cx="10795524" cy="1246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698087" y="3747201"/>
            <a:ext cx="10795524" cy="1246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698087" y="4331088"/>
            <a:ext cx="10795524" cy="1246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698087" y="4914976"/>
            <a:ext cx="10795524" cy="1246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4" name="Shape 6"/>
          <p:cNvSpPr/>
          <p:nvPr/>
        </p:nvSpPr>
        <p:spPr>
          <a:xfrm>
            <a:off x="698087" y="5498864"/>
            <a:ext cx="10795524" cy="1246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7" y="603755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3651" u="sng" kern="0" spc="-75" dirty="0">
                <a:solidFill>
                  <a:srgbClr val="000000"/>
                </a:solidFill>
                <a:latin typeface="Algerian" panose="04020705040A02060702" pitchFamily="82" charset="0"/>
                <a:ea typeface="Source Serif 4 SemiBold" pitchFamily="34" charset="-122"/>
                <a:cs typeface="Times New Roman" panose="02020603050405020304" pitchFamily="18" charset="0"/>
              </a:rPr>
              <a:t>Key Innovations</a:t>
            </a:r>
            <a:endParaRPr lang="en-US" sz="3651" u="sng" dirty="0">
              <a:latin typeface="Algerian" panose="04020705040A02060702" pitchFamily="82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98087" y="1713519"/>
            <a:ext cx="10795524" cy="92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>
              <a:lnSpc>
                <a:spcPct val="133000"/>
              </a:lnSpc>
            </a:pPr>
            <a:r>
              <a:rPr lang="en-US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AgriVerse combines modern Java Full Stack technologies with AI-powered services to deliver an intelligent and scalable digital farming solution.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276383"/>
              </p:ext>
            </p:extLst>
          </p:nvPr>
        </p:nvGraphicFramePr>
        <p:xfrm>
          <a:off x="698087" y="2643403"/>
          <a:ext cx="10795526" cy="3496978"/>
        </p:xfrm>
        <a:graphic>
          <a:graphicData uri="http://schemas.openxmlformats.org/drawingml/2006/table">
            <a:tbl>
              <a:tblPr/>
              <a:tblGrid>
                <a:gridCol w="4069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25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071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u="sng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Innovation</a:t>
                      </a:r>
                      <a:endParaRPr lang="en-US" sz="2000" b="1" u="sng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u="sng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Description</a:t>
                      </a:r>
                      <a:endParaRPr lang="en-US" sz="2000" b="1" u="sng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3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Real Time Generative Advisory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Personalized crop recommendations based on farming data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3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Secure Access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JWT authentication with role-based authorization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3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Smart Insights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Real-time weather and market price updates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3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Digital Marketplace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Direct farmer-to-buyer trading platform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071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Analytics Dashboard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Visual reports for better decision-making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98087" y="3166488"/>
            <a:ext cx="10795524" cy="1246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698087" y="3750376"/>
            <a:ext cx="10795524" cy="1246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698087" y="4334263"/>
            <a:ext cx="10795524" cy="1246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698087" y="4918151"/>
            <a:ext cx="10795524" cy="1246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698087" y="5502039"/>
            <a:ext cx="10795524" cy="1246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7" y="1072207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3651" u="sng" kern="0" spc="-75" dirty="0">
                <a:solidFill>
                  <a:srgbClr val="000000"/>
                </a:solidFill>
                <a:latin typeface="Algerian" panose="04020705040A02060702" pitchFamily="82" charset="0"/>
                <a:ea typeface="Source Serif 4 Bold" pitchFamily="34" charset="-122"/>
                <a:cs typeface="Times New Roman" panose="02020603050405020304" pitchFamily="18" charset="0"/>
              </a:rPr>
              <a:t>Competitive Analysis</a:t>
            </a:r>
            <a:endParaRPr lang="en-US" sz="3651" u="sng" dirty="0">
              <a:latin typeface="Algerian" panose="04020705040A02060702" pitchFamily="82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950313"/>
              </p:ext>
            </p:extLst>
          </p:nvPr>
        </p:nvGraphicFramePr>
        <p:xfrm>
          <a:off x="698088" y="2016301"/>
          <a:ext cx="10795525" cy="4036422"/>
        </p:xfrm>
        <a:graphic>
          <a:graphicData uri="http://schemas.openxmlformats.org/drawingml/2006/table">
            <a:tbl>
              <a:tblPr/>
              <a:tblGrid>
                <a:gridCol w="3599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92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70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1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u="sng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Feature</a:t>
                      </a:r>
                      <a:endParaRPr lang="en-US" sz="2000" b="1" u="sng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u="sng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Traditional Methods</a:t>
                      </a:r>
                      <a:endParaRPr lang="en-US" sz="2000" b="1" u="sng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u="sng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AgriVerse</a:t>
                      </a:r>
                      <a:endParaRPr lang="en-US" sz="2000" b="1" u="sng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53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Crop Management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Manual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Digital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53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Expert Consultation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Offline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Online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53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Weather Insights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Separate Apps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Integrated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53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Marketplace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Middlemen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Direct Trading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753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AI Recommendations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Not Available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Intelligent Advisory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753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Secure Platform</a:t>
                      </a:r>
                      <a:endParaRPr lang="en-US" sz="2000" dirty="0">
                        <a:latin typeface="Times New Roman" panose="02020603050405020304" pitchFamily="18" charset="0"/>
                        <a:ea typeface="Source Sans 3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Limited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kern="0" spc="-31" dirty="0">
                          <a:solidFill>
                            <a:srgbClr val="272525"/>
                          </a:solidFill>
                          <a:latin typeface="Times New Roman" panose="02020603050405020304" pitchFamily="18" charset="0"/>
                          <a:ea typeface="Source Sans 3" pitchFamily="34" charset="-122"/>
                          <a:cs typeface="Times New Roman" panose="02020603050405020304" pitchFamily="18" charset="0"/>
                        </a:rPr>
                        <a:t> JWT + Spring Security</a:t>
                      </a:r>
                      <a:endParaRPr lang="en-US" sz="2000" dirty="0">
                        <a:latin typeface="Times New Roman" panose="02020603050405020304" pitchFamily="18" charset="0"/>
                        <a:ea typeface="Twemoji Mozilla, Apple Color Emoji, Segoe UI Emoji, Segoe UI Symbol, Noto Color Emoji, EmojiOne Color, Android Emoji, sans-serif" charset="0"/>
                        <a:cs typeface="Times New Roman" panose="02020603050405020304" pitchFamily="18" charset="0"/>
                      </a:endParaRPr>
                    </a:p>
                  </a:txBody>
                  <a:tcPr marL="199479" marR="199479" marT="6351" marB="635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289" y="692237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4000" u="sng" kern="0" spc="-75" dirty="0">
                <a:solidFill>
                  <a:srgbClr val="000000"/>
                </a:solidFill>
                <a:latin typeface="Algerian" panose="04020705040A02060702" pitchFamily="82" charset="0"/>
                <a:ea typeface="Source Serif 4 SemiBold" pitchFamily="34" charset="-122"/>
                <a:cs typeface="Times New Roman" panose="02020603050405020304" pitchFamily="18" charset="0"/>
              </a:rPr>
              <a:t>Future Scope</a:t>
            </a:r>
            <a:endParaRPr lang="en-US" sz="4000" u="sng" dirty="0">
              <a:latin typeface="Algerian" panose="04020705040A02060702" pitchFamily="82" charset="0"/>
              <a:cs typeface="Times New Roman" panose="02020603050405020304" pitchFamily="18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88" y="1535849"/>
            <a:ext cx="3465525" cy="2008783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3238" y="1535849"/>
            <a:ext cx="3465525" cy="2008783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187" y="1535847"/>
            <a:ext cx="3465624" cy="2084680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086" y="3665339"/>
            <a:ext cx="3465525" cy="2621260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3036" y="3665339"/>
            <a:ext cx="3465525" cy="2621260"/>
          </a:xfrm>
          <a:prstGeom prst="rect">
            <a:avLst/>
          </a:prstGeom>
        </p:spPr>
      </p:pic>
      <p:pic>
        <p:nvPicPr>
          <p:cNvPr id="8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7985" y="3665339"/>
            <a:ext cx="3465624" cy="2621260"/>
          </a:xfrm>
          <a:prstGeom prst="rect">
            <a:avLst/>
          </a:prstGeom>
        </p:spPr>
      </p:pic>
      <p:sp>
        <p:nvSpPr>
          <p:cNvPr id="9" name="Text 1"/>
          <p:cNvSpPr/>
          <p:nvPr/>
        </p:nvSpPr>
        <p:spPr>
          <a:xfrm>
            <a:off x="897713" y="1735277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/>
            <a:r>
              <a:rPr lang="en-US" kern="0" spc="-37" dirty="0">
                <a:solidFill>
                  <a:srgbClr val="272525"/>
                </a:solidFill>
                <a:latin typeface="Times New Roman" panose="02020603050405020304" pitchFamily="18" charset="0"/>
                <a:ea typeface="Source Serif 4 SemiBold" pitchFamily="34" charset="-122"/>
                <a:cs typeface="Times New Roman" panose="02020603050405020304" pitchFamily="18" charset="0"/>
              </a:rPr>
              <a:t>IoT Sensor Integration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2"/>
          <p:cNvSpPr/>
          <p:nvPr/>
        </p:nvSpPr>
        <p:spPr>
          <a:xfrm>
            <a:off x="897713" y="2148225"/>
            <a:ext cx="3066676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/>
            <a:r>
              <a:rPr lang="en-US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Seamlessly integrate data from soil, weather, and crop health sensors for real-time insights.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3"/>
          <p:cNvSpPr/>
          <p:nvPr/>
        </p:nvSpPr>
        <p:spPr>
          <a:xfrm>
            <a:off x="4562663" y="1735277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/>
            <a:r>
              <a:rPr lang="en-US" kern="0" spc="-37" dirty="0">
                <a:solidFill>
                  <a:srgbClr val="272525"/>
                </a:solidFill>
                <a:latin typeface="Times New Roman" panose="02020603050405020304" pitchFamily="18" charset="0"/>
                <a:ea typeface="Source Serif 4 SemiBold" pitchFamily="34" charset="-122"/>
                <a:cs typeface="Times New Roman" panose="02020603050405020304" pitchFamily="18" charset="0"/>
              </a:rPr>
              <a:t>Drone Monitoring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4"/>
          <p:cNvSpPr/>
          <p:nvPr/>
        </p:nvSpPr>
        <p:spPr>
          <a:xfrm>
            <a:off x="4562663" y="2148225"/>
            <a:ext cx="3066676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/>
            <a:r>
              <a:rPr lang="en-US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Utilize drones for aerial imaging, automated pest detection, and comprehensive crop analysis.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5"/>
          <p:cNvSpPr/>
          <p:nvPr/>
        </p:nvSpPr>
        <p:spPr>
          <a:xfrm>
            <a:off x="8227614" y="1735277"/>
            <a:ext cx="3066775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/>
            <a:r>
              <a:rPr lang="en-US" kern="0" spc="-37" dirty="0">
                <a:solidFill>
                  <a:srgbClr val="272525"/>
                </a:solidFill>
                <a:latin typeface="Times New Roman" panose="02020603050405020304" pitchFamily="18" charset="0"/>
                <a:ea typeface="Source Serif 4 SemiBold" pitchFamily="34" charset="-122"/>
                <a:cs typeface="Times New Roman" panose="02020603050405020304" pitchFamily="18" charset="0"/>
              </a:rPr>
              <a:t>AI Prediction Improvement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6"/>
          <p:cNvSpPr/>
          <p:nvPr/>
        </p:nvSpPr>
        <p:spPr>
          <a:xfrm>
            <a:off x="8227614" y="2148225"/>
            <a:ext cx="3066775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/>
            <a:r>
              <a:rPr lang="en-US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Enhance AI models for more accurate yield predictions, disease forecasting, and optimal resource management.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7"/>
          <p:cNvSpPr/>
          <p:nvPr/>
        </p:nvSpPr>
        <p:spPr>
          <a:xfrm>
            <a:off x="897713" y="3943489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/>
            <a:r>
              <a:rPr lang="en-US" kern="0" spc="-37" dirty="0">
                <a:solidFill>
                  <a:srgbClr val="272525"/>
                </a:solidFill>
                <a:latin typeface="Times New Roman" panose="02020603050405020304" pitchFamily="18" charset="0"/>
                <a:ea typeface="Source Serif 4 SemiBold" pitchFamily="34" charset="-122"/>
                <a:cs typeface="Times New Roman" panose="02020603050405020304" pitchFamily="18" charset="0"/>
              </a:rPr>
              <a:t>Mobile Application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8"/>
          <p:cNvSpPr/>
          <p:nvPr/>
        </p:nvSpPr>
        <p:spPr>
          <a:xfrm>
            <a:off x="897713" y="4493711"/>
            <a:ext cx="3066676" cy="1199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/>
            <a:r>
              <a:rPr lang="en-US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Develop a dedicated mobile app for farmers to access AgriVerse features on-the-go.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9"/>
          <p:cNvSpPr/>
          <p:nvPr/>
        </p:nvSpPr>
        <p:spPr>
          <a:xfrm>
            <a:off x="4562663" y="3943489"/>
            <a:ext cx="3066676" cy="2932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/>
            <a:r>
              <a:rPr lang="en-US" kern="0" spc="-37" dirty="0">
                <a:solidFill>
                  <a:srgbClr val="272525"/>
                </a:solidFill>
                <a:latin typeface="Times New Roman" panose="02020603050405020304" pitchFamily="18" charset="0"/>
                <a:ea typeface="Source Serif 4 SemiBold" pitchFamily="34" charset="-122"/>
                <a:cs typeface="Times New Roman" panose="02020603050405020304" pitchFamily="18" charset="0"/>
              </a:rPr>
              <a:t>Government Scheme Integration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4562663" y="4416316"/>
            <a:ext cx="3066676" cy="1276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/>
            <a:r>
              <a:rPr lang="en-US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Integrate with government agricultural schemes and subsidies to provide farmers with relevant information and support.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8227614" y="3943489"/>
            <a:ext cx="3066775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/>
            <a:r>
              <a:rPr lang="en-US" kern="0" spc="-37" dirty="0">
                <a:solidFill>
                  <a:srgbClr val="272525"/>
                </a:solidFill>
                <a:latin typeface="Times New Roman" panose="02020603050405020304" pitchFamily="18" charset="0"/>
                <a:ea typeface="Source Serif 4 SemiBold" pitchFamily="34" charset="-122"/>
                <a:cs typeface="Times New Roman" panose="02020603050405020304" pitchFamily="18" charset="0"/>
              </a:rPr>
              <a:t>Online Payments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8227614" y="4356437"/>
            <a:ext cx="3066775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/>
            <a:r>
              <a:rPr lang="en-US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Implement secure online payment gateways for marketplace transactions and expert consultations.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1206187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4000" u="sng" kern="0" spc="-75" dirty="0">
                <a:solidFill>
                  <a:srgbClr val="000000"/>
                </a:solidFill>
                <a:latin typeface="Algerian" panose="04020705040A02060702" pitchFamily="82" charset="0"/>
                <a:ea typeface="Source Serif 4 SemiBold" pitchFamily="34" charset="-122"/>
                <a:cs typeface="Source Serif 4 SemiBold" pitchFamily="34" charset="-120"/>
              </a:rPr>
              <a:t>Results &amp; Benefits</a:t>
            </a:r>
            <a:endParaRPr lang="en-US" sz="4000" u="sng" dirty="0">
              <a:latin typeface="Algerian" panose="04020705040A02060702" pitchFamily="8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949162" y="2226741"/>
            <a:ext cx="10293375" cy="33156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314952" indent="-314952" algn="just">
              <a:lnSpc>
                <a:spcPct val="133000"/>
              </a:lnSpc>
              <a:buSzPct val="100000"/>
              <a:buChar char="•"/>
            </a:pPr>
            <a:r>
              <a:rPr lang="en-US" sz="2000" b="1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 Bold" pitchFamily="34" charset="-122"/>
                <a:cs typeface="Times New Roman" panose="02020603050405020304" pitchFamily="18" charset="0"/>
              </a:rPr>
              <a:t>Improved Farm Management</a:t>
            </a:r>
            <a:r>
              <a:rPr lang="en-US" sz="20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 — Centralized management of crops, farming activities, and records.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4952" indent="-314952" algn="just">
              <a:lnSpc>
                <a:spcPct val="133000"/>
              </a:lnSpc>
              <a:buSzPct val="100000"/>
              <a:buChar char="•"/>
            </a:pPr>
            <a:r>
              <a:rPr lang="en-US" sz="2000" b="1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 Bold" pitchFamily="34" charset="-122"/>
                <a:cs typeface="Times New Roman" panose="02020603050405020304" pitchFamily="18" charset="0"/>
              </a:rPr>
              <a:t>Smarter Agricultural Decisions</a:t>
            </a:r>
            <a:r>
              <a:rPr lang="en-US" sz="20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 — AI-based recommendations and real-time information support better decisions.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4952" indent="-314952" algn="just">
              <a:lnSpc>
                <a:spcPct val="133000"/>
              </a:lnSpc>
              <a:buSzPct val="100000"/>
              <a:buChar char="•"/>
            </a:pPr>
            <a:r>
              <a:rPr lang="en-US" sz="2000" b="1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 Bold" pitchFamily="34" charset="-122"/>
                <a:cs typeface="Times New Roman" panose="02020603050405020304" pitchFamily="18" charset="0"/>
              </a:rPr>
              <a:t>Early Disease &amp; Pest Identification</a:t>
            </a:r>
            <a:r>
              <a:rPr lang="en-US" sz="20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 — Helps identify crop-related issues faster and take timely action.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4952" indent="-314952" algn="just">
              <a:lnSpc>
                <a:spcPct val="133000"/>
              </a:lnSpc>
              <a:buSzPct val="100000"/>
              <a:buChar char="•"/>
            </a:pPr>
            <a:r>
              <a:rPr lang="en-US" sz="2000" b="1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 Bold" pitchFamily="34" charset="-122"/>
                <a:cs typeface="Times New Roman" panose="02020603050405020304" pitchFamily="18" charset="0"/>
              </a:rPr>
              <a:t>Real-Time Agricultural Insights</a:t>
            </a:r>
            <a:r>
              <a:rPr lang="en-US" sz="20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 — Weather conditions and market prices are available in one platform.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4952" indent="-314952" algn="just">
              <a:lnSpc>
                <a:spcPct val="133000"/>
              </a:lnSpc>
              <a:buSzPct val="100000"/>
              <a:buChar char="•"/>
            </a:pPr>
            <a:r>
              <a:rPr lang="en-US" sz="2000" b="1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 Bold" pitchFamily="34" charset="-122"/>
                <a:cs typeface="Times New Roman" panose="02020603050405020304" pitchFamily="18" charset="0"/>
              </a:rPr>
              <a:t>Better Market Connectivity</a:t>
            </a:r>
            <a:r>
              <a:rPr lang="en-US" sz="20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 — Enables direct interaction between farmers and buyers, reducing dependency on middlemen.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4952" indent="-314952" algn="just">
              <a:lnSpc>
                <a:spcPct val="133000"/>
              </a:lnSpc>
              <a:buSzPct val="100000"/>
              <a:buChar char="•"/>
            </a:pPr>
            <a:r>
              <a:rPr lang="en-US" sz="2000" b="1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 Bold" pitchFamily="34" charset="-122"/>
                <a:cs typeface="Times New Roman" panose="02020603050405020304" pitchFamily="18" charset="0"/>
              </a:rPr>
              <a:t>Secure &amp; Personalized Access</a:t>
            </a:r>
            <a:r>
              <a:rPr lang="en-US" sz="20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 — Role-based authentication provides secure access to features for different users.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7" y="1091367"/>
            <a:ext cx="10795524" cy="9472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4000" u="sng" kern="0" spc="-37" dirty="0">
                <a:solidFill>
                  <a:srgbClr val="000000"/>
                </a:solidFill>
                <a:latin typeface="Algerian" panose="04020705040A02060702" pitchFamily="82" charset="0"/>
                <a:ea typeface="Source Serif 4 SemiBold" pitchFamily="34" charset="-122"/>
                <a:cs typeface="Source Serif 4 SemiBold" pitchFamily="34" charset="-120"/>
              </a:rPr>
              <a:t>Conclusion</a:t>
            </a:r>
            <a:endParaRPr lang="en-US" sz="2400" u="sng" dirty="0">
              <a:latin typeface="Algerian" panose="04020705040A02060702" pitchFamily="8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98087" y="2172927"/>
            <a:ext cx="10795524" cy="35937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>
              <a:spcAft>
                <a:spcPts val="1751"/>
              </a:spcAft>
            </a:pPr>
            <a:r>
              <a:rPr lang="en-US" sz="20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AgriVerse provides a unified and secure digital platform that addresses major challenges faced by farmers in modern agriculture. By integrating </a:t>
            </a:r>
            <a:r>
              <a:rPr lang="en-US" sz="2000" b="1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 Bold" pitchFamily="34" charset="-122"/>
                <a:cs typeface="Times New Roman" panose="02020603050405020304" pitchFamily="18" charset="0"/>
              </a:rPr>
              <a:t>crop management, AI-based crop advisory and pest detection, weather insights, expert consultation, market price information, and a digital marketplace</a:t>
            </a:r>
            <a:r>
              <a:rPr lang="en-US" sz="20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, the platform supports better and faster farming decisions.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spcAft>
                <a:spcPts val="1751"/>
              </a:spcAft>
            </a:pPr>
            <a:r>
              <a:rPr lang="en-US" sz="20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The use of </a:t>
            </a:r>
            <a:r>
              <a:rPr lang="en-US" sz="2000" b="1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 Bold" pitchFamily="34" charset="-122"/>
                <a:cs typeface="Times New Roman" panose="02020603050405020304" pitchFamily="18" charset="0"/>
              </a:rPr>
              <a:t>HTML5, CSS3, Vanilla JavaScript, Spring Boot, Spring Security, JWT, MongoDB, REST APIs, and AI services</a:t>
            </a:r>
            <a:r>
              <a:rPr lang="en-US" sz="20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 provides a scalable foundation for the system, while role-based access ensures secure interaction between farmers, experts, buyers, and administrators.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0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Overall, AgriVerse aims to make farming </a:t>
            </a:r>
            <a:r>
              <a:rPr lang="en-US" sz="2000" b="1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 Bold" pitchFamily="34" charset="-122"/>
                <a:cs typeface="Times New Roman" panose="02020603050405020304" pitchFamily="18" charset="0"/>
              </a:rPr>
              <a:t>more digital, data-driven, efficient, and accessible</a:t>
            </a:r>
            <a:r>
              <a:rPr lang="en-US" sz="2000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, helping farmers improve crop planning, make faster decisions, manage their activities centrally, and connect directly with buyers.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0" y="0"/>
            <a:ext cx="4571887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98086" y="2381613"/>
            <a:ext cx="6223639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4000" u="sng" kern="0" spc="-75" dirty="0">
                <a:solidFill>
                  <a:srgbClr val="000000"/>
                </a:solidFill>
                <a:latin typeface="Algerian" panose="04020705040A02060702" pitchFamily="82" charset="0"/>
                <a:ea typeface="Source Serif 4 SemiBold" pitchFamily="34" charset="-122"/>
                <a:cs typeface="Times New Roman" panose="02020603050405020304" pitchFamily="18" charset="0"/>
              </a:rPr>
              <a:t>Thank You</a:t>
            </a:r>
            <a:endParaRPr lang="en-US" sz="4000" u="sng" dirty="0">
              <a:latin typeface="Algerian" panose="04020705040A02060702" pitchFamily="82" charset="0"/>
              <a:cs typeface="Times New Roman" panose="02020603050405020304" pitchFamily="18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698086" y="3268668"/>
            <a:ext cx="6223639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2200" kern="0" spc="-44" dirty="0">
                <a:solidFill>
                  <a:srgbClr val="000000"/>
                </a:solidFill>
                <a:latin typeface="Algerian" panose="04020705040A02060702" pitchFamily="82" charset="0"/>
                <a:ea typeface="Source Serif 4 SemiBold" pitchFamily="34" charset="-122"/>
                <a:cs typeface="Source Serif 4 SemiBold" pitchFamily="34" charset="-120"/>
              </a:rPr>
              <a:t>Questions &amp; Discussion</a:t>
            </a:r>
            <a:endParaRPr lang="en-US" sz="2200" dirty="0">
              <a:latin typeface="Algerian" panose="04020705040A02060702" pitchFamily="82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393294" y="3855348"/>
            <a:ext cx="6833223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33000"/>
              </a:lnSpc>
            </a:pPr>
            <a:r>
              <a:rPr lang="en-US" kern="0" spc="-31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Presented by TEAM C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80</TotalTime>
  <Words>1065</Words>
  <Application>Microsoft Office PowerPoint</Application>
  <PresentationFormat>Widescreen</PresentationFormat>
  <Paragraphs>174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Times New Roman</vt:lpstr>
      <vt:lpstr>Source Serif 4 SemiBold</vt:lpstr>
      <vt:lpstr>Algerian</vt:lpstr>
      <vt:lpstr>Arial</vt:lpstr>
      <vt:lpstr>Calibri</vt:lpstr>
      <vt:lpstr>Source Sans 3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Puspal Das</cp:lastModifiedBy>
  <cp:revision>11</cp:revision>
  <dcterms:created xsi:type="dcterms:W3CDTF">2026-09-08T14:28:02Z</dcterms:created>
  <dcterms:modified xsi:type="dcterms:W3CDTF">2026-09-08T19:14:21Z</dcterms:modified>
</cp:coreProperties>
</file>
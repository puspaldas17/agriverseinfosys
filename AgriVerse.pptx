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embeddedFontLst>
    <p:embeddedFont>
      <p:font typeface="Source Sans 3" panose="020B0604020202020204" charset="0"/>
      <p:regular r:id="rId12"/>
    </p:embeddedFont>
    <p:embeddedFont>
      <p:font typeface="Source Sans 3 Bold" panose="020B0604020202020204" charset="0"/>
      <p:regular r:id="rId13"/>
    </p:embeddedFont>
    <p:embeddedFont>
      <p:font typeface="Source Serif 4 SemiBold" panose="020B0604020202020204" charset="0"/>
      <p:regular r:id="rId14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731398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23577" y="1130052"/>
            <a:ext cx="4667845" cy="4447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000000"/>
                </a:solidFill>
                <a:latin typeface="Times New Roman" panose="02020603050405020304" pitchFamily="18" charset="0"/>
                <a:ea typeface="Twemoji Mozilla" pitchFamily="34" charset="-122"/>
                <a:cs typeface="Times New Roman" panose="02020603050405020304" pitchFamily="18" charset="0"/>
              </a:rPr>
              <a:t>🌾</a:t>
            </a:r>
            <a:r>
              <a:rPr lang="en-US" sz="2750" dirty="0">
                <a:solidFill>
                  <a:srgbClr val="000000"/>
                </a:solidFill>
                <a:latin typeface="Times New Roman" panose="02020603050405020304" pitchFamily="18" charset="0"/>
                <a:ea typeface="Source Serif 4 SemiBold" pitchFamily="34" charset="-122"/>
                <a:cs typeface="Times New Roman" panose="02020603050405020304" pitchFamily="18" charset="0"/>
              </a:rPr>
              <a:t> AgriVerse</a:t>
            </a:r>
            <a:endParaRPr lang="en-US" sz="27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 1"/>
          <p:cNvSpPr/>
          <p:nvPr/>
        </p:nvSpPr>
        <p:spPr>
          <a:xfrm>
            <a:off x="523577" y="1634654"/>
            <a:ext cx="4667845" cy="7041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200" dirty="0">
                <a:solidFill>
                  <a:srgbClr val="000000"/>
                </a:solidFill>
                <a:latin typeface="Times New Roman" panose="02020603050405020304" pitchFamily="18" charset="0"/>
                <a:ea typeface="Source Serif 4 SemiBold" pitchFamily="34" charset="-122"/>
                <a:cs typeface="Times New Roman" panose="02020603050405020304" pitchFamily="18" charset="0"/>
              </a:rPr>
              <a:t>FarmVerse Precision Agriculture Management Platform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2"/>
          <p:cNvSpPr/>
          <p:nvPr/>
        </p:nvSpPr>
        <p:spPr>
          <a:xfrm>
            <a:off x="523577" y="2563118"/>
            <a:ext cx="4667845" cy="10546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3000"/>
              </a:lnSpc>
              <a:spcAft>
                <a:spcPts val="1300"/>
              </a:spcAft>
              <a:buNone/>
            </a:pPr>
            <a:r>
              <a:rPr lang="en-US" sz="1150" b="1" dirty="0">
                <a:solidFill>
                  <a:srgbClr val="272525"/>
                </a:solidFill>
                <a:latin typeface="Times New Roman" panose="02020603050405020304" pitchFamily="18" charset="0"/>
                <a:ea typeface="Source Sans 3 Bold" pitchFamily="34" charset="-122"/>
                <a:cs typeface="Times New Roman" panose="02020603050405020304" pitchFamily="18" charset="0"/>
              </a:rPr>
              <a:t>Theme:</a:t>
            </a:r>
            <a:r>
              <a:rPr lang="en-US" sz="1150" dirty="0">
                <a:solidFill>
                  <a:srgbClr val="272525"/>
                </a:solidFill>
                <a:latin typeface="Times New Roman" panose="02020603050405020304" pitchFamily="18" charset="0"/>
                <a:ea typeface="Source Sans 3" pitchFamily="34" charset="-122"/>
                <a:cs typeface="Times New Roman" panose="02020603050405020304" pitchFamily="18" charset="0"/>
              </a:rPr>
              <a:t> Agriculture, Food Tech &amp; Rural Development</a:t>
            </a:r>
            <a:endParaRPr lang="en-US" sz="11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lnSpc>
                <a:spcPct val="133000"/>
              </a:lnSpc>
              <a:spcAft>
                <a:spcPts val="1300"/>
              </a:spcAft>
              <a:buNone/>
            </a:pPr>
            <a:r>
              <a:rPr lang="en-US" sz="1150" b="1" dirty="0">
                <a:solidFill>
                  <a:srgbClr val="272525"/>
                </a:solidFill>
                <a:latin typeface="Times New Roman" panose="02020603050405020304" pitchFamily="18" charset="0"/>
                <a:ea typeface="Source Sans 3 Bold" pitchFamily="34" charset="-122"/>
                <a:cs typeface="Times New Roman" panose="02020603050405020304" pitchFamily="18" charset="0"/>
              </a:rPr>
              <a:t>Presented by:</a:t>
            </a:r>
            <a:r>
              <a:rPr lang="en-US" sz="1150" dirty="0">
                <a:solidFill>
                  <a:srgbClr val="272525"/>
                </a:solidFill>
                <a:latin typeface="Times New Roman" panose="02020603050405020304" pitchFamily="18" charset="0"/>
                <a:ea typeface="Source Sans 3" pitchFamily="34" charset="-122"/>
                <a:cs typeface="Times New Roman" panose="02020603050405020304" pitchFamily="18" charset="0"/>
              </a:rPr>
              <a:t> Puspal Das</a:t>
            </a:r>
            <a:endParaRPr lang="en-US" sz="11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lnSpc>
                <a:spcPct val="133000"/>
              </a:lnSpc>
              <a:buNone/>
            </a:pPr>
            <a:r>
              <a:rPr lang="en-US" sz="1150" b="1" dirty="0">
                <a:solidFill>
                  <a:srgbClr val="272525"/>
                </a:solidFill>
                <a:latin typeface="Times New Roman" panose="02020603050405020304" pitchFamily="18" charset="0"/>
                <a:ea typeface="Source Sans 3 Bold" pitchFamily="34" charset="-122"/>
                <a:cs typeface="Times New Roman" panose="02020603050405020304" pitchFamily="18" charset="0"/>
              </a:rPr>
              <a:t>Guide:</a:t>
            </a:r>
            <a:r>
              <a:rPr lang="en-US" sz="1150" dirty="0">
                <a:solidFill>
                  <a:srgbClr val="272525"/>
                </a:solidFill>
                <a:latin typeface="Times New Roman" panose="02020603050405020304" pitchFamily="18" charset="0"/>
                <a:ea typeface="Source Sans 3" pitchFamily="34" charset="-122"/>
                <a:cs typeface="Times New Roman" panose="02020603050405020304" pitchFamily="18" charset="0"/>
              </a:rPr>
              <a:t> Ragul S</a:t>
            </a:r>
            <a:endParaRPr lang="en-US" sz="11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523577" y="3786039"/>
            <a:ext cx="690190" cy="227335"/>
          </a:xfrm>
          <a:prstGeom prst="roundRect">
            <a:avLst>
              <a:gd name="adj" fmla="val 22113"/>
            </a:avLst>
          </a:prstGeom>
          <a:solidFill>
            <a:srgbClr val="F0D4F7"/>
          </a:solidFill>
          <a:ln/>
        </p:spPr>
      </p:sp>
      <p:sp>
        <p:nvSpPr>
          <p:cNvPr id="7" name="Text 4"/>
          <p:cNvSpPr/>
          <p:nvPr/>
        </p:nvSpPr>
        <p:spPr>
          <a:xfrm>
            <a:off x="613321" y="3830910"/>
            <a:ext cx="967904" cy="137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900" dirty="0">
                <a:solidFill>
                  <a:srgbClr val="272525"/>
                </a:solidFill>
                <a:latin typeface="Times New Roman" panose="02020603050405020304" pitchFamily="18" charset="0"/>
                <a:ea typeface="Source Sans 3" pitchFamily="34" charset="-122"/>
                <a:cs typeface="Times New Roman" panose="02020603050405020304" pitchFamily="18" charset="0"/>
              </a:rPr>
              <a:t>AGRITECH</a:t>
            </a:r>
            <a:endParaRPr lang="en-US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Shape 5"/>
          <p:cNvSpPr/>
          <p:nvPr/>
        </p:nvSpPr>
        <p:spPr>
          <a:xfrm>
            <a:off x="1288554" y="3786039"/>
            <a:ext cx="463004" cy="227335"/>
          </a:xfrm>
          <a:prstGeom prst="roundRect">
            <a:avLst>
              <a:gd name="adj" fmla="val 22113"/>
            </a:avLst>
          </a:prstGeom>
          <a:solidFill>
            <a:srgbClr val="F0D4F7"/>
          </a:solidFill>
          <a:ln/>
        </p:spPr>
      </p:sp>
      <p:sp>
        <p:nvSpPr>
          <p:cNvPr id="9" name="Text 6"/>
          <p:cNvSpPr/>
          <p:nvPr/>
        </p:nvSpPr>
        <p:spPr>
          <a:xfrm>
            <a:off x="1378297" y="3830910"/>
            <a:ext cx="740718" cy="137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900" dirty="0">
                <a:solidFill>
                  <a:srgbClr val="272525"/>
                </a:solidFill>
                <a:latin typeface="Times New Roman" panose="02020603050405020304" pitchFamily="18" charset="0"/>
                <a:ea typeface="Source Sans 3" pitchFamily="34" charset="-122"/>
                <a:cs typeface="Times New Roman" panose="02020603050405020304" pitchFamily="18" charset="0"/>
              </a:rPr>
              <a:t>AI/ML</a:t>
            </a:r>
            <a:endParaRPr lang="en-US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1826344" y="3786039"/>
            <a:ext cx="876374" cy="227335"/>
          </a:xfrm>
          <a:prstGeom prst="roundRect">
            <a:avLst>
              <a:gd name="adj" fmla="val 22113"/>
            </a:avLst>
          </a:prstGeom>
          <a:solidFill>
            <a:srgbClr val="F0D4F7"/>
          </a:solidFill>
          <a:ln/>
        </p:spPr>
      </p:sp>
      <p:sp>
        <p:nvSpPr>
          <p:cNvPr id="11" name="Text 8"/>
          <p:cNvSpPr/>
          <p:nvPr/>
        </p:nvSpPr>
        <p:spPr>
          <a:xfrm>
            <a:off x="1916088" y="3830910"/>
            <a:ext cx="1154088" cy="137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900" dirty="0">
                <a:solidFill>
                  <a:srgbClr val="272525"/>
                </a:solidFill>
                <a:latin typeface="Times New Roman" panose="02020603050405020304" pitchFamily="18" charset="0"/>
                <a:ea typeface="Source Sans 3" pitchFamily="34" charset="-122"/>
                <a:cs typeface="Times New Roman" panose="02020603050405020304" pitchFamily="18" charset="0"/>
              </a:rPr>
              <a:t>SPRING BOOT</a:t>
            </a:r>
            <a:endParaRPr lang="en-US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2777505" y="3786039"/>
            <a:ext cx="839763" cy="227335"/>
          </a:xfrm>
          <a:prstGeom prst="roundRect">
            <a:avLst>
              <a:gd name="adj" fmla="val 22113"/>
            </a:avLst>
          </a:prstGeom>
          <a:solidFill>
            <a:srgbClr val="F0D4F7"/>
          </a:solidFill>
          <a:ln/>
        </p:spPr>
      </p:sp>
      <p:sp>
        <p:nvSpPr>
          <p:cNvPr id="13" name="Text 10"/>
          <p:cNvSpPr/>
          <p:nvPr/>
        </p:nvSpPr>
        <p:spPr>
          <a:xfrm>
            <a:off x="2867248" y="3830910"/>
            <a:ext cx="1117476" cy="137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900" dirty="0">
                <a:solidFill>
                  <a:srgbClr val="272525"/>
                </a:solidFill>
                <a:latin typeface="Times New Roman" panose="02020603050405020304" pitchFamily="18" charset="0"/>
                <a:ea typeface="Source Sans 3" pitchFamily="34" charset="-122"/>
                <a:cs typeface="Times New Roman" panose="02020603050405020304" pitchFamily="18" charset="0"/>
              </a:rPr>
              <a:t>BLOCKCHAIN</a:t>
            </a:r>
            <a:endParaRPr lang="en-US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577" y="551408"/>
            <a:ext cx="8096845" cy="4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750" dirty="0">
                <a:solidFill>
                  <a:srgbClr val="000000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Key Challenges for Indian Farmers</a:t>
            </a:r>
            <a:endParaRPr lang="en-US" sz="2750" dirty="0"/>
          </a:p>
        </p:txBody>
      </p:sp>
      <p:sp>
        <p:nvSpPr>
          <p:cNvPr id="3" name="Shape 1"/>
          <p:cNvSpPr/>
          <p:nvPr/>
        </p:nvSpPr>
        <p:spPr>
          <a:xfrm>
            <a:off x="523577" y="1290638"/>
            <a:ext cx="2599209" cy="1575941"/>
          </a:xfrm>
          <a:prstGeom prst="roundRect">
            <a:avLst>
              <a:gd name="adj" fmla="val 3987"/>
            </a:avLst>
          </a:prstGeom>
          <a:solidFill>
            <a:srgbClr val="F0D4F7"/>
          </a:solidFill>
          <a:ln w="4763">
            <a:solidFill>
              <a:srgbClr val="D6BA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7912" y="1444972"/>
            <a:ext cx="2290539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Fragmented Ecosystem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77912" y="1754684"/>
            <a:ext cx="2290539" cy="957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Over </a:t>
            </a:r>
            <a:r>
              <a:rPr lang="en-US" sz="1150" b="1" dirty="0">
                <a:solidFill>
                  <a:srgbClr val="272525"/>
                </a:solidFill>
                <a:latin typeface="Source Sans 3 Bold" pitchFamily="34" charset="0"/>
                <a:ea typeface="Source Sans 3 Bold" pitchFamily="34" charset="-122"/>
                <a:cs typeface="Source Sans 3 Bold" pitchFamily="34" charset="-120"/>
              </a:rPr>
              <a:t>146 million farmers</a:t>
            </a: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, yet less than 10% have access to modern digital farming guidance and technology.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3272358" y="1290638"/>
            <a:ext cx="2599209" cy="1575941"/>
          </a:xfrm>
          <a:prstGeom prst="roundRect">
            <a:avLst>
              <a:gd name="adj" fmla="val 3987"/>
            </a:avLst>
          </a:prstGeom>
          <a:solidFill>
            <a:srgbClr val="F0D4F7"/>
          </a:solidFill>
          <a:ln w="4763">
            <a:solidFill>
              <a:srgbClr val="D6BAD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26693" y="1444972"/>
            <a:ext cx="2290539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Language Barrier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426693" y="1754684"/>
            <a:ext cx="2290539" cy="957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Approximately </a:t>
            </a:r>
            <a:r>
              <a:rPr lang="en-US" sz="1150" b="1" dirty="0">
                <a:solidFill>
                  <a:srgbClr val="272525"/>
                </a:solidFill>
                <a:latin typeface="Source Sans 3 Bold" pitchFamily="34" charset="0"/>
                <a:ea typeface="Source Sans 3 Bold" pitchFamily="34" charset="-122"/>
                <a:cs typeface="Source Sans 3 Bold" pitchFamily="34" charset="-120"/>
              </a:rPr>
              <a:t>70% of farmers</a:t>
            </a: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speak regional languages, while most AgriTech applications are English-only, limiting adoption.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021139" y="1290638"/>
            <a:ext cx="2599283" cy="1575941"/>
          </a:xfrm>
          <a:prstGeom prst="roundRect">
            <a:avLst>
              <a:gd name="adj" fmla="val 3987"/>
            </a:avLst>
          </a:prstGeom>
          <a:solidFill>
            <a:srgbClr val="F0D4F7"/>
          </a:solidFill>
          <a:ln w="4763">
            <a:solidFill>
              <a:srgbClr val="D6BA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175474" y="1444972"/>
            <a:ext cx="2290614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Delayed Pest Response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175474" y="1754684"/>
            <a:ext cx="2290614" cy="957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b="1" dirty="0">
                <a:solidFill>
                  <a:srgbClr val="272525"/>
                </a:solidFill>
                <a:latin typeface="Source Sans 3 Bold" pitchFamily="34" charset="0"/>
                <a:ea typeface="Source Sans 3 Bold" pitchFamily="34" charset="-122"/>
                <a:cs typeface="Source Sans 3 Bold" pitchFamily="34" charset="-120"/>
              </a:rPr>
              <a:t>15-25% crop loss</a:t>
            </a: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annually due to preventable pests and diseases, a significant blow to yields and income.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23577" y="3016151"/>
            <a:ext cx="2599209" cy="1575941"/>
          </a:xfrm>
          <a:prstGeom prst="roundRect">
            <a:avLst>
              <a:gd name="adj" fmla="val 3987"/>
            </a:avLst>
          </a:prstGeom>
          <a:solidFill>
            <a:srgbClr val="F0D4F7"/>
          </a:solidFill>
          <a:ln w="4763">
            <a:solidFill>
              <a:srgbClr val="D6BA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77912" y="3170486"/>
            <a:ext cx="2290539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Market Asymmetry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77912" y="3480197"/>
            <a:ext cx="2290539" cy="957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Farmers often sell produce </a:t>
            </a:r>
            <a:r>
              <a:rPr lang="en-US" sz="1150" b="1" dirty="0">
                <a:solidFill>
                  <a:srgbClr val="272525"/>
                </a:solidFill>
                <a:latin typeface="Source Sans 3 Bold" pitchFamily="34" charset="0"/>
                <a:ea typeface="Source Sans 3 Bold" pitchFamily="34" charset="-122"/>
                <a:cs typeface="Source Sans 3 Bold" pitchFamily="34" charset="-120"/>
              </a:rPr>
              <a:t>20-40% below market value</a:t>
            </a: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due to a lack of real-time market price information (Mandi prices).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272358" y="3016151"/>
            <a:ext cx="2599209" cy="1575941"/>
          </a:xfrm>
          <a:prstGeom prst="roundRect">
            <a:avLst>
              <a:gd name="adj" fmla="val 3987"/>
            </a:avLst>
          </a:prstGeom>
          <a:solidFill>
            <a:srgbClr val="F0D4F7"/>
          </a:solidFill>
          <a:ln w="4763">
            <a:solidFill>
              <a:srgbClr val="D6BAD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26693" y="3170486"/>
            <a:ext cx="2290539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Untracked AMU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3426693" y="3480197"/>
            <a:ext cx="2290539" cy="957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Absence of effective tools for livestock antimicrobial use (AMU) tracking, contributing to the global antimicrobial resistance (AMR) crisis.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021139" y="3016151"/>
            <a:ext cx="2599283" cy="1575941"/>
          </a:xfrm>
          <a:prstGeom prst="roundRect">
            <a:avLst>
              <a:gd name="adj" fmla="val 3987"/>
            </a:avLst>
          </a:prstGeom>
          <a:solidFill>
            <a:srgbClr val="F0D4F7"/>
          </a:solidFill>
          <a:ln w="4763">
            <a:solidFill>
              <a:srgbClr val="D6BA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75474" y="3170486"/>
            <a:ext cx="2290614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No Unified Platform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175474" y="3480197"/>
            <a:ext cx="2290614" cy="957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Farmers typically juggle </a:t>
            </a:r>
            <a:r>
              <a:rPr lang="en-US" sz="1150" b="1" dirty="0">
                <a:solidFill>
                  <a:srgbClr val="272525"/>
                </a:solidFill>
                <a:latin typeface="Source Sans 3 Bold" pitchFamily="34" charset="0"/>
                <a:ea typeface="Source Sans 3 Bold" pitchFamily="34" charset="-122"/>
                <a:cs typeface="Source Sans 3 Bold" pitchFamily="34" charset="-120"/>
              </a:rPr>
              <a:t>4-5 separate mobile applications</a:t>
            </a: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for different needs, with zero integration or data synergy.</a:t>
            </a:r>
            <a:endParaRPr lang="en-US" sz="115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C0BBCCD-26B5-1A3E-529A-DB4D96F1D771}"/>
              </a:ext>
            </a:extLst>
          </p:cNvPr>
          <p:cNvSpPr/>
          <p:nvPr/>
        </p:nvSpPr>
        <p:spPr>
          <a:xfrm>
            <a:off x="7990449" y="4797083"/>
            <a:ext cx="1153551" cy="346417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577" y="619646"/>
            <a:ext cx="8096845" cy="4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750" dirty="0">
                <a:solidFill>
                  <a:srgbClr val="000000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What Makes AgriVerse Different</a:t>
            </a:r>
            <a:endParaRPr lang="en-US" sz="2750" dirty="0"/>
          </a:p>
        </p:txBody>
      </p:sp>
      <p:sp>
        <p:nvSpPr>
          <p:cNvPr id="3" name="Text 1"/>
          <p:cNvSpPr/>
          <p:nvPr/>
        </p:nvSpPr>
        <p:spPr>
          <a:xfrm>
            <a:off x="523577" y="1284015"/>
            <a:ext cx="8096845" cy="4787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AgriVerse stands apart by offering a holistic, farmer-centric solution that addresses critical challenges with advanced technology and an intuitive user experience.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23577" y="1931045"/>
            <a:ext cx="2599209" cy="1341313"/>
          </a:xfrm>
          <a:prstGeom prst="roundRect">
            <a:avLst>
              <a:gd name="adj" fmla="val 4685"/>
            </a:avLst>
          </a:prstGeom>
          <a:solidFill>
            <a:srgbClr val="F0D4F7"/>
          </a:solidFill>
          <a:ln w="4763">
            <a:solidFill>
              <a:srgbClr val="D6BA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7912" y="2085380"/>
            <a:ext cx="2290539" cy="224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🌐</a:t>
            </a:r>
            <a:r>
              <a:rPr lang="en-US" sz="1350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 Unified Platform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77912" y="2399854"/>
            <a:ext cx="2290539" cy="718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Crop advisory, pest detection, market insights, weather, gamification, AMU tracking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272358" y="1931045"/>
            <a:ext cx="2599209" cy="1341313"/>
          </a:xfrm>
          <a:prstGeom prst="roundRect">
            <a:avLst>
              <a:gd name="adj" fmla="val 4685"/>
            </a:avLst>
          </a:prstGeom>
          <a:solidFill>
            <a:srgbClr val="F0D4F7"/>
          </a:solidFill>
          <a:ln w="4763">
            <a:solidFill>
              <a:srgbClr val="D6BA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26693" y="2085380"/>
            <a:ext cx="2290539" cy="4446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🎤</a:t>
            </a:r>
            <a:r>
              <a:rPr lang="en-US" sz="1350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 Voice-First &amp; Multilingual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3426693" y="2619821"/>
            <a:ext cx="2290539" cy="4787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AI chatbot in English &amp; Hindi for accessibility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021139" y="1931045"/>
            <a:ext cx="2599283" cy="1341313"/>
          </a:xfrm>
          <a:prstGeom prst="roundRect">
            <a:avLst>
              <a:gd name="adj" fmla="val 4685"/>
            </a:avLst>
          </a:prstGeom>
          <a:solidFill>
            <a:srgbClr val="F0D4F7"/>
          </a:solidFill>
          <a:ln w="4763">
            <a:solidFill>
              <a:srgbClr val="D6BA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75474" y="2085380"/>
            <a:ext cx="2290614" cy="4446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📸</a:t>
            </a:r>
            <a:r>
              <a:rPr lang="en-US" sz="1350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 AI-Powered Pest Detection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175474" y="2619821"/>
            <a:ext cx="2290614" cy="4787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Instant diagnosis &amp; remedies via photo uploads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23577" y="3421931"/>
            <a:ext cx="2599209" cy="1101923"/>
          </a:xfrm>
          <a:prstGeom prst="roundRect">
            <a:avLst>
              <a:gd name="adj" fmla="val 5703"/>
            </a:avLst>
          </a:prstGeom>
          <a:solidFill>
            <a:srgbClr val="F0D4F7"/>
          </a:solidFill>
          <a:ln w="4763">
            <a:solidFill>
              <a:srgbClr val="D6BA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7912" y="3576265"/>
            <a:ext cx="2290539" cy="224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🎮</a:t>
            </a:r>
            <a:r>
              <a:rPr lang="en-US" sz="1350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 Gamified Learning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77912" y="3890739"/>
            <a:ext cx="2290539" cy="4787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Daily missions, XP, badges, leaderboards for engagement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272358" y="3421931"/>
            <a:ext cx="2599209" cy="1101923"/>
          </a:xfrm>
          <a:prstGeom prst="roundRect">
            <a:avLst>
              <a:gd name="adj" fmla="val 5703"/>
            </a:avLst>
          </a:prstGeom>
          <a:solidFill>
            <a:srgbClr val="F0D4F7"/>
          </a:solidFill>
          <a:ln w="4763">
            <a:solidFill>
              <a:srgbClr val="D6BA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26693" y="3576265"/>
            <a:ext cx="2290539" cy="224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⛓️</a:t>
            </a:r>
            <a:r>
              <a:rPr lang="en-US" sz="1350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 Secure AMU Tracking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3426693" y="3890739"/>
            <a:ext cx="2290539" cy="4787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Blockchain ledger for tamper-proof antimicrobial usage records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021139" y="3421931"/>
            <a:ext cx="2599283" cy="1101923"/>
          </a:xfrm>
          <a:prstGeom prst="roundRect">
            <a:avLst>
              <a:gd name="adj" fmla="val 5703"/>
            </a:avLst>
          </a:prstGeom>
          <a:solidFill>
            <a:srgbClr val="F0D4F7"/>
          </a:solidFill>
          <a:ln w="4763">
            <a:solidFill>
              <a:srgbClr val="D6BAD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75474" y="3576265"/>
            <a:ext cx="2290614" cy="224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⚡</a:t>
            </a:r>
            <a:r>
              <a:rPr lang="en-US" sz="1350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 Real-Time Intelligence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175474" y="3890739"/>
            <a:ext cx="2290614" cy="4787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Live Mandi prices &amp; hyper-local 3-day weather forecasts</a:t>
            </a:r>
            <a:endParaRPr lang="en-US" sz="115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FB0DB57-3E32-29E5-39B4-914DA9032E1D}"/>
              </a:ext>
            </a:extLst>
          </p:cNvPr>
          <p:cNvSpPr/>
          <p:nvPr/>
        </p:nvSpPr>
        <p:spPr>
          <a:xfrm>
            <a:off x="7990449" y="4797083"/>
            <a:ext cx="1153551" cy="346417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577" y="476250"/>
            <a:ext cx="8096845" cy="4331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700" dirty="0">
                <a:solidFill>
                  <a:srgbClr val="000000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System Architecture — Built for Scal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23577" y="1277615"/>
            <a:ext cx="73596" cy="73596"/>
          </a:xfrm>
          <a:prstGeom prst="ellipse">
            <a:avLst/>
          </a:prstGeom>
          <a:solidFill>
            <a:srgbClr val="BE49DF"/>
          </a:solidFill>
          <a:ln/>
        </p:spPr>
      </p:sp>
      <p:sp>
        <p:nvSpPr>
          <p:cNvPr id="4" name="Text 2"/>
          <p:cNvSpPr/>
          <p:nvPr/>
        </p:nvSpPr>
        <p:spPr>
          <a:xfrm>
            <a:off x="742131" y="1199331"/>
            <a:ext cx="2359596" cy="2165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350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Three-Tier Architecture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742131" y="1502792"/>
            <a:ext cx="2359596" cy="11686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32000"/>
              </a:lnSpc>
              <a:buNone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Thymeleaf Frontend connects to a robust Spring Boot API, which in turn integrates with a specialized Spring AI Microservice, ensuring a scalable and modular design.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3282925" y="1277615"/>
            <a:ext cx="73596" cy="73596"/>
          </a:xfrm>
          <a:prstGeom prst="ellipse">
            <a:avLst/>
          </a:prstGeom>
          <a:solidFill>
            <a:srgbClr val="BE49DF"/>
          </a:solidFill>
          <a:ln/>
        </p:spPr>
      </p:sp>
      <p:sp>
        <p:nvSpPr>
          <p:cNvPr id="7" name="Text 5"/>
          <p:cNvSpPr/>
          <p:nvPr/>
        </p:nvSpPr>
        <p:spPr>
          <a:xfrm>
            <a:off x="3501479" y="1199331"/>
            <a:ext cx="2359596" cy="2165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350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Data Flow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501479" y="1502792"/>
            <a:ext cx="2359596" cy="11686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32000"/>
              </a:lnSpc>
              <a:buNone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Requests are meticulously processed: first authenticated by Spring Security, then routed through @RestController to interact with JPA/MySQL, before a response is delivered.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042273" y="1277615"/>
            <a:ext cx="73596" cy="73596"/>
          </a:xfrm>
          <a:prstGeom prst="ellipse">
            <a:avLst/>
          </a:prstGeom>
          <a:solidFill>
            <a:srgbClr val="BE49DF"/>
          </a:solidFill>
          <a:ln/>
        </p:spPr>
      </p:sp>
      <p:sp>
        <p:nvSpPr>
          <p:cNvPr id="10" name="Text 8"/>
          <p:cNvSpPr/>
          <p:nvPr/>
        </p:nvSpPr>
        <p:spPr>
          <a:xfrm>
            <a:off x="6260827" y="1199331"/>
            <a:ext cx="2359596" cy="2165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350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AI Pipeline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260827" y="1502792"/>
            <a:ext cx="2359596" cy="14024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32000"/>
              </a:lnSpc>
              <a:buNone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Our AI pipeline transforms raw images through OpenCV preprocessing, calculates the Greenness Index (2G−R−B), and performs advanced disease classification to provide precise agricultural insights.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23577" y="3273400"/>
            <a:ext cx="73596" cy="73596"/>
          </a:xfrm>
          <a:prstGeom prst="ellipse">
            <a:avLst/>
          </a:prstGeom>
          <a:solidFill>
            <a:srgbClr val="BE49DF"/>
          </a:solidFill>
          <a:ln/>
        </p:spPr>
      </p:sp>
      <p:sp>
        <p:nvSpPr>
          <p:cNvPr id="13" name="Text 11"/>
          <p:cNvSpPr/>
          <p:nvPr/>
        </p:nvSpPr>
        <p:spPr>
          <a:xfrm>
            <a:off x="742131" y="3195117"/>
            <a:ext cx="2359596" cy="2165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350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Database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42131" y="3498577"/>
            <a:ext cx="2359596" cy="11686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32000"/>
              </a:lnSpc>
              <a:buNone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Utilizes MySQL with Spring Data JPA for robust production environments, while an H2 in-memory database facilitates seamless testing and demo functionalities.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282925" y="3273400"/>
            <a:ext cx="73596" cy="73596"/>
          </a:xfrm>
          <a:prstGeom prst="ellipse">
            <a:avLst/>
          </a:prstGeom>
          <a:solidFill>
            <a:srgbClr val="BE49DF"/>
          </a:solidFill>
          <a:ln/>
        </p:spPr>
      </p:sp>
      <p:sp>
        <p:nvSpPr>
          <p:cNvPr id="16" name="Text 14"/>
          <p:cNvSpPr/>
          <p:nvPr/>
        </p:nvSpPr>
        <p:spPr>
          <a:xfrm>
            <a:off x="3501479" y="3195117"/>
            <a:ext cx="2359596" cy="4330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350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Authentication &amp; Authorization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3501479" y="3715122"/>
            <a:ext cx="2359596" cy="9349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32000"/>
              </a:lnSpc>
              <a:buNone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Secure authentication is powered by Spring Security, JWT, and BCrypt, implementing strict role-based access control for Farmers, Vets, and Admins.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042273" y="3273400"/>
            <a:ext cx="73596" cy="73596"/>
          </a:xfrm>
          <a:prstGeom prst="ellipse">
            <a:avLst/>
          </a:prstGeom>
          <a:solidFill>
            <a:srgbClr val="BE49DF"/>
          </a:solidFill>
          <a:ln/>
        </p:spPr>
      </p:sp>
      <p:sp>
        <p:nvSpPr>
          <p:cNvPr id="19" name="Text 17"/>
          <p:cNvSpPr/>
          <p:nvPr/>
        </p:nvSpPr>
        <p:spPr>
          <a:xfrm>
            <a:off x="6260827" y="3195117"/>
            <a:ext cx="2359596" cy="2165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350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Blockchain Integration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260827" y="3498577"/>
            <a:ext cx="2359596" cy="11686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32000"/>
              </a:lnSpc>
              <a:buNone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 secure SHA-256 HashChain with robust chain validation ensures data integrity, employing dual persistence in memory and MySQL for reliable record-keeping.</a:t>
            </a:r>
            <a:endParaRPr lang="en-US" sz="115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ACF3397-3DC7-9AFD-DAC4-76320D201A40}"/>
              </a:ext>
            </a:extLst>
          </p:cNvPr>
          <p:cNvSpPr/>
          <p:nvPr/>
        </p:nvSpPr>
        <p:spPr>
          <a:xfrm>
            <a:off x="7990449" y="4797083"/>
            <a:ext cx="1153551" cy="346417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577" y="451991"/>
            <a:ext cx="8096845" cy="4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750" dirty="0">
                <a:solidFill>
                  <a:srgbClr val="000000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Technology Stack</a:t>
            </a:r>
            <a:endParaRPr lang="en-US" sz="27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577" y="1284610"/>
            <a:ext cx="3238649" cy="323864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759226" y="1903809"/>
            <a:ext cx="3865959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Full-Stack Java</a:t>
            </a:r>
            <a:endParaRPr lang="en-US" sz="1350" dirty="0"/>
          </a:p>
        </p:txBody>
      </p:sp>
      <p:sp>
        <p:nvSpPr>
          <p:cNvPr id="5" name="Text 2"/>
          <p:cNvSpPr/>
          <p:nvPr/>
        </p:nvSpPr>
        <p:spPr>
          <a:xfrm>
            <a:off x="4759226" y="2273350"/>
            <a:ext cx="3865959" cy="4787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Every layer — from server-side rendering to AI inference — is built on the Spring ecosystem.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4759226" y="2886745"/>
            <a:ext cx="3865959" cy="11144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33680" indent="-233680" algn="l">
              <a:lnSpc>
                <a:spcPct val="133000"/>
              </a:lnSpc>
              <a:buSzPct val="100000"/>
              <a:buChar char="•"/>
            </a:pPr>
            <a:r>
              <a:rPr lang="en-US" sz="1150" b="1" dirty="0">
                <a:solidFill>
                  <a:srgbClr val="272525"/>
                </a:solidFill>
                <a:latin typeface="Source Sans 3 Bold" pitchFamily="34" charset="0"/>
                <a:ea typeface="Source Sans 3 Bold" pitchFamily="34" charset="-122"/>
                <a:cs typeface="Source Sans 3 Bold" pitchFamily="34" charset="-120"/>
              </a:rPr>
              <a:t>Java 17</a:t>
            </a: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+ Spring Boot 3.x</a:t>
            </a:r>
            <a:endParaRPr lang="en-US" sz="1150" dirty="0"/>
          </a:p>
          <a:p>
            <a:pPr marL="233680" indent="-233680" algn="l">
              <a:lnSpc>
                <a:spcPct val="133000"/>
              </a:lnSpc>
              <a:buSzPct val="100000"/>
              <a:buChar char="•"/>
            </a:pPr>
            <a:r>
              <a:rPr lang="en-US" sz="1150" b="1" dirty="0">
                <a:solidFill>
                  <a:srgbClr val="272525"/>
                </a:solidFill>
                <a:latin typeface="Source Sans 3 Bold" pitchFamily="34" charset="0"/>
                <a:ea typeface="Source Sans 3 Bold" pitchFamily="34" charset="-122"/>
                <a:cs typeface="Source Sans 3 Bold" pitchFamily="34" charset="-120"/>
              </a:rPr>
              <a:t>Spring Security</a:t>
            </a: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+ JWT auth</a:t>
            </a:r>
            <a:endParaRPr lang="en-US" sz="1150" dirty="0"/>
          </a:p>
          <a:p>
            <a:pPr marL="233680" indent="-233680" algn="l">
              <a:lnSpc>
                <a:spcPct val="133000"/>
              </a:lnSpc>
              <a:buSzPct val="100000"/>
              <a:buChar char="•"/>
            </a:pPr>
            <a:r>
              <a:rPr lang="en-US" sz="1150" b="1" dirty="0">
                <a:solidFill>
                  <a:srgbClr val="272525"/>
                </a:solidFill>
                <a:latin typeface="Source Sans 3 Bold" pitchFamily="34" charset="0"/>
                <a:ea typeface="Source Sans 3 Bold" pitchFamily="34" charset="-122"/>
                <a:cs typeface="Source Sans 3 Bold" pitchFamily="34" charset="-120"/>
              </a:rPr>
              <a:t>OpenCV</a:t>
            </a: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image preprocessing</a:t>
            </a:r>
            <a:endParaRPr lang="en-US" sz="1150" dirty="0"/>
          </a:p>
          <a:p>
            <a:pPr marL="233680" indent="-233680" algn="l">
              <a:lnSpc>
                <a:spcPct val="133000"/>
              </a:lnSpc>
              <a:buSzPct val="100000"/>
              <a:buChar char="•"/>
            </a:pPr>
            <a:r>
              <a:rPr lang="en-US" sz="1150" b="1" dirty="0">
                <a:solidFill>
                  <a:srgbClr val="272525"/>
                </a:solidFill>
                <a:latin typeface="Source Sans 3 Bold" pitchFamily="34" charset="0"/>
                <a:ea typeface="Source Sans 3 Bold" pitchFamily="34" charset="-122"/>
                <a:cs typeface="Source Sans 3 Bold" pitchFamily="34" charset="-120"/>
              </a:rPr>
              <a:t>Docker</a:t>
            </a: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multi-stage builds</a:t>
            </a:r>
            <a:endParaRPr lang="en-US" sz="115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493F3AF-FC75-7B0A-6429-DDA011662092}"/>
              </a:ext>
            </a:extLst>
          </p:cNvPr>
          <p:cNvSpPr/>
          <p:nvPr/>
        </p:nvSpPr>
        <p:spPr>
          <a:xfrm>
            <a:off x="7990449" y="4797083"/>
            <a:ext cx="1153551" cy="346417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577" y="638249"/>
            <a:ext cx="8096845" cy="4262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650" dirty="0">
                <a:solidFill>
                  <a:srgbClr val="000000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Advanced Capabilities of AgriVerse</a:t>
            </a:r>
            <a:endParaRPr lang="en-US" sz="2650" dirty="0"/>
          </a:p>
        </p:txBody>
      </p:sp>
      <p:sp>
        <p:nvSpPr>
          <p:cNvPr id="3" name="Shape 1"/>
          <p:cNvSpPr/>
          <p:nvPr/>
        </p:nvSpPr>
        <p:spPr>
          <a:xfrm>
            <a:off x="523577" y="1345257"/>
            <a:ext cx="2605385" cy="1509787"/>
          </a:xfrm>
          <a:prstGeom prst="roundRect">
            <a:avLst>
              <a:gd name="adj" fmla="val 4032"/>
            </a:avLst>
          </a:prstGeom>
          <a:solidFill>
            <a:srgbClr val="F0D4F7"/>
          </a:solidFill>
          <a:ln w="4763">
            <a:solidFill>
              <a:srgbClr val="D6BA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3224" y="1494904"/>
            <a:ext cx="2306092" cy="213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300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Voice-First Design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73224" y="1792188"/>
            <a:ext cx="2306092" cy="9132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31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Farmers can interact using Hindi/Odia via the Web Speech API, with responses read aloud, overcoming literacy barriers.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269307" y="1345257"/>
            <a:ext cx="2605385" cy="1509787"/>
          </a:xfrm>
          <a:prstGeom prst="roundRect">
            <a:avLst>
              <a:gd name="adj" fmla="val 4032"/>
            </a:avLst>
          </a:prstGeom>
          <a:solidFill>
            <a:srgbClr val="F0D4F7"/>
          </a:solidFill>
          <a:ln w="4763">
            <a:solidFill>
              <a:srgbClr val="D6BAD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18954" y="1494904"/>
            <a:ext cx="2306092" cy="213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300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Gamification Engine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418954" y="1792188"/>
            <a:ext cx="2306092" cy="9132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31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XP, missions, streaks, badges, and leaderboards drive farmer engagement and continuous learning for better adoption.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015038" y="1345257"/>
            <a:ext cx="2605385" cy="1509787"/>
          </a:xfrm>
          <a:prstGeom prst="roundRect">
            <a:avLst>
              <a:gd name="adj" fmla="val 4032"/>
            </a:avLst>
          </a:prstGeom>
          <a:solidFill>
            <a:srgbClr val="F0D4F7"/>
          </a:solidFill>
          <a:ln w="4763">
            <a:solidFill>
              <a:srgbClr val="D6BA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164684" y="1494904"/>
            <a:ext cx="2306092" cy="213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300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Blockchain AMU Ledger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164684" y="1792188"/>
            <a:ext cx="2306092" cy="9132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31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 first-of-its-kind tamper-proof system for tracking livestock antimicrobial usage (AMU), ensuring data integrity and responsible practices.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23577" y="2995389"/>
            <a:ext cx="2605385" cy="1509787"/>
          </a:xfrm>
          <a:prstGeom prst="roundRect">
            <a:avLst>
              <a:gd name="adj" fmla="val 4032"/>
            </a:avLst>
          </a:prstGeom>
          <a:solidFill>
            <a:srgbClr val="F0D4F7"/>
          </a:solidFill>
          <a:ln w="4763">
            <a:solidFill>
              <a:srgbClr val="D6BA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73224" y="3145036"/>
            <a:ext cx="2306092" cy="213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300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Offline-Capable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73224" y="3442320"/>
            <a:ext cx="2306092" cy="9132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31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Utilises Service Workers and browser caching to ensure the application remains fully functional even without internet connectivity in the field.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69307" y="2995389"/>
            <a:ext cx="2605385" cy="1509787"/>
          </a:xfrm>
          <a:prstGeom prst="roundRect">
            <a:avLst>
              <a:gd name="adj" fmla="val 4032"/>
            </a:avLst>
          </a:prstGeom>
          <a:solidFill>
            <a:srgbClr val="F0D4F7"/>
          </a:solidFill>
          <a:ln w="4763">
            <a:solidFill>
              <a:srgbClr val="D6BAD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18954" y="3145036"/>
            <a:ext cx="2306092" cy="213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300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Zero-Config Demo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18954" y="3442320"/>
            <a:ext cx="2306092" cy="9132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31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Spring Profiles allow instant switching between MySQL for production and an H2 in-memory database for seamless testing and demonstrations.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015038" y="2995389"/>
            <a:ext cx="2605385" cy="1509787"/>
          </a:xfrm>
          <a:prstGeom prst="roundRect">
            <a:avLst>
              <a:gd name="adj" fmla="val 4032"/>
            </a:avLst>
          </a:prstGeom>
          <a:solidFill>
            <a:srgbClr val="F0D4F7"/>
          </a:solidFill>
          <a:ln w="4763">
            <a:solidFill>
              <a:srgbClr val="D6BA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64684" y="3145036"/>
            <a:ext cx="2306092" cy="213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300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Holistic Integration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164684" y="3442320"/>
            <a:ext cx="2306092" cy="9132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31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Consolidates critical data—weather, soil, market prices, and pest alerts—into a single, intuitive dashboard for comprehensive decision-making.</a:t>
            </a:r>
            <a:endParaRPr lang="en-US" sz="110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F6D8BC2-9BA9-4214-84D8-F5CFB184E0E4}"/>
              </a:ext>
            </a:extLst>
          </p:cNvPr>
          <p:cNvSpPr/>
          <p:nvPr/>
        </p:nvSpPr>
        <p:spPr>
          <a:xfrm>
            <a:off x="7990449" y="4797083"/>
            <a:ext cx="1153551" cy="346417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577" y="795710"/>
            <a:ext cx="8096845" cy="4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000000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Results, Impact &amp; Future Scope</a:t>
            </a:r>
            <a:endParaRPr lang="en-US" sz="2750" dirty="0"/>
          </a:p>
        </p:txBody>
      </p:sp>
      <p:sp>
        <p:nvSpPr>
          <p:cNvPr id="3" name="Shape 1"/>
          <p:cNvSpPr/>
          <p:nvPr/>
        </p:nvSpPr>
        <p:spPr>
          <a:xfrm>
            <a:off x="523577" y="1534939"/>
            <a:ext cx="1911995" cy="1800671"/>
          </a:xfrm>
          <a:prstGeom prst="roundRect">
            <a:avLst>
              <a:gd name="adj" fmla="val 3490"/>
            </a:avLst>
          </a:prstGeom>
          <a:solidFill>
            <a:srgbClr val="F0D4F7"/>
          </a:solidFill>
          <a:ln w="4763">
            <a:solidFill>
              <a:srgbClr val="D6BA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7912" y="1689274"/>
            <a:ext cx="1603325" cy="4446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✅</a:t>
            </a:r>
            <a:r>
              <a:rPr lang="en-US" sz="1350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 Fully Functional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77912" y="2223715"/>
            <a:ext cx="1603325" cy="957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Auth → Dashboard → AI Detection → Market → Weather → Gamification → AMU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2585145" y="1534939"/>
            <a:ext cx="1912069" cy="1800671"/>
          </a:xfrm>
          <a:prstGeom prst="roundRect">
            <a:avLst>
              <a:gd name="adj" fmla="val 3490"/>
            </a:avLst>
          </a:prstGeom>
          <a:solidFill>
            <a:srgbClr val="F0D4F7"/>
          </a:solidFill>
          <a:ln w="4763">
            <a:solidFill>
              <a:srgbClr val="D6BAD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39479" y="1689274"/>
            <a:ext cx="1603400" cy="224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📊</a:t>
            </a:r>
            <a:r>
              <a:rPr lang="en-US" sz="1350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 Key Metrics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739479" y="2003747"/>
            <a:ext cx="1603400" cy="718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&lt;200ms AI response · 3 languages · 12 APIs · 6 JPA entities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46786" y="1534939"/>
            <a:ext cx="1911995" cy="1800671"/>
          </a:xfrm>
          <a:prstGeom prst="roundRect">
            <a:avLst>
              <a:gd name="adj" fmla="val 3490"/>
            </a:avLst>
          </a:prstGeom>
          <a:solidFill>
            <a:srgbClr val="F0D4F7"/>
          </a:solidFill>
          <a:ln w="4763">
            <a:solidFill>
              <a:srgbClr val="D6BA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01121" y="1689274"/>
            <a:ext cx="1603325" cy="224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👨‍🌾</a:t>
            </a:r>
            <a:r>
              <a:rPr lang="en-US" sz="1350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 User Impact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801121" y="2003747"/>
            <a:ext cx="1603325" cy="718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Instant diagnosis, real-time prices, weather alerts, gamified learning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708353" y="1534939"/>
            <a:ext cx="1912069" cy="1800671"/>
          </a:xfrm>
          <a:prstGeom prst="roundRect">
            <a:avLst>
              <a:gd name="adj" fmla="val 3490"/>
            </a:avLst>
          </a:prstGeom>
          <a:solidFill>
            <a:srgbClr val="F0D4F7"/>
          </a:solidFill>
          <a:ln w="4763">
            <a:solidFill>
              <a:srgbClr val="D6BA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62688" y="1689274"/>
            <a:ext cx="1603400" cy="4446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🐄</a:t>
            </a:r>
            <a:r>
              <a:rPr lang="en-US" sz="1350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 AMR Contribution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862688" y="2223715"/>
            <a:ext cx="1603400" cy="718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Auditable blockchain trail for veterinary compliance (WHO/NAP-AMR)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23577" y="3485183"/>
            <a:ext cx="3973637" cy="862533"/>
          </a:xfrm>
          <a:prstGeom prst="roundRect">
            <a:avLst>
              <a:gd name="adj" fmla="val 7285"/>
            </a:avLst>
          </a:prstGeom>
          <a:solidFill>
            <a:srgbClr val="F0D4F7"/>
          </a:solidFill>
          <a:ln w="4763">
            <a:solidFill>
              <a:srgbClr val="D6BAD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7912" y="3639517"/>
            <a:ext cx="3664967" cy="224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🔮</a:t>
            </a:r>
            <a:r>
              <a:rPr lang="en-US" sz="1350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 Future: IoT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77912" y="3953991"/>
            <a:ext cx="3664967" cy="2393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Soil sensors + automated irrigation for precision farming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646786" y="3485183"/>
            <a:ext cx="3973637" cy="862533"/>
          </a:xfrm>
          <a:prstGeom prst="roundRect">
            <a:avLst>
              <a:gd name="adj" fmla="val 7285"/>
            </a:avLst>
          </a:prstGeom>
          <a:solidFill>
            <a:srgbClr val="F0D4F7"/>
          </a:solidFill>
          <a:ln w="4763">
            <a:solidFill>
              <a:srgbClr val="D6BA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01121" y="3639517"/>
            <a:ext cx="3664967" cy="224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🚀</a:t>
            </a:r>
            <a:r>
              <a:rPr lang="en-US" sz="1350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 Future: AI &amp; Market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4801121" y="3953991"/>
            <a:ext cx="3664967" cy="2393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Drone analysis · predictive pest AI · F2C marketplace</a:t>
            </a:r>
            <a:endParaRPr lang="en-US" sz="115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4CBFD82-BF4F-B983-4566-64B16695BD4D}"/>
              </a:ext>
            </a:extLst>
          </p:cNvPr>
          <p:cNvSpPr/>
          <p:nvPr/>
        </p:nvSpPr>
        <p:spPr>
          <a:xfrm>
            <a:off x="7990449" y="4797083"/>
            <a:ext cx="1153551" cy="346417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23577" y="776957"/>
            <a:ext cx="4667845" cy="8800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000000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Standing on the Shoulders of Giants</a:t>
            </a:r>
            <a:endParaRPr lang="en-US" sz="2750" dirty="0"/>
          </a:p>
        </p:txBody>
      </p:sp>
      <p:sp>
        <p:nvSpPr>
          <p:cNvPr id="4" name="Shape 1"/>
          <p:cNvSpPr/>
          <p:nvPr/>
        </p:nvSpPr>
        <p:spPr>
          <a:xfrm>
            <a:off x="523577" y="1960811"/>
            <a:ext cx="74786" cy="74786"/>
          </a:xfrm>
          <a:prstGeom prst="ellipse">
            <a:avLst/>
          </a:prstGeom>
          <a:solidFill>
            <a:srgbClr val="BE49DF"/>
          </a:solidFill>
          <a:ln/>
        </p:spPr>
      </p:sp>
      <p:sp>
        <p:nvSpPr>
          <p:cNvPr id="5" name="Text 2"/>
          <p:cNvSpPr/>
          <p:nvPr/>
        </p:nvSpPr>
        <p:spPr>
          <a:xfrm>
            <a:off x="747936" y="1881336"/>
            <a:ext cx="4443487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Research Foundations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747936" y="2191048"/>
            <a:ext cx="4443487" cy="4787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Mohanty et al. (2016) · FAO Crop Loss · Hamari Gamification · WHO AMR Action Plan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23577" y="3048521"/>
            <a:ext cx="74786" cy="74786"/>
          </a:xfrm>
          <a:prstGeom prst="ellipse">
            <a:avLst/>
          </a:prstGeom>
          <a:solidFill>
            <a:srgbClr val="BE49DF"/>
          </a:solidFill>
          <a:ln/>
        </p:spPr>
      </p:sp>
      <p:sp>
        <p:nvSpPr>
          <p:cNvPr id="8" name="Text 5"/>
          <p:cNvSpPr/>
          <p:nvPr/>
        </p:nvSpPr>
        <p:spPr>
          <a:xfrm>
            <a:off x="747936" y="2969047"/>
            <a:ext cx="4443487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Open Standards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47936" y="3278758"/>
            <a:ext cx="4443487" cy="2393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APMC/e-NAM Data · PlantVillage Dataset · ISO 22000 Food Safety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23577" y="3896841"/>
            <a:ext cx="74786" cy="74786"/>
          </a:xfrm>
          <a:prstGeom prst="ellipse">
            <a:avLst/>
          </a:prstGeom>
          <a:solidFill>
            <a:srgbClr val="BE49DF"/>
          </a:solidFill>
          <a:ln/>
        </p:spPr>
      </p:sp>
      <p:sp>
        <p:nvSpPr>
          <p:cNvPr id="11" name="Text 8"/>
          <p:cNvSpPr/>
          <p:nvPr/>
        </p:nvSpPr>
        <p:spPr>
          <a:xfrm>
            <a:off x="747936" y="3817367"/>
            <a:ext cx="4443487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Open-Source Communities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747936" y="4127078"/>
            <a:ext cx="4443487" cy="2393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Spring Framework · Hibernate · Thymeleaf · Bootstrap · TensorFlow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23577" y="2000176"/>
            <a:ext cx="4667845" cy="4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750" dirty="0">
                <a:solidFill>
                  <a:srgbClr val="000000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Thank You</a:t>
            </a:r>
            <a:endParaRPr lang="en-US" sz="2750" dirty="0"/>
          </a:p>
        </p:txBody>
      </p:sp>
      <p:sp>
        <p:nvSpPr>
          <p:cNvPr id="4" name="Text 1"/>
          <p:cNvSpPr/>
          <p:nvPr/>
        </p:nvSpPr>
        <p:spPr>
          <a:xfrm>
            <a:off x="523577" y="2664544"/>
            <a:ext cx="4667845" cy="4787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AgriVerse is committed to empowering farmers with smarter, more sustainable decisions through technology, data, and collaboration.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818</Words>
  <Application>Microsoft Office PowerPoint</Application>
  <PresentationFormat>On-screen Show (16:9)</PresentationFormat>
  <Paragraphs>100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6" baseType="lpstr">
      <vt:lpstr>Twemoji Mozilla</vt:lpstr>
      <vt:lpstr>Source Serif 4 SemiBold</vt:lpstr>
      <vt:lpstr>Times New Roman</vt:lpstr>
      <vt:lpstr>Arial</vt:lpstr>
      <vt:lpstr>Source Sans 3</vt:lpstr>
      <vt:lpstr>Source Sans 3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Puspal Das</dc:creator>
  <cp:lastModifiedBy>Puspal Das</cp:lastModifiedBy>
  <cp:revision>4</cp:revision>
  <dcterms:created xsi:type="dcterms:W3CDTF">2026-07-23T04:13:27Z</dcterms:created>
  <dcterms:modified xsi:type="dcterms:W3CDTF">2026-07-23T04:43:35Z</dcterms:modified>
</cp:coreProperties>
</file>
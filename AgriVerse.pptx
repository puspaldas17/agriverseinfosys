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embeddedFontLst>
    <p:embeddedFont>
      <p:font typeface="Source Sans 3" panose="020B0604020202020204" charset="0"/>
      <p:regular r:id="rId16"/>
    </p:embeddedFont>
    <p:embeddedFont>
      <p:font typeface="Source Sans 3 Bold" panose="020B0604020202020204" charset="0"/>
      <p:regular r:id="rId17"/>
    </p:embeddedFont>
    <p:embeddedFont>
      <p:font typeface="Source Serif 4 Bold" panose="020B0604020202020204" charset="0"/>
      <p:regular r:id="rId18"/>
    </p:embeddedFont>
    <p:embeddedFont>
      <p:font typeface="Source Serif 4 SemiBold" panose="020B0604020202020204" charset="0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6009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577" y="1327845"/>
            <a:ext cx="4667845" cy="4447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🌾</a:t>
            </a:r>
            <a:r>
              <a:rPr lang="en-US" sz="27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 AgriVerse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523577" y="1832446"/>
            <a:ext cx="4667845" cy="7041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FarmVerse Precision Agriculture Management Platform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523577" y="2760911"/>
            <a:ext cx="4667845" cy="1054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150" b="1" dirty="0">
                <a:solidFill>
                  <a:srgbClr val="272525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Theme: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Agriculture, Food Tech &amp; Rural Development</a:t>
            </a:r>
            <a:endParaRPr lang="en-US" sz="1150" dirty="0"/>
          </a:p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150" b="1" dirty="0">
                <a:solidFill>
                  <a:srgbClr val="272525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Presented by: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Team C</a:t>
            </a:r>
            <a:endParaRPr lang="en-US" sz="11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Guide: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Ragul 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532135"/>
            <a:ext cx="8096845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Problem Statement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523577" y="1271364"/>
            <a:ext cx="8096845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Agriculture remains one of the most important sectors of the economy, yet many farmers continue to face challenges due to limited access to modern digital technologies and integrated farming solutions.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91828" y="1918395"/>
            <a:ext cx="19050" cy="2692971"/>
          </a:xfrm>
          <a:prstGeom prst="roundRect">
            <a:avLst>
              <a:gd name="adj" fmla="val 50000"/>
            </a:avLst>
          </a:prstGeom>
          <a:solidFill>
            <a:srgbClr val="D6BADD"/>
          </a:solidFill>
          <a:ln/>
        </p:spPr>
      </p:sp>
      <p:sp>
        <p:nvSpPr>
          <p:cNvPr id="5" name="Shape 3"/>
          <p:cNvSpPr/>
          <p:nvPr/>
        </p:nvSpPr>
        <p:spPr>
          <a:xfrm>
            <a:off x="841065" y="2077120"/>
            <a:ext cx="448791" cy="19050"/>
          </a:xfrm>
          <a:prstGeom prst="roundRect">
            <a:avLst>
              <a:gd name="adj" fmla="val 50000"/>
            </a:avLst>
          </a:prstGeom>
          <a:solidFill>
            <a:srgbClr val="D6BADD"/>
          </a:solidFill>
          <a:ln/>
        </p:spPr>
      </p:sp>
      <p:sp>
        <p:nvSpPr>
          <p:cNvPr id="6" name="Shape 4"/>
          <p:cNvSpPr/>
          <p:nvPr/>
        </p:nvSpPr>
        <p:spPr>
          <a:xfrm>
            <a:off x="523540" y="1918395"/>
            <a:ext cx="336575" cy="336575"/>
          </a:xfrm>
          <a:prstGeom prst="roundRect">
            <a:avLst>
              <a:gd name="adj" fmla="val 18670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6197" y="1954634"/>
            <a:ext cx="211187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1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439912" y="1966987"/>
            <a:ext cx="7180511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Lack of a unified platform for managing agricultural activities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41065" y="2675558"/>
            <a:ext cx="448791" cy="19050"/>
          </a:xfrm>
          <a:prstGeom prst="roundRect">
            <a:avLst>
              <a:gd name="adj" fmla="val 50000"/>
            </a:avLst>
          </a:prstGeom>
          <a:solidFill>
            <a:srgbClr val="D6BADD"/>
          </a:solidFill>
          <a:ln/>
        </p:spPr>
      </p:sp>
      <p:sp>
        <p:nvSpPr>
          <p:cNvPr id="10" name="Shape 8"/>
          <p:cNvSpPr/>
          <p:nvPr/>
        </p:nvSpPr>
        <p:spPr>
          <a:xfrm>
            <a:off x="523540" y="2516832"/>
            <a:ext cx="336575" cy="336575"/>
          </a:xfrm>
          <a:prstGeom prst="roundRect">
            <a:avLst>
              <a:gd name="adj" fmla="val 18670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6197" y="2553072"/>
            <a:ext cx="211187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2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439912" y="2565425"/>
            <a:ext cx="7180511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Limited access to expert guidance for crop planning and disease management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41065" y="3273996"/>
            <a:ext cx="448791" cy="19050"/>
          </a:xfrm>
          <a:prstGeom prst="roundRect">
            <a:avLst>
              <a:gd name="adj" fmla="val 50000"/>
            </a:avLst>
          </a:prstGeom>
          <a:solidFill>
            <a:srgbClr val="D6BADD"/>
          </a:solidFill>
          <a:ln/>
        </p:spPr>
      </p:sp>
      <p:sp>
        <p:nvSpPr>
          <p:cNvPr id="14" name="Shape 12"/>
          <p:cNvSpPr/>
          <p:nvPr/>
        </p:nvSpPr>
        <p:spPr>
          <a:xfrm>
            <a:off x="523540" y="3115270"/>
            <a:ext cx="336575" cy="336575"/>
          </a:xfrm>
          <a:prstGeom prst="roundRect">
            <a:avLst>
              <a:gd name="adj" fmla="val 18670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6197" y="3151510"/>
            <a:ext cx="211187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3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439912" y="3163863"/>
            <a:ext cx="7180511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Delayed pest identification resulting in reduced crop productivity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41065" y="3872433"/>
            <a:ext cx="448791" cy="19050"/>
          </a:xfrm>
          <a:prstGeom prst="roundRect">
            <a:avLst>
              <a:gd name="adj" fmla="val 50000"/>
            </a:avLst>
          </a:prstGeom>
          <a:solidFill>
            <a:srgbClr val="D6BADD"/>
          </a:solidFill>
          <a:ln/>
        </p:spPr>
      </p:sp>
      <p:sp>
        <p:nvSpPr>
          <p:cNvPr id="18" name="Shape 16"/>
          <p:cNvSpPr/>
          <p:nvPr/>
        </p:nvSpPr>
        <p:spPr>
          <a:xfrm>
            <a:off x="523540" y="3713708"/>
            <a:ext cx="336575" cy="336575"/>
          </a:xfrm>
          <a:prstGeom prst="roundRect">
            <a:avLst>
              <a:gd name="adj" fmla="val 18670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6197" y="3749948"/>
            <a:ext cx="211187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4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439912" y="3762301"/>
            <a:ext cx="7180511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Insufficient access to real-time weather forecasts and market price information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1065" y="4470871"/>
            <a:ext cx="448791" cy="19050"/>
          </a:xfrm>
          <a:prstGeom prst="roundRect">
            <a:avLst>
              <a:gd name="adj" fmla="val 50000"/>
            </a:avLst>
          </a:prstGeom>
          <a:solidFill>
            <a:srgbClr val="D6BADD"/>
          </a:solidFill>
          <a:ln/>
        </p:spPr>
      </p:sp>
      <p:sp>
        <p:nvSpPr>
          <p:cNvPr id="22" name="Shape 20"/>
          <p:cNvSpPr/>
          <p:nvPr/>
        </p:nvSpPr>
        <p:spPr>
          <a:xfrm>
            <a:off x="523540" y="4312146"/>
            <a:ext cx="336575" cy="336575"/>
          </a:xfrm>
          <a:prstGeom prst="roundRect">
            <a:avLst>
              <a:gd name="adj" fmla="val 18670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6197" y="4348386"/>
            <a:ext cx="211187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5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439912" y="4360738"/>
            <a:ext cx="7180511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Inefficient record management and decision-making processes</a:t>
            </a:r>
            <a:endParaRPr lang="en-US" sz="115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9F7DF95-1C6F-2449-F362-F732DA6E0C09}"/>
              </a:ext>
            </a:extLst>
          </p:cNvPr>
          <p:cNvSpPr/>
          <p:nvPr/>
        </p:nvSpPr>
        <p:spPr>
          <a:xfrm>
            <a:off x="7934178" y="4648721"/>
            <a:ext cx="1209822" cy="44001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577" y="481310"/>
            <a:ext cx="4667845" cy="8800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Proposed Solution &amp; Objectives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523577" y="1585689"/>
            <a:ext cx="4667845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AgriVerse is a Java Full Stack smart agriculture platform designed to simplify farm management by integrating crop advisory, weather insights, marketplace services, and expert consultation into a single secure application.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523577" y="2767608"/>
            <a:ext cx="4667845" cy="263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Objectives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523577" y="3255913"/>
            <a:ext cx="4667845" cy="1406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33680" indent="-233680" algn="l">
              <a:lnSpc>
                <a:spcPct val="133000"/>
              </a:lnSpc>
              <a:buSzPct val="100000"/>
              <a:buChar char="•"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Deliver a unified platform for modern farm management</a:t>
            </a:r>
            <a:endParaRPr lang="en-US" sz="1150" dirty="0"/>
          </a:p>
          <a:p>
            <a:pPr marL="233680" indent="-233680" algn="l">
              <a:lnSpc>
                <a:spcPct val="133000"/>
              </a:lnSpc>
              <a:buSzPct val="100000"/>
              <a:buChar char="•"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Enable AI-driven crop advisory and early pest detection</a:t>
            </a:r>
            <a:endParaRPr lang="en-US" sz="1150" dirty="0"/>
          </a:p>
          <a:p>
            <a:pPr marL="233680" indent="-233680" algn="l">
              <a:lnSpc>
                <a:spcPct val="133000"/>
              </a:lnSpc>
              <a:buSzPct val="100000"/>
              <a:buChar char="•"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Provide real-time weather updates and market price insights</a:t>
            </a:r>
            <a:endParaRPr lang="en-US" sz="1150" dirty="0"/>
          </a:p>
          <a:p>
            <a:pPr marL="233680" indent="-233680" algn="l">
              <a:lnSpc>
                <a:spcPct val="133000"/>
              </a:lnSpc>
              <a:buSzPct val="100000"/>
              <a:buChar char="•"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Connect farmers with agricultural experts and buyers</a:t>
            </a:r>
            <a:endParaRPr lang="en-US" sz="1150" dirty="0"/>
          </a:p>
          <a:p>
            <a:pPr marL="233680" indent="-233680" algn="l">
              <a:lnSpc>
                <a:spcPct val="133000"/>
              </a:lnSpc>
              <a:buSzPct val="100000"/>
              <a:buChar char="•"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Improve productivity through secure and data-driven decision making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511373"/>
            <a:ext cx="8096845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Technology Stack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77" y="1343992"/>
            <a:ext cx="2745804" cy="27458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577" y="4258047"/>
            <a:ext cx="432315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759226" y="1360810"/>
            <a:ext cx="3865959" cy="3086100"/>
          </a:xfrm>
          <a:prstGeom prst="roundRect">
            <a:avLst>
              <a:gd name="adj" fmla="val 2036"/>
            </a:avLst>
          </a:prstGeom>
          <a:noFill/>
          <a:ln w="4763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759226" y="1748358"/>
            <a:ext cx="3865959" cy="93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4759226" y="2133526"/>
            <a:ext cx="3865959" cy="93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4759226" y="2518693"/>
            <a:ext cx="3865959" cy="93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4759226" y="2903860"/>
            <a:ext cx="3865959" cy="93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4759226" y="3289027"/>
            <a:ext cx="3865959" cy="93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4759226" y="3674194"/>
            <a:ext cx="3865959" cy="93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4759226" y="4059362"/>
            <a:ext cx="3865959" cy="93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4913561" y="1460078"/>
            <a:ext cx="2086273" cy="191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Frontend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41778" y="1460078"/>
            <a:ext cx="2086273" cy="191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React.js, Bootstrap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913561" y="1845246"/>
            <a:ext cx="2086273" cy="191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Backend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841778" y="1845246"/>
            <a:ext cx="2086273" cy="191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Spring Boot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913561" y="2230413"/>
            <a:ext cx="2086273" cy="191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Security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841778" y="2230413"/>
            <a:ext cx="2086273" cy="191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Spring Security, JWT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913561" y="2615580"/>
            <a:ext cx="2086273" cy="191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Database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841778" y="2615580"/>
            <a:ext cx="2086273" cy="191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Source Sans 3" pitchFamily="34" charset="0"/>
              </a:rPr>
              <a:t>MONGODB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841778" y="3000747"/>
            <a:ext cx="2086273" cy="191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913561" y="3385914"/>
            <a:ext cx="2086273" cy="191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Build Tool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841778" y="3385914"/>
            <a:ext cx="2086273" cy="191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Maven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913561" y="3771081"/>
            <a:ext cx="2086273" cy="191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APIs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6841778" y="3771081"/>
            <a:ext cx="2086273" cy="191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REST APIs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913561" y="4156249"/>
            <a:ext cx="2086273" cy="191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Version Control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841778" y="4156249"/>
            <a:ext cx="2086273" cy="191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Git &amp; GitHub</a:t>
            </a:r>
            <a:endParaRPr lang="en-US" sz="9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30D48B6-C0D4-2FF5-056E-C8DC1D08CA12}"/>
              </a:ext>
            </a:extLst>
          </p:cNvPr>
          <p:cNvSpPr/>
          <p:nvPr/>
        </p:nvSpPr>
        <p:spPr>
          <a:xfrm>
            <a:off x="7934178" y="4648721"/>
            <a:ext cx="1209822" cy="44001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610939"/>
            <a:ext cx="8096845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System Architecture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523577" y="1429643"/>
            <a:ext cx="74786" cy="74786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4" name="Text 2"/>
          <p:cNvSpPr/>
          <p:nvPr/>
        </p:nvSpPr>
        <p:spPr>
          <a:xfrm>
            <a:off x="747936" y="1350169"/>
            <a:ext cx="1245394" cy="439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Three-Tier Architecture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47936" y="1879848"/>
            <a:ext cx="1245394" cy="2154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Frontend connects to a robust Spring Boot API, which in turn integrates with a specialized Spring AI Microservice, ensuring a scalable and modular design.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180332" y="1429643"/>
            <a:ext cx="74786" cy="74786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7" name="Text 5"/>
          <p:cNvSpPr/>
          <p:nvPr/>
        </p:nvSpPr>
        <p:spPr>
          <a:xfrm>
            <a:off x="2404690" y="1350169"/>
            <a:ext cx="1245394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Data Flow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04690" y="1659880"/>
            <a:ext cx="1245394" cy="287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Requests are meticulously processed: first authenticated by Spring Security, then routed through @RestController to interact with MySQL, before a response is delivered.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837087" y="1429643"/>
            <a:ext cx="74786" cy="74786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10" name="Text 8"/>
          <p:cNvSpPr/>
          <p:nvPr/>
        </p:nvSpPr>
        <p:spPr>
          <a:xfrm>
            <a:off x="4061445" y="1350169"/>
            <a:ext cx="1245394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AI Pipeline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061445" y="1659880"/>
            <a:ext cx="1245394" cy="2633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Our AI pipeline transforms raw images through OpenCV preprocessing, and performs advanced disease classification to provide precise agricultural insights.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93841" y="1429643"/>
            <a:ext cx="74786" cy="74786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13" name="Text 11"/>
          <p:cNvSpPr/>
          <p:nvPr/>
        </p:nvSpPr>
        <p:spPr>
          <a:xfrm>
            <a:off x="5718200" y="1350169"/>
            <a:ext cx="1245394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Database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718200" y="1659880"/>
            <a:ext cx="1245394" cy="2154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Utilizes MySQL with Spring Data JPA for robust production environments, while an H2 in-memory database facilitates seamless testing and demo functionalities.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50596" y="1429643"/>
            <a:ext cx="74786" cy="74786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16" name="Text 14"/>
          <p:cNvSpPr/>
          <p:nvPr/>
        </p:nvSpPr>
        <p:spPr>
          <a:xfrm>
            <a:off x="7374954" y="1350169"/>
            <a:ext cx="1245394" cy="659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Authentication &amp; Authorization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374954" y="2099816"/>
            <a:ext cx="1245394" cy="1915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Secure authentication is powered by Spring Security, JWT, implementing strict role-based access control for Farmers, Vets, and Admins.</a:t>
            </a:r>
            <a:endParaRPr lang="en-US" sz="11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2A32AF8-7051-2CEC-D5B4-5F988FB75823}"/>
              </a:ext>
            </a:extLst>
          </p:cNvPr>
          <p:cNvSpPr/>
          <p:nvPr/>
        </p:nvSpPr>
        <p:spPr>
          <a:xfrm>
            <a:off x="7934178" y="4648721"/>
            <a:ext cx="1209822" cy="44001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504676"/>
            <a:ext cx="8096845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Database Design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523577" y="1169045"/>
            <a:ext cx="8554045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MySQL stores all application data using relational tables.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23577" y="1576685"/>
            <a:ext cx="1911995" cy="1575941"/>
          </a:xfrm>
          <a:prstGeom prst="roundRect">
            <a:avLst>
              <a:gd name="adj" fmla="val 3987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7912" y="1731020"/>
            <a:ext cx="1603325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Users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77912" y="2040731"/>
            <a:ext cx="1603325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Authentication, roles, and profile details for farmers, buyers, and administrators.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585145" y="1576685"/>
            <a:ext cx="1912069" cy="1575941"/>
          </a:xfrm>
          <a:prstGeom prst="roundRect">
            <a:avLst>
              <a:gd name="adj" fmla="val 3987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39479" y="1731020"/>
            <a:ext cx="1603400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Crops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739479" y="2040731"/>
            <a:ext cx="1603400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Crop records with planting details, disease status, and cultivation metadata.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46786" y="1576685"/>
            <a:ext cx="1911995" cy="1575941"/>
          </a:xfrm>
          <a:prstGeom prst="roundRect">
            <a:avLst>
              <a:gd name="adj" fmla="val 3987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1121" y="1731020"/>
            <a:ext cx="1603325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Products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801121" y="2040731"/>
            <a:ext cx="1603325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Marketplace product listings linked to crop inventory and availability.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708353" y="1576685"/>
            <a:ext cx="1912069" cy="1575941"/>
          </a:xfrm>
          <a:prstGeom prst="roundRect">
            <a:avLst>
              <a:gd name="adj" fmla="val 3987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62688" y="1731020"/>
            <a:ext cx="1603400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Orders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62688" y="2040731"/>
            <a:ext cx="1603400" cy="718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Purchase transactions, order status, quantities, and delivery tracking.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23577" y="3302198"/>
            <a:ext cx="2599209" cy="1336551"/>
          </a:xfrm>
          <a:prstGeom prst="roundRect">
            <a:avLst>
              <a:gd name="adj" fmla="val 4701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7912" y="3456533"/>
            <a:ext cx="2290539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Consultations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77912" y="3766245"/>
            <a:ext cx="2290539" cy="718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Expert advice sessions, diagnosis notes, and recommendations for users.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272358" y="3302198"/>
            <a:ext cx="2599209" cy="1336551"/>
          </a:xfrm>
          <a:prstGeom prst="roundRect">
            <a:avLst>
              <a:gd name="adj" fmla="val 4701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26693" y="3456533"/>
            <a:ext cx="2290539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Weather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426693" y="3766245"/>
            <a:ext cx="2290539" cy="718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Location-based forecasts, alerts, and environmental conditions for decision-making.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021139" y="3302198"/>
            <a:ext cx="2599283" cy="1336551"/>
          </a:xfrm>
          <a:prstGeom prst="roundRect">
            <a:avLst>
              <a:gd name="adj" fmla="val 4701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5474" y="3456533"/>
            <a:ext cx="2290614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Marketplace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175474" y="3766245"/>
            <a:ext cx="2290614" cy="718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Listings, pricing, categories, and buyer-seller interactions across the platform.</a:t>
            </a:r>
            <a:endParaRPr lang="en-US" sz="115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6DCF3C5-B461-1337-9960-640C847BC88E}"/>
              </a:ext>
            </a:extLst>
          </p:cNvPr>
          <p:cNvSpPr/>
          <p:nvPr/>
        </p:nvSpPr>
        <p:spPr>
          <a:xfrm>
            <a:off x="7934178" y="4648721"/>
            <a:ext cx="1209822" cy="44001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528712"/>
            <a:ext cx="8096845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System Workflow &amp; Security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523577" y="1267941"/>
            <a:ext cx="8554045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AgriVerse ensures secure access through role-based authentication and controlled application workflow.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23577" y="1825154"/>
            <a:ext cx="4373612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Workflow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23577" y="3210223"/>
            <a:ext cx="4373612" cy="19050"/>
          </a:xfrm>
          <a:prstGeom prst="roundRect">
            <a:avLst>
              <a:gd name="adj" fmla="val 50000"/>
            </a:avLst>
          </a:prstGeom>
          <a:solidFill>
            <a:srgbClr val="D6BADD"/>
          </a:solidFill>
          <a:ln/>
        </p:spPr>
      </p:sp>
      <p:sp>
        <p:nvSpPr>
          <p:cNvPr id="6" name="Shape 4"/>
          <p:cNvSpPr/>
          <p:nvPr/>
        </p:nvSpPr>
        <p:spPr>
          <a:xfrm>
            <a:off x="1180654" y="2761431"/>
            <a:ext cx="19050" cy="448791"/>
          </a:xfrm>
          <a:prstGeom prst="roundRect">
            <a:avLst>
              <a:gd name="adj" fmla="val 50000"/>
            </a:avLst>
          </a:prstGeom>
          <a:solidFill>
            <a:srgbClr val="D6BADD"/>
          </a:solidFill>
          <a:ln/>
        </p:spPr>
      </p:sp>
      <p:sp>
        <p:nvSpPr>
          <p:cNvPr id="7" name="Shape 5"/>
          <p:cNvSpPr/>
          <p:nvPr/>
        </p:nvSpPr>
        <p:spPr>
          <a:xfrm>
            <a:off x="1134108" y="3154152"/>
            <a:ext cx="112142" cy="112142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8" name="Shape 6"/>
          <p:cNvSpPr/>
          <p:nvPr/>
        </p:nvSpPr>
        <p:spPr>
          <a:xfrm>
            <a:off x="523577" y="2213372"/>
            <a:ext cx="1333202" cy="548060"/>
          </a:xfrm>
          <a:prstGeom prst="roundRect">
            <a:avLst>
              <a:gd name="adj" fmla="val 11465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7912" y="2367707"/>
            <a:ext cx="1024533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User Login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940719" y="3210223"/>
            <a:ext cx="19050" cy="448791"/>
          </a:xfrm>
          <a:prstGeom prst="roundRect">
            <a:avLst>
              <a:gd name="adj" fmla="val 50000"/>
            </a:avLst>
          </a:prstGeom>
          <a:solidFill>
            <a:srgbClr val="D6BADD"/>
          </a:solidFill>
          <a:ln/>
        </p:spPr>
      </p:sp>
      <p:sp>
        <p:nvSpPr>
          <p:cNvPr id="11" name="Shape 9"/>
          <p:cNvSpPr/>
          <p:nvPr/>
        </p:nvSpPr>
        <p:spPr>
          <a:xfrm>
            <a:off x="1894173" y="3154152"/>
            <a:ext cx="112142" cy="112142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3643" y="3659014"/>
            <a:ext cx="1333202" cy="787450"/>
          </a:xfrm>
          <a:prstGeom prst="roundRect">
            <a:avLst>
              <a:gd name="adj" fmla="val 7980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37977" y="3813349"/>
            <a:ext cx="1024533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JWT Authentication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700858" y="2761431"/>
            <a:ext cx="19050" cy="448791"/>
          </a:xfrm>
          <a:prstGeom prst="roundRect">
            <a:avLst>
              <a:gd name="adj" fmla="val 50000"/>
            </a:avLst>
          </a:prstGeom>
          <a:solidFill>
            <a:srgbClr val="D6BAD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54312" y="3154152"/>
            <a:ext cx="112142" cy="112142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3782" y="2213372"/>
            <a:ext cx="1333202" cy="548060"/>
          </a:xfrm>
          <a:prstGeom prst="roundRect">
            <a:avLst>
              <a:gd name="adj" fmla="val 11465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98117" y="2367707"/>
            <a:ext cx="1024533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Role Verification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460924" y="3210223"/>
            <a:ext cx="19050" cy="448791"/>
          </a:xfrm>
          <a:prstGeom prst="roundRect">
            <a:avLst>
              <a:gd name="adj" fmla="val 50000"/>
            </a:avLst>
          </a:prstGeom>
          <a:solidFill>
            <a:srgbClr val="D6BADD"/>
          </a:solidFill>
          <a:ln/>
        </p:spPr>
      </p:sp>
      <p:sp>
        <p:nvSpPr>
          <p:cNvPr id="19" name="Shape 17"/>
          <p:cNvSpPr/>
          <p:nvPr/>
        </p:nvSpPr>
        <p:spPr>
          <a:xfrm>
            <a:off x="3414378" y="3154152"/>
            <a:ext cx="112142" cy="112142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20" name="Shape 18"/>
          <p:cNvSpPr/>
          <p:nvPr/>
        </p:nvSpPr>
        <p:spPr>
          <a:xfrm>
            <a:off x="2803847" y="3659014"/>
            <a:ext cx="1333202" cy="787450"/>
          </a:xfrm>
          <a:prstGeom prst="roundRect">
            <a:avLst>
              <a:gd name="adj" fmla="val 7980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58182" y="3813349"/>
            <a:ext cx="1024533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Personalized Dashboard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221063" y="2761431"/>
            <a:ext cx="19050" cy="448791"/>
          </a:xfrm>
          <a:prstGeom prst="roundRect">
            <a:avLst>
              <a:gd name="adj" fmla="val 50000"/>
            </a:avLst>
          </a:prstGeom>
          <a:solidFill>
            <a:srgbClr val="D6BADD"/>
          </a:solidFill>
          <a:ln/>
        </p:spPr>
      </p:sp>
      <p:sp>
        <p:nvSpPr>
          <p:cNvPr id="23" name="Shape 21"/>
          <p:cNvSpPr/>
          <p:nvPr/>
        </p:nvSpPr>
        <p:spPr>
          <a:xfrm>
            <a:off x="4174517" y="3154152"/>
            <a:ext cx="112142" cy="112142"/>
          </a:xfrm>
          <a:prstGeom prst="ellipse">
            <a:avLst/>
          </a:prstGeom>
          <a:solidFill>
            <a:srgbClr val="BE49DF"/>
          </a:solidFill>
          <a:ln/>
        </p:spPr>
      </p:sp>
      <p:sp>
        <p:nvSpPr>
          <p:cNvPr id="24" name="Shape 22"/>
          <p:cNvSpPr/>
          <p:nvPr/>
        </p:nvSpPr>
        <p:spPr>
          <a:xfrm>
            <a:off x="3563987" y="2213372"/>
            <a:ext cx="1333202" cy="548060"/>
          </a:xfrm>
          <a:prstGeom prst="roundRect">
            <a:avLst>
              <a:gd name="adj" fmla="val 11465"/>
            </a:avLst>
          </a:prstGeom>
          <a:solidFill>
            <a:srgbClr val="F0D4F7"/>
          </a:solidFill>
          <a:ln w="4763">
            <a:solidFill>
              <a:srgbClr val="D6BA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18322" y="2367707"/>
            <a:ext cx="1024533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Access Features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266879" y="1825154"/>
            <a:ext cx="3358232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Security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266879" y="2194694"/>
            <a:ext cx="3358232" cy="8227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33680" indent="-233680" algn="l">
              <a:lnSpc>
                <a:spcPct val="133000"/>
              </a:lnSpc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Spring Security</a:t>
            </a:r>
            <a:endParaRPr lang="en-US" sz="1150" dirty="0"/>
          </a:p>
          <a:p>
            <a:pPr marL="233680" indent="-233680" algn="l">
              <a:lnSpc>
                <a:spcPct val="133000"/>
              </a:lnSpc>
              <a:buSzPct val="100000"/>
              <a:buFont typeface="+mj-lt"/>
              <a:buAutoNum type="arabicPeriod" startAt="2"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JWT Auth</a:t>
            </a:r>
            <a:endParaRPr lang="en-US" sz="1150" dirty="0"/>
          </a:p>
          <a:p>
            <a:pPr marL="233680" indent="-233680" algn="l">
              <a:lnSpc>
                <a:spcPct val="133000"/>
              </a:lnSpc>
              <a:buSzPct val="100000"/>
              <a:buFont typeface="+mj-lt"/>
              <a:buAutoNum type="arabicPeriod" startAt="3"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Role-Based Access</a:t>
            </a:r>
            <a:endParaRPr lang="en-US" sz="115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D6CFEDD-0F3B-C4CB-28F9-AEFBD6812251}"/>
              </a:ext>
            </a:extLst>
          </p:cNvPr>
          <p:cNvSpPr/>
          <p:nvPr/>
        </p:nvSpPr>
        <p:spPr>
          <a:xfrm>
            <a:off x="7934178" y="4648721"/>
            <a:ext cx="1209822" cy="44001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564803"/>
            <a:ext cx="8096845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Core Features &amp; Modules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523577" y="1304032"/>
            <a:ext cx="8096845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AgriVerse provides a complete digital farming ecosystem by combining secure farm management, intelligent decision support, and role-based services on a single platform.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23577" y="1951062"/>
            <a:ext cx="8096845" cy="2627561"/>
          </a:xfrm>
          <a:prstGeom prst="roundRect">
            <a:avLst>
              <a:gd name="adj" fmla="val 2391"/>
            </a:avLst>
          </a:prstGeom>
          <a:noFill/>
          <a:ln w="4763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3577" y="2386608"/>
            <a:ext cx="8096845" cy="93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23577" y="2824535"/>
            <a:ext cx="8096845" cy="93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23577" y="3262461"/>
            <a:ext cx="8096845" cy="93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23577" y="3700388"/>
            <a:ext cx="8096845" cy="93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23577" y="4138315"/>
            <a:ext cx="8096845" cy="93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77987" y="2050331"/>
            <a:ext cx="2826841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Core Features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46772" y="2050331"/>
            <a:ext cx="290772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Application Modules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096446" y="2050331"/>
            <a:ext cx="2826841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AI &amp; Smart Services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77987" y="2483495"/>
            <a:ext cx="2826841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🔐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Secure Authentication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46772" y="2483495"/>
            <a:ext cx="2907729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👨‍🌾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Farmer Portal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096446" y="2483495"/>
            <a:ext cx="2826841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🌱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AI Crop Advisory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77987" y="2921422"/>
            <a:ext cx="2826841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🌾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Crop Management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346772" y="2921422"/>
            <a:ext cx="2907729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🩺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Expert Portal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6446" y="2921422"/>
            <a:ext cx="2826841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🐛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Pest Detection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77987" y="3359348"/>
            <a:ext cx="2826841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🌦️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Weather Insights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346772" y="3359348"/>
            <a:ext cx="2907729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🛒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Marketplace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096446" y="3359348"/>
            <a:ext cx="2826841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🌤️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Weather Analysis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77987" y="3797275"/>
            <a:ext cx="2826841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🛍️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Digital Marketplace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346772" y="3797275"/>
            <a:ext cx="2907729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📊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Admin Dashboard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096446" y="3797275"/>
            <a:ext cx="2826841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📈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Market Price Insights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77987" y="4235202"/>
            <a:ext cx="2826841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📊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Analytics Dashboard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46772" y="4235202"/>
            <a:ext cx="2907729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🔑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Role-Based Access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096446" y="4235202"/>
            <a:ext cx="2826841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🤖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Smart Recommendations</a:t>
            </a:r>
            <a:endParaRPr lang="en-US" sz="115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F6B1629-F440-7100-A092-528D6A2AE44E}"/>
              </a:ext>
            </a:extLst>
          </p:cNvPr>
          <p:cNvSpPr/>
          <p:nvPr/>
        </p:nvSpPr>
        <p:spPr>
          <a:xfrm>
            <a:off x="7934178" y="4648721"/>
            <a:ext cx="1209822" cy="44001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562421"/>
            <a:ext cx="8096845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Key Innovations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523577" y="1301651"/>
            <a:ext cx="8096845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AgriVerse combines modern Java Full Stack technologies with AI-powered services to deliver an intelligent and scalable digital farming solution.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23577" y="1948681"/>
            <a:ext cx="8096845" cy="2632323"/>
          </a:xfrm>
          <a:prstGeom prst="roundRect">
            <a:avLst>
              <a:gd name="adj" fmla="val 2387"/>
            </a:avLst>
          </a:prstGeom>
          <a:noFill/>
          <a:ln w="4763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3577" y="2388989"/>
            <a:ext cx="8096845" cy="93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23577" y="2826916"/>
            <a:ext cx="8096845" cy="93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23577" y="3264843"/>
            <a:ext cx="8096845" cy="93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23577" y="3702769"/>
            <a:ext cx="8096845" cy="93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23577" y="4140696"/>
            <a:ext cx="8096845" cy="9351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77912" y="2047949"/>
            <a:ext cx="2584252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💡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Innovation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104108" y="2047949"/>
            <a:ext cx="5819180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Description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77912" y="2485876"/>
            <a:ext cx="2584252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🤖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AI Advisory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104108" y="2485876"/>
            <a:ext cx="5819180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Personalized crop recommendations based on farming data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77912" y="2923803"/>
            <a:ext cx="2584252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🔐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Secure Access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104108" y="2923803"/>
            <a:ext cx="5819180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JWT authentication with role-based authorization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77912" y="3361730"/>
            <a:ext cx="2584252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🌦️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Smart Insights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104108" y="3361730"/>
            <a:ext cx="5819180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Real-time weather and market price updates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77912" y="3799656"/>
            <a:ext cx="2584252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🛒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Digital Marketplace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104108" y="3799656"/>
            <a:ext cx="5819180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Direct farmer-to-buyer trading platform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77912" y="4237583"/>
            <a:ext cx="2584252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📊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Analytics Dashboard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104108" y="4237583"/>
            <a:ext cx="5819180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Visual reports for better decision-making</a:t>
            </a:r>
            <a:endParaRPr lang="en-US" sz="115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DFB8AF5-4C0F-5B07-586D-815060E2B15A}"/>
              </a:ext>
            </a:extLst>
          </p:cNvPr>
          <p:cNvSpPr/>
          <p:nvPr/>
        </p:nvSpPr>
        <p:spPr>
          <a:xfrm>
            <a:off x="7934178" y="4648721"/>
            <a:ext cx="1209822" cy="44001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683642"/>
            <a:ext cx="8096845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Source Serif 4 Bold" pitchFamily="34" charset="0"/>
                <a:ea typeface="Source Serif 4 Bold" pitchFamily="34" charset="-122"/>
                <a:cs typeface="Source Serif 4 Bold" pitchFamily="34" charset="-120"/>
              </a:rPr>
              <a:t>Competitive Analysis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523577" y="1422871"/>
            <a:ext cx="8096845" cy="3036912"/>
          </a:xfrm>
          <a:prstGeom prst="roundRect">
            <a:avLst>
              <a:gd name="adj" fmla="val 2069"/>
            </a:avLst>
          </a:prstGeom>
          <a:noFill/>
          <a:ln w="4763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28340" y="1427634"/>
            <a:ext cx="8087320" cy="42840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78061" y="1522140"/>
            <a:ext cx="285191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Feature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376687" y="1522140"/>
            <a:ext cx="2849538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Traditional Methods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072932" y="1522140"/>
            <a:ext cx="2850356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AgriVerse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8340" y="1856036"/>
            <a:ext cx="8087320" cy="43316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78061" y="1950541"/>
            <a:ext cx="285191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Crop Management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376687" y="1950541"/>
            <a:ext cx="2849538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❌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Manual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072932" y="1950541"/>
            <a:ext cx="2850356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✅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Digital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8340" y="2289200"/>
            <a:ext cx="8087320" cy="43316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78061" y="2383706"/>
            <a:ext cx="285191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Expert Consultation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76687" y="2383706"/>
            <a:ext cx="2849538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❌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Offline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072932" y="2383706"/>
            <a:ext cx="2850356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✅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Online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28340" y="2722364"/>
            <a:ext cx="8087320" cy="43316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78061" y="2816870"/>
            <a:ext cx="285191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Weather Insights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376687" y="2816870"/>
            <a:ext cx="2849538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❌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Separate Apps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072932" y="2816870"/>
            <a:ext cx="2850356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✅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Integrated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28340" y="3155528"/>
            <a:ext cx="8087320" cy="43316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78061" y="3250034"/>
            <a:ext cx="285191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Marketplace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76687" y="3250034"/>
            <a:ext cx="2849538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❌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Middlemen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072932" y="3250034"/>
            <a:ext cx="2850356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✅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Direct Trading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28340" y="3588693"/>
            <a:ext cx="8087320" cy="43316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678061" y="3683198"/>
            <a:ext cx="285191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AI Recommendations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76687" y="3683198"/>
            <a:ext cx="2849538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❌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Not Available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072932" y="3683198"/>
            <a:ext cx="2850356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✅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Intelligent Advisory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28340" y="4021857"/>
            <a:ext cx="8087320" cy="43316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678061" y="4116363"/>
            <a:ext cx="285191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Secure Platform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376687" y="4116363"/>
            <a:ext cx="2849538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❌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Limited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072932" y="4116363"/>
            <a:ext cx="2850356" cy="244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✅</a:t>
            </a: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JWT + Spring Security</a:t>
            </a:r>
            <a:endParaRPr lang="en-US" sz="115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10113E0-AD30-3449-D209-4BE466AC464E}"/>
              </a:ext>
            </a:extLst>
          </p:cNvPr>
          <p:cNvSpPr/>
          <p:nvPr/>
        </p:nvSpPr>
        <p:spPr>
          <a:xfrm>
            <a:off x="7934178" y="4648721"/>
            <a:ext cx="1209822" cy="44001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472901"/>
            <a:ext cx="8096845" cy="433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0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Future Scope</a:t>
            </a:r>
            <a:endParaRPr lang="en-US" sz="2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77" y="1123504"/>
            <a:ext cx="2602260" cy="147592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70843" y="1270769"/>
            <a:ext cx="2307729" cy="216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IoT Sensor Integration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670843" y="1574229"/>
            <a:ext cx="2307729" cy="701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Seamlessly integrate data from soil, weather, and crop health sensors for real-time insights.</a:t>
            </a:r>
            <a:endParaRPr lang="en-US" sz="11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0796" y="1123504"/>
            <a:ext cx="2602334" cy="1475929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418061" y="1270769"/>
            <a:ext cx="2307803" cy="216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Drone Monitoring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3418061" y="1574229"/>
            <a:ext cx="2307803" cy="701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Utilize drones for aerial imaging, automated pest detection, and comprehensive crop analysis.</a:t>
            </a:r>
            <a:endParaRPr lang="en-US" sz="11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8088" y="1123504"/>
            <a:ext cx="2602334" cy="1475929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65354" y="1270769"/>
            <a:ext cx="2307803" cy="216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AI Prediction Improvement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6165354" y="1574229"/>
            <a:ext cx="2307803" cy="701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Enhance AI models for more accurate yield predictions, disease forecasting, and optimal resource management.</a:t>
            </a:r>
            <a:endParaRPr lang="en-US" sz="11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577" y="2744391"/>
            <a:ext cx="2602260" cy="192620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70843" y="2891656"/>
            <a:ext cx="2307729" cy="216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Mobile Application</a:t>
            </a:r>
            <a:endParaRPr lang="en-US" sz="1350" dirty="0"/>
          </a:p>
        </p:txBody>
      </p:sp>
      <p:sp>
        <p:nvSpPr>
          <p:cNvPr id="14" name="Text 8"/>
          <p:cNvSpPr/>
          <p:nvPr/>
        </p:nvSpPr>
        <p:spPr>
          <a:xfrm>
            <a:off x="670843" y="3195117"/>
            <a:ext cx="2307729" cy="701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Develop a dedicated mobile app for farmers to access AgriVerse features on-the-go.</a:t>
            </a:r>
            <a:endParaRPr lang="en-US" sz="11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0796" y="2744391"/>
            <a:ext cx="2602334" cy="19262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418061" y="2891656"/>
            <a:ext cx="2307803" cy="433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Government Scheme Integration</a:t>
            </a:r>
            <a:endParaRPr lang="en-US" sz="1350" dirty="0"/>
          </a:p>
        </p:txBody>
      </p:sp>
      <p:sp>
        <p:nvSpPr>
          <p:cNvPr id="17" name="Text 10"/>
          <p:cNvSpPr/>
          <p:nvPr/>
        </p:nvSpPr>
        <p:spPr>
          <a:xfrm>
            <a:off x="3418061" y="3411662"/>
            <a:ext cx="2307803" cy="934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Integrate with government agricultural schemes and subsidies to provide farmers with relevant information and support.</a:t>
            </a:r>
            <a:endParaRPr lang="en-US" sz="115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8088" y="2744391"/>
            <a:ext cx="2602334" cy="19262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6165354" y="2891656"/>
            <a:ext cx="2307803" cy="216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Online Payments</a:t>
            </a:r>
            <a:endParaRPr lang="en-US" sz="1350" dirty="0"/>
          </a:p>
        </p:txBody>
      </p:sp>
      <p:sp>
        <p:nvSpPr>
          <p:cNvPr id="20" name="Text 12"/>
          <p:cNvSpPr/>
          <p:nvPr/>
        </p:nvSpPr>
        <p:spPr>
          <a:xfrm>
            <a:off x="6165354" y="3195117"/>
            <a:ext cx="2307803" cy="934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Implement secure online payment gateways for marketplace transactions and expert consultations.</a:t>
            </a:r>
            <a:endParaRPr lang="en-US" sz="11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16455A-AEBF-C1A3-2FF9-9435E9BEE93D}"/>
              </a:ext>
            </a:extLst>
          </p:cNvPr>
          <p:cNvSpPr/>
          <p:nvPr/>
        </p:nvSpPr>
        <p:spPr>
          <a:xfrm>
            <a:off x="7934178" y="4648721"/>
            <a:ext cx="1209822" cy="44001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785217"/>
            <a:ext cx="8096845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Results &amp; Benefits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523577" y="1738610"/>
            <a:ext cx="2481932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Easy to use</a:t>
            </a:r>
            <a:endParaRPr lang="en-US" sz="13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5082" y="1524446"/>
            <a:ext cx="2833836" cy="28338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964112" y="1942505"/>
            <a:ext cx="223838" cy="2797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1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6138490" y="1738610"/>
            <a:ext cx="2481932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Secure system</a:t>
            </a:r>
            <a:endParaRPr lang="en-US" sz="13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5082" y="1524446"/>
            <a:ext cx="2833836" cy="283383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955977" y="1942505"/>
            <a:ext cx="223838" cy="2797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2</a:t>
            </a:r>
            <a:endParaRPr lang="en-US" sz="1750" dirty="0"/>
          </a:p>
        </p:txBody>
      </p:sp>
      <p:sp>
        <p:nvSpPr>
          <p:cNvPr id="9" name="Text 5"/>
          <p:cNvSpPr/>
          <p:nvPr/>
        </p:nvSpPr>
        <p:spPr>
          <a:xfrm>
            <a:off x="6288137" y="2721322"/>
            <a:ext cx="2332286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Better crop planning</a:t>
            </a:r>
            <a:endParaRPr lang="en-US" sz="13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5082" y="1524446"/>
            <a:ext cx="2833836" cy="283383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451872" y="2801466"/>
            <a:ext cx="223838" cy="2797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3</a:t>
            </a:r>
            <a:endParaRPr lang="en-US" sz="1750" dirty="0"/>
          </a:p>
        </p:txBody>
      </p:sp>
      <p:sp>
        <p:nvSpPr>
          <p:cNvPr id="12" name="Text 7"/>
          <p:cNvSpPr/>
          <p:nvPr/>
        </p:nvSpPr>
        <p:spPr>
          <a:xfrm>
            <a:off x="6138490" y="3814093"/>
            <a:ext cx="2481932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Faster decision making</a:t>
            </a:r>
            <a:endParaRPr lang="en-US" sz="13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5082" y="1524446"/>
            <a:ext cx="2833836" cy="283383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955977" y="3660353"/>
            <a:ext cx="223838" cy="2797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4</a:t>
            </a:r>
            <a:endParaRPr lang="en-US" sz="1750" dirty="0"/>
          </a:p>
        </p:txBody>
      </p:sp>
      <p:sp>
        <p:nvSpPr>
          <p:cNvPr id="15" name="Text 9"/>
          <p:cNvSpPr/>
          <p:nvPr/>
        </p:nvSpPr>
        <p:spPr>
          <a:xfrm>
            <a:off x="523577" y="3704109"/>
            <a:ext cx="2481932" cy="439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Direct farmer-to-buyer connection</a:t>
            </a:r>
            <a:endParaRPr lang="en-US" sz="135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55082" y="1524446"/>
            <a:ext cx="2833836" cy="283383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964112" y="3660353"/>
            <a:ext cx="223838" cy="2797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5</a:t>
            </a:r>
            <a:endParaRPr lang="en-US" sz="1750" dirty="0"/>
          </a:p>
        </p:txBody>
      </p:sp>
      <p:sp>
        <p:nvSpPr>
          <p:cNvPr id="18" name="Text 11"/>
          <p:cNvSpPr/>
          <p:nvPr/>
        </p:nvSpPr>
        <p:spPr>
          <a:xfrm>
            <a:off x="523577" y="2611338"/>
            <a:ext cx="2332286" cy="439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Centralized farm management</a:t>
            </a:r>
            <a:endParaRPr lang="en-US" sz="135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55082" y="1524446"/>
            <a:ext cx="2833836" cy="2833836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3468216" y="2801466"/>
            <a:ext cx="223838" cy="2797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6</a:t>
            </a:r>
            <a:endParaRPr lang="en-US" sz="17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7F6EFAD-FF1A-59A1-3140-C9B8E7050737}"/>
              </a:ext>
            </a:extLst>
          </p:cNvPr>
          <p:cNvSpPr/>
          <p:nvPr/>
        </p:nvSpPr>
        <p:spPr>
          <a:xfrm>
            <a:off x="7934178" y="4648721"/>
            <a:ext cx="1209822" cy="44001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577" y="1957983"/>
            <a:ext cx="4667845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Thank You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523577" y="2457822"/>
            <a:ext cx="4667845" cy="263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Source Serif 4 SemiBold" pitchFamily="34" charset="0"/>
                <a:ea typeface="Source Serif 4 SemiBold" pitchFamily="34" charset="-122"/>
                <a:cs typeface="Source Serif 4 SemiBold" pitchFamily="34" charset="-120"/>
              </a:rPr>
              <a:t>Questions &amp; Discussion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294977" y="2946127"/>
            <a:ext cx="5125045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Presented by TEAM C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841</Words>
  <Application>Microsoft Office PowerPoint</Application>
  <PresentationFormat>On-screen Show (16:9)</PresentationFormat>
  <Paragraphs>177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Source Serif 4 Bold</vt:lpstr>
      <vt:lpstr>Source Serif 4 SemiBold</vt:lpstr>
      <vt:lpstr>Source Sans 3</vt:lpstr>
      <vt:lpstr>Source Sans 3 Bold</vt:lpstr>
      <vt:lpstr>Arial</vt:lpstr>
      <vt:lpstr>Twemoji Mozilla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Puspal Das</cp:lastModifiedBy>
  <cp:revision>4</cp:revision>
  <dcterms:created xsi:type="dcterms:W3CDTF">2026-07-29T17:01:09Z</dcterms:created>
  <dcterms:modified xsi:type="dcterms:W3CDTF">2026-07-29T19:14:37Z</dcterms:modified>
</cp:coreProperties>
</file>
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Source Sans 3" panose="020B0604020202020204" charset="0"/>
      <p:regular r:id="rId16"/>
    </p:embeddedFont>
    <p:embeddedFont>
      <p:font typeface="Source Sans 3 Bold" panose="020B0604020202020204" charset="0"/>
      <p:regular r:id="rId17"/>
    </p:embeddedFont>
    <p:embeddedFont>
      <p:font typeface="Source Serif 4 Bold" panose="020B0604020202020204" charset="0"/>
      <p:regular r:id="rId18"/>
    </p:embeddedFont>
    <p:embeddedFont>
      <p:font typeface="Source Serif 4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00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27845"/>
            <a:ext cx="4667845" cy="444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AgriVerse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832446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FarmVerse Precision Agriculture Management Platform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23577" y="2760911"/>
            <a:ext cx="4667845" cy="105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Theme: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Agriculture, Food Tech &amp; Rural Development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Presented by: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Team C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Guide: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Ragul 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2135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7136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Agriculture remains one of the most important sectors of the economy, yet many farmers continue to face challenges due to limited access to modern digital technologies and integrated farming solutions.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1828" y="1918395"/>
            <a:ext cx="19050" cy="269297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5" name="Shape 3"/>
          <p:cNvSpPr/>
          <p:nvPr/>
        </p:nvSpPr>
        <p:spPr>
          <a:xfrm>
            <a:off x="841065" y="2077120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6" name="Shape 4"/>
          <p:cNvSpPr/>
          <p:nvPr/>
        </p:nvSpPr>
        <p:spPr>
          <a:xfrm>
            <a:off x="523540" y="1918395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6197" y="1954634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39912" y="1966987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Lack of a unified platform for managing agricultural activities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065" y="2675558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523540" y="2516832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97" y="2553072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39912" y="2565425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access to expert guidance for crop planning and disease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065" y="3273996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4" name="Shape 12"/>
          <p:cNvSpPr/>
          <p:nvPr/>
        </p:nvSpPr>
        <p:spPr>
          <a:xfrm>
            <a:off x="523540" y="3115270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6197" y="3151510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39912" y="3163863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pest identification resulting in reduced crop productivity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065" y="3872433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540" y="3713708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6197" y="3749948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39912" y="3762301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Insufficient access to real-time weather forecasts and market price information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1065" y="4470871"/>
            <a:ext cx="448791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22" name="Shape 20"/>
          <p:cNvSpPr/>
          <p:nvPr/>
        </p:nvSpPr>
        <p:spPr>
          <a:xfrm>
            <a:off x="523540" y="4312146"/>
            <a:ext cx="336575" cy="336575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97" y="4348386"/>
            <a:ext cx="211187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39912" y="4360738"/>
            <a:ext cx="718051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Inefficient record management and decision-making processes</a:t>
            </a:r>
            <a:endParaRPr lang="en-US" sz="11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F7DF95-1C6F-2449-F362-F732DA6E0C09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81310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Proposed Solution &amp; Objectives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585689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is a Java Full Stack smart agriculture platform designed to simplify farm management by integrating crop advisory, weather insights, marketplace services, and expert consultation into a single secure application.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577" y="2767608"/>
            <a:ext cx="4667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Objectives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23577" y="3255913"/>
            <a:ext cx="4667845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a unified platform for modern farm management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AI-driven crop advisory and early pest detection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real-time weather updates and market price insights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farmers with agricultural experts and buyers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productivity through secure and data-driven decision making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1137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43992"/>
            <a:ext cx="2745804" cy="2745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258047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759226" y="1360810"/>
            <a:ext cx="3865959" cy="3086100"/>
          </a:xfrm>
          <a:prstGeom prst="roundRect">
            <a:avLst>
              <a:gd name="adj" fmla="val 203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9226" y="1748358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59226" y="2133526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59226" y="2518693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59226" y="2903860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759226" y="3289027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59226" y="3674194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759226" y="4059362"/>
            <a:ext cx="3865959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913561" y="1460078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41778" y="1460078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React.js, Bootstrap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13561" y="1845246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41778" y="1845246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13561" y="2230413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41778" y="2230413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Spring Security, JWT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13561" y="2615580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41778" y="2615580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</a:rPr>
              <a:t>MONGODB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41778" y="3000747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13561" y="3385914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Tool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41778" y="3385914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Maven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13561" y="3771081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41778" y="3771081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913561" y="4156249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41778" y="4156249"/>
            <a:ext cx="2086273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0D48B6-C0D4-2FF5-056E-C8DC1D08CA12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1093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Architecture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429643"/>
            <a:ext cx="74786" cy="7478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4" name="Text 2"/>
          <p:cNvSpPr/>
          <p:nvPr/>
        </p:nvSpPr>
        <p:spPr>
          <a:xfrm>
            <a:off x="747936" y="1350169"/>
            <a:ext cx="124539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Three-Tier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7936" y="1879848"/>
            <a:ext cx="1245394" cy="2154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connects to a robust Spring Boot API, which in turn integrates with a specialized Spring AI Microservice, ensuring a scalable and modular design.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80332" y="1429643"/>
            <a:ext cx="74786" cy="7478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7" name="Text 5"/>
          <p:cNvSpPr/>
          <p:nvPr/>
        </p:nvSpPr>
        <p:spPr>
          <a:xfrm>
            <a:off x="2404690" y="1350169"/>
            <a:ext cx="12453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Flow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04690" y="1659880"/>
            <a:ext cx="1245394" cy="287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Requests are meticulously processed: first authenticated by Spring Security, then routed through @RestController to interact with MySQL, before a response is delivered.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37087" y="1429643"/>
            <a:ext cx="74786" cy="7478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0" name="Text 8"/>
          <p:cNvSpPr/>
          <p:nvPr/>
        </p:nvSpPr>
        <p:spPr>
          <a:xfrm>
            <a:off x="4061445" y="1350169"/>
            <a:ext cx="12453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Pipeline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61445" y="1659880"/>
            <a:ext cx="1245394" cy="263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AI pipeline transforms raw images through OpenCV preprocessing, and performs advanced disease classification to provide precise agricultural insights.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93841" y="1429643"/>
            <a:ext cx="74786" cy="7478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5718200" y="1350169"/>
            <a:ext cx="12453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18200" y="1659880"/>
            <a:ext cx="1245394" cy="2154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Utilizes MONGODB 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Spring Data JPA for robust production environments, while an H2 in-memory database facilitates seamless testing and demo functionalities.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50596" y="1429643"/>
            <a:ext cx="74786" cy="74786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6" name="Text 14"/>
          <p:cNvSpPr/>
          <p:nvPr/>
        </p:nvSpPr>
        <p:spPr>
          <a:xfrm>
            <a:off x="7374954" y="1350169"/>
            <a:ext cx="1245394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Authentication &amp; Authorization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74954" y="2099816"/>
            <a:ext cx="1245394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authentication is powered by Spring Security, JWT, implementing strict role-based access control for Farmers, Vets, and Admins.</a:t>
            </a:r>
            <a:endParaRPr lang="en-US" sz="11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A32AF8-7051-2CEC-D5B4-5F988FB75823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0467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Database Design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169045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stores all application data using relational tables.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576685"/>
            <a:ext cx="1911995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7912" y="1731020"/>
            <a:ext cx="16033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7912" y="2040731"/>
            <a:ext cx="160332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Authentication, roles, and profile details for farmers, buyers, and administrators.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85145" y="1576685"/>
            <a:ext cx="1912069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9479" y="1731020"/>
            <a:ext cx="16034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Crops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39479" y="2040731"/>
            <a:ext cx="16034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Crop records with planting details, disease status, and cultivation metadata.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6786" y="1576685"/>
            <a:ext cx="1911995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1121" y="1731020"/>
            <a:ext cx="160332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1121" y="2040731"/>
            <a:ext cx="160332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Marketplace product listings linked to crop inventory and availability.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08353" y="1576685"/>
            <a:ext cx="1912069" cy="1575941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688" y="1731020"/>
            <a:ext cx="160340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Orders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62688" y="2040731"/>
            <a:ext cx="160340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 transactions, order status, quantities, and delivery tracking.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577" y="3302198"/>
            <a:ext cx="2599209" cy="1336551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912" y="3456533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Consultations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7912" y="3766245"/>
            <a:ext cx="22905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advice sessions, diagnosis notes, and recommendations for users.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72358" y="3302198"/>
            <a:ext cx="2599209" cy="1336551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6693" y="3456533"/>
            <a:ext cx="22905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Weather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26693" y="3766245"/>
            <a:ext cx="22905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Location-based forecasts, alerts, and environmental conditions for decision-making.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21139" y="3302198"/>
            <a:ext cx="2599283" cy="1336551"/>
          </a:xfrm>
          <a:prstGeom prst="roundRect">
            <a:avLst>
              <a:gd name="adj" fmla="val 470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5474" y="3456533"/>
            <a:ext cx="229061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Marketplace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5474" y="3766245"/>
            <a:ext cx="229061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Listings, pricing, categories, and buyer-seller interactions across the platform.</a:t>
            </a:r>
            <a:endParaRPr lang="en-US" sz="11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DCF3C5-B461-1337-9960-640C847BC88E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871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Workflow &amp; Security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6794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ensures secure access through role-based authentication and controlled application workflow.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825154"/>
            <a:ext cx="43736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Workflow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3577" y="3210223"/>
            <a:ext cx="4373612" cy="1905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6" name="Shape 4"/>
          <p:cNvSpPr/>
          <p:nvPr/>
        </p:nvSpPr>
        <p:spPr>
          <a:xfrm>
            <a:off x="1180654" y="2761431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7" name="Shape 5"/>
          <p:cNvSpPr/>
          <p:nvPr/>
        </p:nvSpPr>
        <p:spPr>
          <a:xfrm>
            <a:off x="1134108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213372"/>
            <a:ext cx="1333202" cy="548060"/>
          </a:xfrm>
          <a:prstGeom prst="roundRect">
            <a:avLst>
              <a:gd name="adj" fmla="val 11465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7912" y="2367707"/>
            <a:ext cx="10245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Login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40719" y="3210223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1" name="Shape 9"/>
          <p:cNvSpPr/>
          <p:nvPr/>
        </p:nvSpPr>
        <p:spPr>
          <a:xfrm>
            <a:off x="1894173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3643" y="3659014"/>
            <a:ext cx="1333202" cy="787450"/>
          </a:xfrm>
          <a:prstGeom prst="roundRect">
            <a:avLst>
              <a:gd name="adj" fmla="val 798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7977" y="3813349"/>
            <a:ext cx="102453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00858" y="2761431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4312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43782" y="2213372"/>
            <a:ext cx="1333202" cy="548060"/>
          </a:xfrm>
          <a:prstGeom prst="roundRect">
            <a:avLst>
              <a:gd name="adj" fmla="val 11465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8117" y="2367707"/>
            <a:ext cx="10245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 Verification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60924" y="3210223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19" name="Shape 17"/>
          <p:cNvSpPr/>
          <p:nvPr/>
        </p:nvSpPr>
        <p:spPr>
          <a:xfrm>
            <a:off x="3414378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20" name="Shape 18"/>
          <p:cNvSpPr/>
          <p:nvPr/>
        </p:nvSpPr>
        <p:spPr>
          <a:xfrm>
            <a:off x="2803847" y="3659014"/>
            <a:ext cx="1333202" cy="787450"/>
          </a:xfrm>
          <a:prstGeom prst="roundRect">
            <a:avLst>
              <a:gd name="adj" fmla="val 7980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8182" y="3813349"/>
            <a:ext cx="102453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Dashboard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21063" y="2761431"/>
            <a:ext cx="19050" cy="448791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/>
        </p:spPr>
      </p:sp>
      <p:sp>
        <p:nvSpPr>
          <p:cNvPr id="23" name="Shape 21"/>
          <p:cNvSpPr/>
          <p:nvPr/>
        </p:nvSpPr>
        <p:spPr>
          <a:xfrm>
            <a:off x="4174517" y="3154152"/>
            <a:ext cx="112142" cy="112142"/>
          </a:xfrm>
          <a:prstGeom prst="ellipse">
            <a:avLst/>
          </a:prstGeom>
          <a:solidFill>
            <a:srgbClr val="BE49D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3987" y="2213372"/>
            <a:ext cx="1333202" cy="548060"/>
          </a:xfrm>
          <a:prstGeom prst="roundRect">
            <a:avLst>
              <a:gd name="adj" fmla="val 11465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18322" y="2367707"/>
            <a:ext cx="102453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Features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66879" y="1825154"/>
            <a:ext cx="33582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66879" y="2194694"/>
            <a:ext cx="3358232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Spring Security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JWT Auth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Role-Based Access</a:t>
            </a:r>
            <a:endParaRPr lang="en-US" sz="11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6CFEDD-0F3B-C4CB-28F9-AEFBD6812251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480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Features &amp; Modules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403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provides a complete digital farming ecosystem by combining secure farm management, intelligent decision support, and role-based services on a single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951062"/>
            <a:ext cx="8096845" cy="2627561"/>
          </a:xfrm>
          <a:prstGeom prst="roundRect">
            <a:avLst>
              <a:gd name="adj" fmla="val 23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2386608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82453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262461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700388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413831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7987" y="2050331"/>
            <a:ext cx="282684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 Features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46772" y="2050331"/>
            <a:ext cx="290772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Application Modules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6446" y="2050331"/>
            <a:ext cx="282684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&amp; Smart Services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87" y="248349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🔐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Secure Authentication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46772" y="2483495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👨‍🌾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Farmer Portal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96446" y="248349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🌱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AI Crop Advisory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7987" y="292142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🌾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Crop Management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46772" y="2921422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🩺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Expert Portal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96446" y="292142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🐛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Pest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7987" y="3359348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🌦️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Weather Insights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46772" y="3359348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🛒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Marketplace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6446" y="3359348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🌤️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Weather Analysis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7987" y="379727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🛍️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Digital Marketplace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46772" y="3797275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📊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Admin Dashboard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96446" y="3797275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📈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Market Price Insights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7987" y="423520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📊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Analytics Dashboard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46772" y="4235202"/>
            <a:ext cx="2907729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🔑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Role-Based Access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96446" y="4235202"/>
            <a:ext cx="2826841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🤖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Smart Recommendations</a:t>
            </a:r>
            <a:endParaRPr lang="en-US" sz="11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6B1629-F440-7100-A092-528D6A2AE44E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624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Innovations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1651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 combines modern Java Full Stack technologies with AI-powered services to deliver an intelligent and scalable digital farming solution.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948681"/>
            <a:ext cx="8096845" cy="2632323"/>
          </a:xfrm>
          <a:prstGeom prst="roundRect">
            <a:avLst>
              <a:gd name="adj" fmla="val 238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2388989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826916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264843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702769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4140696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7912" y="2047949"/>
            <a:ext cx="2584252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Innovation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4108" y="2047949"/>
            <a:ext cx="58191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7912" y="2485876"/>
            <a:ext cx="2584252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🤖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AI Advisory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4108" y="2485876"/>
            <a:ext cx="58191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Personalized crop recommendations based on farming 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7912" y="2923803"/>
            <a:ext cx="2584252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🔐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Secure Access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4108" y="2923803"/>
            <a:ext cx="58191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authentication with role-based authorization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7912" y="3361730"/>
            <a:ext cx="2584252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🌦️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Smart Insights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4108" y="3361730"/>
            <a:ext cx="58191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weather and market price updates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7912" y="3799656"/>
            <a:ext cx="2584252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🛒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Digital Marketplace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4108" y="3799656"/>
            <a:ext cx="58191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farmer-to-buyer trading platform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7912" y="4237583"/>
            <a:ext cx="2584252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📊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Analytics Dashboard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4108" y="4237583"/>
            <a:ext cx="58191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reports for better decision-making</a:t>
            </a:r>
            <a:endParaRPr lang="en-US" sz="11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B8AF5-4C0F-5B07-586D-815060E2B15A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8364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Competitive Analysis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422871"/>
            <a:ext cx="8096845" cy="3036912"/>
          </a:xfrm>
          <a:prstGeom prst="roundRect">
            <a:avLst>
              <a:gd name="adj" fmla="val 20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8340" y="1427634"/>
            <a:ext cx="8087320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78061" y="1522140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76687" y="1522140"/>
            <a:ext cx="284953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Methods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72932" y="1522140"/>
            <a:ext cx="285035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AgriVerse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28340" y="1856036"/>
            <a:ext cx="8087320" cy="43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8061" y="1950541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Crop Management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76687" y="1950541"/>
            <a:ext cx="2849538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Manual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72932" y="1950541"/>
            <a:ext cx="285035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Digital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340" y="2289200"/>
            <a:ext cx="8087320" cy="43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8061" y="2383706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Expert Consultation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6687" y="2383706"/>
            <a:ext cx="2849538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Offline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72932" y="2383706"/>
            <a:ext cx="285035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8340" y="2722364"/>
            <a:ext cx="8087320" cy="43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8061" y="2816870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Weather Insights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76687" y="2816870"/>
            <a:ext cx="2849538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Separate Apps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72932" y="2816870"/>
            <a:ext cx="285035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Integrated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8340" y="3155528"/>
            <a:ext cx="8087320" cy="43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78061" y="3250034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Marketplace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76687" y="3250034"/>
            <a:ext cx="2849538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Middlemen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72932" y="3250034"/>
            <a:ext cx="285035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Direct Trading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8340" y="3588693"/>
            <a:ext cx="8087320" cy="433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8061" y="3683198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Recommendations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76687" y="3683198"/>
            <a:ext cx="2849538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Not Available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72932" y="3683198"/>
            <a:ext cx="285035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Intelligent Advisory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8340" y="4021857"/>
            <a:ext cx="8087320" cy="433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8061" y="4116363"/>
            <a:ext cx="285191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Platform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76687" y="4116363"/>
            <a:ext cx="2849538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❌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Limited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72932" y="4116363"/>
            <a:ext cx="2850356" cy="244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JWT + Spring Security</a:t>
            </a:r>
            <a:endParaRPr lang="en-US" sz="11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0113E0-AD30-3449-D209-4BE466AC464E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2901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Future Scope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123504"/>
            <a:ext cx="2602260" cy="14759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0843" y="1270769"/>
            <a:ext cx="230772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IoT Sensor Integration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70843" y="1574229"/>
            <a:ext cx="23077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Seamlessly integrate data from soil, weather, and crop health sensors for real-time insights.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796" y="1123504"/>
            <a:ext cx="2602334" cy="14759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18061" y="1270769"/>
            <a:ext cx="23078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Drone Monitoring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18061" y="1574229"/>
            <a:ext cx="230780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 drones for aerial imaging, automated pest detection, and comprehensive crop analysis.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088" y="1123504"/>
            <a:ext cx="2602334" cy="14759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65354" y="1270769"/>
            <a:ext cx="23078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Prediction Improvement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165354" y="1574229"/>
            <a:ext cx="230780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 AI models for more accurate yield predictions, disease forecasting, and optimal resource management.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2744391"/>
            <a:ext cx="2602260" cy="19262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0843" y="2891656"/>
            <a:ext cx="230772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0843" y="3195117"/>
            <a:ext cx="2307729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a dedicated mobile app for farmers to access AgriVerse features on-the-go.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796" y="2744391"/>
            <a:ext cx="2602334" cy="19262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18061" y="2891656"/>
            <a:ext cx="230780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Government Scheme Integration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18061" y="3411662"/>
            <a:ext cx="230780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with government agricultural schemes and subsidies to provide farmers with relevant information and support.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088" y="2744391"/>
            <a:ext cx="2602334" cy="19262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65354" y="2891656"/>
            <a:ext cx="230780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Online Payments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165354" y="3195117"/>
            <a:ext cx="2307803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secure online payment gateways for marketplace transactions and expert consultations.</a:t>
            </a:r>
            <a:endParaRPr lang="en-US" sz="11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16455A-AEBF-C1A3-2FF9-9435E9BEE93D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8521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Results &amp; Benefits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38610"/>
            <a:ext cx="24819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Easy to use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64112" y="1942505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138490" y="1738610"/>
            <a:ext cx="24819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Secure system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5977" y="1942505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88137" y="2721322"/>
            <a:ext cx="233228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Better crop planning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1872" y="2801466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138490" y="3814093"/>
            <a:ext cx="24819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Faster decision making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55977" y="3660353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523577" y="3704109"/>
            <a:ext cx="248193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Direct farmer-to-buyer connection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64112" y="3660353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523577" y="2611338"/>
            <a:ext cx="233228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Centralized farm management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082" y="1524446"/>
            <a:ext cx="2833836" cy="28338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68216" y="2801466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F6EFAD-FF1A-59A1-3140-C9B8E7050737}"/>
              </a:ext>
            </a:extLst>
          </p:cNvPr>
          <p:cNvSpPr/>
          <p:nvPr/>
        </p:nvSpPr>
        <p:spPr>
          <a:xfrm>
            <a:off x="7934178" y="4648721"/>
            <a:ext cx="1209822" cy="4400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95798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57822"/>
            <a:ext cx="4667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Questions &amp; Discussion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94977" y="2946127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 TEAM C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841</Words>
  <Application>Microsoft Office PowerPoint</Application>
  <PresentationFormat>On-screen Show (16:9)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Source Sans 3 Bold</vt:lpstr>
      <vt:lpstr>Arial</vt:lpstr>
      <vt:lpstr>Source Sans 3</vt:lpstr>
      <vt:lpstr>Twemoji Mozilla</vt:lpstr>
      <vt:lpstr>Source Serif 4 SemiBold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Puspal Das</cp:lastModifiedBy>
  <cp:revision>5</cp:revision>
  <dcterms:created xsi:type="dcterms:W3CDTF">2026-07-29T17:01:09Z</dcterms:created>
  <dcterms:modified xsi:type="dcterms:W3CDTF">2026-07-30T12:57:40Z</dcterms:modified>
</cp:coreProperties>
</file>
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  <p:embeddedFont>
      <p:font typeface="Source Serif 4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189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327845"/>
            <a:ext cx="4667845" cy="444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🌾</a:t>
            </a: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AgriVerse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832446"/>
            <a:ext cx="4667845" cy="70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FarmVerse Precision Agriculture Management Platform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23577" y="2760911"/>
            <a:ext cx="4667845" cy="1054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Theme: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Agriculture, Food Tech &amp; Rural Development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Presented by: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Team C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Guide: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Ragul 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32135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71364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Agriculture remains one of the most important sectors of the economy, yet many farmers continue to face challenges due to limited access to modern digital technologies and integrated farming solutions.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91828" y="1918395"/>
            <a:ext cx="19050" cy="2692971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5" name="Shape 3"/>
          <p:cNvSpPr/>
          <p:nvPr/>
        </p:nvSpPr>
        <p:spPr>
          <a:xfrm>
            <a:off x="841065" y="2077120"/>
            <a:ext cx="448791" cy="1905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6" name="Shape 4"/>
          <p:cNvSpPr/>
          <p:nvPr/>
        </p:nvSpPr>
        <p:spPr>
          <a:xfrm>
            <a:off x="523540" y="1918395"/>
            <a:ext cx="336575" cy="336575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6197" y="1954634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39912" y="1966987"/>
            <a:ext cx="718051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Lack of a unified platform for managing agricultural activities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1065" y="2675558"/>
            <a:ext cx="448791" cy="1905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10" name="Shape 8"/>
          <p:cNvSpPr/>
          <p:nvPr/>
        </p:nvSpPr>
        <p:spPr>
          <a:xfrm>
            <a:off x="523540" y="2516832"/>
            <a:ext cx="336575" cy="336575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97" y="2553072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39912" y="2565425"/>
            <a:ext cx="718051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access to expert guidance for crop planning and disease management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065" y="3273996"/>
            <a:ext cx="448791" cy="1905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14" name="Shape 12"/>
          <p:cNvSpPr/>
          <p:nvPr/>
        </p:nvSpPr>
        <p:spPr>
          <a:xfrm>
            <a:off x="523540" y="3115270"/>
            <a:ext cx="336575" cy="336575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6197" y="3151510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39912" y="3163863"/>
            <a:ext cx="718051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Delayed pest identification resulting in reduced crop productivity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065" y="3872433"/>
            <a:ext cx="448791" cy="1905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540" y="3713708"/>
            <a:ext cx="336575" cy="336575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6197" y="3749948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39912" y="3762301"/>
            <a:ext cx="718051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Insufficient access to real-time weather forecasts and market price information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1065" y="4470871"/>
            <a:ext cx="448791" cy="1905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22" name="Shape 20"/>
          <p:cNvSpPr/>
          <p:nvPr/>
        </p:nvSpPr>
        <p:spPr>
          <a:xfrm>
            <a:off x="523540" y="4312146"/>
            <a:ext cx="336575" cy="336575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97" y="4348386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39912" y="4360738"/>
            <a:ext cx="718051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Inefficient record management and decision-making processes</a:t>
            </a:r>
            <a:endParaRPr lang="en-US" sz="11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14EDBC-4F61-D42B-CA7D-2B51E244245F}"/>
              </a:ext>
            </a:extLst>
          </p:cNvPr>
          <p:cNvSpPr/>
          <p:nvPr/>
        </p:nvSpPr>
        <p:spPr>
          <a:xfrm>
            <a:off x="7913077" y="4761914"/>
            <a:ext cx="1230923" cy="38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81310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Proposed Solution &amp; Objectives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585689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AgriVerse is a Java Full Stack smart agriculture platform designed to simplify farm management by integrating crop advisory, weather insights, marketplace services, and expert consultation into a single secure application.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577" y="2767608"/>
            <a:ext cx="4667845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Objectives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23577" y="3255913"/>
            <a:ext cx="4667845" cy="140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 a unified platform for modern farm management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 AI-driven crop advisory and early pest detection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real-time weather updates and market price insights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 farmers with agricultural experts and buyers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productivity through secure and data-driven decision making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39204"/>
            <a:ext cx="8096845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3577" y="1340569"/>
            <a:ext cx="73596" cy="73596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4" name="Text 2"/>
          <p:cNvSpPr/>
          <p:nvPr/>
        </p:nvSpPr>
        <p:spPr>
          <a:xfrm>
            <a:off x="742131" y="1262286"/>
            <a:ext cx="1255812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Three-Tier Architecture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2131" y="1782291"/>
            <a:ext cx="1255812" cy="2337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Thymeleaf Frontend connects to a robust Spring Boot API, which in turn integrates with a specialized Spring AI Microservice, ensuring a scalable and modular design.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79141" y="1340569"/>
            <a:ext cx="73596" cy="73596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7" name="Text 5"/>
          <p:cNvSpPr/>
          <p:nvPr/>
        </p:nvSpPr>
        <p:spPr>
          <a:xfrm>
            <a:off x="2397696" y="1262286"/>
            <a:ext cx="1255886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Flow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397696" y="1565746"/>
            <a:ext cx="1255886" cy="257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Requests are meticulously processed: first authenticated by Spring Security, then routed through @RestController to interact with JPA/MySQL, before a response is delivered.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34780" y="1340569"/>
            <a:ext cx="73596" cy="73596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10" name="Text 8"/>
          <p:cNvSpPr/>
          <p:nvPr/>
        </p:nvSpPr>
        <p:spPr>
          <a:xfrm>
            <a:off x="4053334" y="1262286"/>
            <a:ext cx="1255812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 Pipeline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53334" y="1565746"/>
            <a:ext cx="1255812" cy="3038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AI pipeline transforms raw images through OpenCV preprocessing, calculates the Greenness Index (2G−R−B), and performs advanced disease classification to provide precise agricultural insights.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90344" y="1340569"/>
            <a:ext cx="73596" cy="73596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13" name="Text 11"/>
          <p:cNvSpPr/>
          <p:nvPr/>
        </p:nvSpPr>
        <p:spPr>
          <a:xfrm>
            <a:off x="5708898" y="1262286"/>
            <a:ext cx="1255886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708898" y="1565746"/>
            <a:ext cx="1255886" cy="2103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Utilizes MySQL with Spring Data JPA for robust production environments, while an H2 in-memory database facilitates seamless testing and demo functionalities.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45982" y="1340569"/>
            <a:ext cx="73596" cy="73596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16" name="Text 14"/>
          <p:cNvSpPr/>
          <p:nvPr/>
        </p:nvSpPr>
        <p:spPr>
          <a:xfrm>
            <a:off x="7364537" y="1262286"/>
            <a:ext cx="1255812" cy="649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Authentication &amp; Authorization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64537" y="1998836"/>
            <a:ext cx="1255812" cy="2103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authentication is powered by Spring Security, JWT, and BCrypt, implementing strict role-based access control for Farmers, Vets, and Admins.</a:t>
            </a:r>
            <a:endParaRPr lang="en-US" sz="11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33F25C-41A8-2BCF-B2A9-C7AAAB4E51F5}"/>
              </a:ext>
            </a:extLst>
          </p:cNvPr>
          <p:cNvSpPr/>
          <p:nvPr/>
        </p:nvSpPr>
        <p:spPr>
          <a:xfrm>
            <a:off x="7913077" y="4761914"/>
            <a:ext cx="1230923" cy="38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1137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343992"/>
            <a:ext cx="2745804" cy="27458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258047"/>
            <a:ext cx="43231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759226" y="1360810"/>
            <a:ext cx="3865959" cy="3086100"/>
          </a:xfrm>
          <a:prstGeom prst="roundRect">
            <a:avLst>
              <a:gd name="adj" fmla="val 203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9226" y="1748358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59226" y="2133526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759226" y="2518693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759226" y="2903860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759226" y="3289027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759226" y="3674194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759226" y="4059362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913561" y="1460078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41778" y="1460078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React.js, Bootstrap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13561" y="1845246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41778" y="1845246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913561" y="2230413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841778" y="2230413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Security, JWT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13561" y="2615580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41778" y="2615580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13561" y="3000747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41778" y="3000747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Data JPA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913561" y="3385914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Tool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41778" y="3385914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Maven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913561" y="3771081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841778" y="3771081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 APIs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13561" y="4156249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841778" y="4156249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A520BD-2AB0-95F6-2326-EC2FE62A087D}"/>
              </a:ext>
            </a:extLst>
          </p:cNvPr>
          <p:cNvSpPr/>
          <p:nvPr/>
        </p:nvSpPr>
        <p:spPr>
          <a:xfrm>
            <a:off x="7913077" y="4761914"/>
            <a:ext cx="1230923" cy="38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6480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Core Features &amp; Modules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04032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AgriVerse provides a complete digital farming ecosystem by combining secure farm management, intelligent decision support, and role-based services on a single platform.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951062"/>
            <a:ext cx="8096845" cy="2627561"/>
          </a:xfrm>
          <a:prstGeom prst="roundRect">
            <a:avLst>
              <a:gd name="adj" fmla="val 239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3577" y="2386608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824535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3262461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3700388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4138315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7987" y="2050331"/>
            <a:ext cx="282684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Core Features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46772" y="2050331"/>
            <a:ext cx="290772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Application Modules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6446" y="2050331"/>
            <a:ext cx="282684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 &amp; Smart Services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7987" y="2483495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🔐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Secure Authentication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46772" y="2483495"/>
            <a:ext cx="2907729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👨‍🌾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Farmer Portal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96446" y="2483495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🌱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AI Crop Advisory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7987" y="2921422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🌾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Crop Management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46772" y="2921422"/>
            <a:ext cx="2907729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🩺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Expert Portal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6446" y="2921422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🐛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Pest Detection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7987" y="3359348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🌦️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Weather Insights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46772" y="3359348"/>
            <a:ext cx="2907729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🛒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Marketplace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6446" y="3359348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🌤️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Weather Analysis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7987" y="3797275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🛍️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Digital Marketplace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46772" y="3797275"/>
            <a:ext cx="2907729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📊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Admin Dashboard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96446" y="3797275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📈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Market Price Insights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7987" y="4235202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📊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Analytics Dashboard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46772" y="4235202"/>
            <a:ext cx="2907729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🔑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Role-Based Access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96446" y="4235202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🤖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Smart Recommendations</a:t>
            </a:r>
            <a:endParaRPr lang="en-US" sz="11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174A62-B818-5336-C614-0BCEA3AB64B4}"/>
              </a:ext>
            </a:extLst>
          </p:cNvPr>
          <p:cNvSpPr/>
          <p:nvPr/>
        </p:nvSpPr>
        <p:spPr>
          <a:xfrm>
            <a:off x="7913077" y="4761914"/>
            <a:ext cx="1230923" cy="38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0467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Database Design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169045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stores all application data using relational tables.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576685"/>
            <a:ext cx="1911995" cy="1575941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7912" y="1731020"/>
            <a:ext cx="160332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Users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7912" y="2040731"/>
            <a:ext cx="160332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Authentication, roles, and profile details for farmers, buyers, and administrators.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85145" y="1576685"/>
            <a:ext cx="1912069" cy="1575941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9479" y="1731020"/>
            <a:ext cx="16034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Crops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739479" y="2040731"/>
            <a:ext cx="160340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Crop records with planting details, disease status, and cultivation metadata.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46786" y="1576685"/>
            <a:ext cx="1911995" cy="1575941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1121" y="1731020"/>
            <a:ext cx="160332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Products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01121" y="2040731"/>
            <a:ext cx="160332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Marketplace product listings linked to crop inventory and availability.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08353" y="1576685"/>
            <a:ext cx="1912069" cy="1575941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688" y="1731020"/>
            <a:ext cx="16034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Orders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62688" y="2040731"/>
            <a:ext cx="160340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 transactions, order status, quantities, and delivery tracking.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577" y="3302198"/>
            <a:ext cx="2599209" cy="1336551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7912" y="3456533"/>
            <a:ext cx="22905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Consultations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7912" y="3766245"/>
            <a:ext cx="229053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Expert advice sessions, diagnosis notes, and recommendations for users.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72358" y="3302198"/>
            <a:ext cx="2599209" cy="1336551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6693" y="3456533"/>
            <a:ext cx="22905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Weather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26693" y="3766245"/>
            <a:ext cx="229053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Location-based forecasts, alerts, and environmental conditions for decision-making.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21139" y="3302198"/>
            <a:ext cx="2599283" cy="1336551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5474" y="3456533"/>
            <a:ext cx="229061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Marketplace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75474" y="3766245"/>
            <a:ext cx="229061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Listings, pricing, categories, and buyer-seller interactions across the platform.</a:t>
            </a:r>
            <a:endParaRPr lang="en-US" sz="11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577538-70A2-D474-3EE9-D3703C57B543}"/>
              </a:ext>
            </a:extLst>
          </p:cNvPr>
          <p:cNvSpPr/>
          <p:nvPr/>
        </p:nvSpPr>
        <p:spPr>
          <a:xfrm>
            <a:off x="7913077" y="4761914"/>
            <a:ext cx="1230923" cy="38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2871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System Workflow &amp; Security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67941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AgriVerse ensures secure access through role-based authentication and controlled application workflow.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1825154"/>
            <a:ext cx="437361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Workflow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23577" y="3210223"/>
            <a:ext cx="4373612" cy="1905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6" name="Shape 4"/>
          <p:cNvSpPr/>
          <p:nvPr/>
        </p:nvSpPr>
        <p:spPr>
          <a:xfrm>
            <a:off x="1180654" y="2761431"/>
            <a:ext cx="19050" cy="448791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7" name="Shape 5"/>
          <p:cNvSpPr/>
          <p:nvPr/>
        </p:nvSpPr>
        <p:spPr>
          <a:xfrm>
            <a:off x="1134108" y="3154152"/>
            <a:ext cx="112142" cy="112142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2213372"/>
            <a:ext cx="1333202" cy="548060"/>
          </a:xfrm>
          <a:prstGeom prst="roundRect">
            <a:avLst>
              <a:gd name="adj" fmla="val 11465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7912" y="2367707"/>
            <a:ext cx="102453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Login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40719" y="3210223"/>
            <a:ext cx="19050" cy="448791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11" name="Shape 9"/>
          <p:cNvSpPr/>
          <p:nvPr/>
        </p:nvSpPr>
        <p:spPr>
          <a:xfrm>
            <a:off x="1894173" y="3154152"/>
            <a:ext cx="112142" cy="112142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3643" y="3659014"/>
            <a:ext cx="1333202" cy="787450"/>
          </a:xfrm>
          <a:prstGeom prst="roundRect">
            <a:avLst>
              <a:gd name="adj" fmla="val 798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7977" y="3813349"/>
            <a:ext cx="1024533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 Authentication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00858" y="2761431"/>
            <a:ext cx="19050" cy="448791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15" name="Shape 13"/>
          <p:cNvSpPr/>
          <p:nvPr/>
        </p:nvSpPr>
        <p:spPr>
          <a:xfrm>
            <a:off x="2654312" y="3154152"/>
            <a:ext cx="112142" cy="112142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16" name="Shape 14"/>
          <p:cNvSpPr/>
          <p:nvPr/>
        </p:nvSpPr>
        <p:spPr>
          <a:xfrm>
            <a:off x="2043782" y="2213372"/>
            <a:ext cx="1333202" cy="548060"/>
          </a:xfrm>
          <a:prstGeom prst="roundRect">
            <a:avLst>
              <a:gd name="adj" fmla="val 11465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8117" y="2367707"/>
            <a:ext cx="102453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 Verification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60924" y="3210223"/>
            <a:ext cx="19050" cy="448791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19" name="Shape 17"/>
          <p:cNvSpPr/>
          <p:nvPr/>
        </p:nvSpPr>
        <p:spPr>
          <a:xfrm>
            <a:off x="3414378" y="3154152"/>
            <a:ext cx="112142" cy="112142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20" name="Shape 18"/>
          <p:cNvSpPr/>
          <p:nvPr/>
        </p:nvSpPr>
        <p:spPr>
          <a:xfrm>
            <a:off x="2803847" y="3659014"/>
            <a:ext cx="1333202" cy="787450"/>
          </a:xfrm>
          <a:prstGeom prst="roundRect">
            <a:avLst>
              <a:gd name="adj" fmla="val 798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58182" y="3813349"/>
            <a:ext cx="1024533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Personalized Dashboard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21063" y="2761431"/>
            <a:ext cx="19050" cy="448791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23" name="Shape 21"/>
          <p:cNvSpPr/>
          <p:nvPr/>
        </p:nvSpPr>
        <p:spPr>
          <a:xfrm>
            <a:off x="4174517" y="3154152"/>
            <a:ext cx="112142" cy="112142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24" name="Shape 22"/>
          <p:cNvSpPr/>
          <p:nvPr/>
        </p:nvSpPr>
        <p:spPr>
          <a:xfrm>
            <a:off x="3563987" y="2213372"/>
            <a:ext cx="1333202" cy="548060"/>
          </a:xfrm>
          <a:prstGeom prst="roundRect">
            <a:avLst>
              <a:gd name="adj" fmla="val 11465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8322" y="2367707"/>
            <a:ext cx="102453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 Features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66879" y="1825154"/>
            <a:ext cx="33582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Security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266879" y="2194694"/>
            <a:ext cx="3358232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Spring Security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JWT Auth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BCrypt Encryption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Role-Based Access</a:t>
            </a:r>
            <a:endParaRPr lang="en-US" sz="11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475588-036E-BF84-A334-A6DCBDB77D71}"/>
              </a:ext>
            </a:extLst>
          </p:cNvPr>
          <p:cNvSpPr/>
          <p:nvPr/>
        </p:nvSpPr>
        <p:spPr>
          <a:xfrm>
            <a:off x="7913077" y="4761914"/>
            <a:ext cx="1230923" cy="38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8521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Results &amp; Benefits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38610"/>
            <a:ext cx="24819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Easy to use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082" y="1524446"/>
            <a:ext cx="2833836" cy="28338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64112" y="1942505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138490" y="1738610"/>
            <a:ext cx="24819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Secure system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082" y="1524446"/>
            <a:ext cx="2833836" cy="28338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55977" y="1942505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288137" y="2721322"/>
            <a:ext cx="233228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Better crop planning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082" y="1524446"/>
            <a:ext cx="2833836" cy="28338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51872" y="2801466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138490" y="3814093"/>
            <a:ext cx="24819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Faster decision making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5082" y="1524446"/>
            <a:ext cx="2833836" cy="28338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55977" y="3660353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523577" y="3704109"/>
            <a:ext cx="248193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Direct farmer-to-buyer connection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5082" y="1524446"/>
            <a:ext cx="2833836" cy="283383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964112" y="3660353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523577" y="2611338"/>
            <a:ext cx="233228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Centralized farm management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5082" y="1524446"/>
            <a:ext cx="2833836" cy="283383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468216" y="2801466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6</a:t>
            </a:r>
            <a:endParaRPr lang="en-US" sz="1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AE05AB-A6B6-D8C8-85BE-3EA24B31B31C}"/>
              </a:ext>
            </a:extLst>
          </p:cNvPr>
          <p:cNvSpPr/>
          <p:nvPr/>
        </p:nvSpPr>
        <p:spPr>
          <a:xfrm>
            <a:off x="7913077" y="4761914"/>
            <a:ext cx="1230923" cy="38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72901"/>
            <a:ext cx="8096845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Future Scope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123504"/>
            <a:ext cx="2602260" cy="14759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0843" y="1270769"/>
            <a:ext cx="2307729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IoT Sensor Integration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70843" y="1574229"/>
            <a:ext cx="2307729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Seamlessly integrate data from soil, weather, and crop health sensors for real-time insights.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796" y="1123504"/>
            <a:ext cx="2602334" cy="14759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18061" y="1270769"/>
            <a:ext cx="230780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Drone Monitoring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18061" y="1574229"/>
            <a:ext cx="2307803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Utilize drones for aerial imaging, automated pest detection, and comprehensive crop analysis.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088" y="1123504"/>
            <a:ext cx="2602334" cy="14759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65354" y="1270769"/>
            <a:ext cx="230780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 Prediction Improvement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165354" y="1574229"/>
            <a:ext cx="2307803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 AI models for more accurate yield predictions, disease forecasting, and optimal resource management.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77" y="2744391"/>
            <a:ext cx="2602260" cy="19262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0843" y="2891656"/>
            <a:ext cx="2307729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Mobile Application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0843" y="3195117"/>
            <a:ext cx="2307729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 a dedicated mobile app for farmers to access AgriVerse features on-the-go.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796" y="2744391"/>
            <a:ext cx="2602334" cy="19262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18061" y="2891656"/>
            <a:ext cx="2307803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Government Scheme Integration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18061" y="3411662"/>
            <a:ext cx="2307803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with government agricultural schemes and subsidies to provide farmers with relevant information and support.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8088" y="2744391"/>
            <a:ext cx="2602334" cy="19262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65354" y="2891656"/>
            <a:ext cx="230780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Online Payments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165354" y="3195117"/>
            <a:ext cx="2307803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secure online payment gateways for marketplace transactions and expert consultations.</a:t>
            </a:r>
            <a:endParaRPr lang="en-US" sz="11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824210-AC07-DC09-C0E5-C59B498B9A02}"/>
              </a:ext>
            </a:extLst>
          </p:cNvPr>
          <p:cNvSpPr/>
          <p:nvPr/>
        </p:nvSpPr>
        <p:spPr>
          <a:xfrm>
            <a:off x="7913077" y="4761914"/>
            <a:ext cx="1230923" cy="38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957983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457822"/>
            <a:ext cx="4667845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Questions &amp; Discussion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94977" y="2946127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Presented by TEAM C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748</Words>
  <Application>Microsoft Office PowerPoint</Application>
  <PresentationFormat>On-screen Show (16:9)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Twemoji Mozilla</vt:lpstr>
      <vt:lpstr>Source Sans 3</vt:lpstr>
      <vt:lpstr>Source Serif 4 SemiBold</vt:lpstr>
      <vt:lpstr>Arial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Puspal Das</cp:lastModifiedBy>
  <cp:revision>3</cp:revision>
  <dcterms:created xsi:type="dcterms:W3CDTF">2026-07-28T18:41:33Z</dcterms:created>
  <dcterms:modified xsi:type="dcterms:W3CDTF">2026-07-28T18:44:10Z</dcterms:modified>
</cp:coreProperties>
</file>
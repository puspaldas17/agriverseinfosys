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Space Mono"/>
      <p:bold r:id="rId20"/>
      <p:boldItalic r:id="rId21"/>
    </p:embeddedFont>
    <p:embeddedFont>
      <p:font typeface="DM Sans Medium"/>
      <p:regular r:id="rId22"/>
      <p:bold r:id="rId23"/>
      <p:italic r:id="rId24"/>
      <p:boldItalic r:id="rId25"/>
    </p:embeddedFont>
    <p:embeddedFont>
      <p:font typeface="Playfair Display"/>
      <p:bold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Mono-bold.fntdata"/><Relationship Id="rId22" Type="http://schemas.openxmlformats.org/officeDocument/2006/relationships/font" Target="fonts/DMSansMedium-regular.fntdata"/><Relationship Id="rId21" Type="http://schemas.openxmlformats.org/officeDocument/2006/relationships/font" Target="fonts/SpaceMono-boldItalic.fntdata"/><Relationship Id="rId24" Type="http://schemas.openxmlformats.org/officeDocument/2006/relationships/font" Target="fonts/DMSansMedium-italic.fntdata"/><Relationship Id="rId23" Type="http://schemas.openxmlformats.org/officeDocument/2006/relationships/font" Target="fonts/DMSa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bold.fntdata"/><Relationship Id="rId25" Type="http://schemas.openxmlformats.org/officeDocument/2006/relationships/font" Target="fonts/DMSansMedium-boldItalic.fntdata"/><Relationship Id="rId28" Type="http://schemas.openxmlformats.org/officeDocument/2006/relationships/font" Target="fonts/DMSans-regular.fntdata"/><Relationship Id="rId27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383b8214f23098ac_14_3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383b8214f23098ac_14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383b8214f23098ac_14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383b8214f23098ac_14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383b8214f23098ac_14_8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383b8214f23098ac_14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383b8214f23098ac_14_10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h383b8214f23098ac_14_1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383b8214f23098ac_14_15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383b8214f23098ac_14_1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7e39712350bf7ecf_5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h7e39712350bf7ecf_5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bdda9ed01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bdda9ed0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bdda9ed01_0_3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bdda9ed01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bdda9ed01_0_6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fbdda9ed01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bdda9ed01_0_9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fbdda9ed01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40a1bf379de_0_3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40a1bf379de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40a1bf379de_0_8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40a1bf379de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40a1bf379de_0_10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40a1bf379de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40a1bf379de_0_19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40a1bf379de_0_1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a18e0b4e3_24_0)">
  <p:cSld name="Generated (g40a18e0b4e3_24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/>
          <p:cNvPicPr preferRelativeResize="0"/>
          <p:nvPr/>
        </p:nvPicPr>
        <p:blipFill rotWithShape="1">
          <a:blip r:embed="rId4">
            <a:alphaModFix/>
          </a:blip>
          <a:srcRect b="5752" l="0" r="0" t="5752"/>
          <a:stretch/>
        </p:blipFill>
        <p:spPr>
          <a:xfrm>
            <a:off x="6646200" y="0"/>
            <a:ext cx="5545800" cy="6858000"/>
          </a:xfrm>
          <a:prstGeom prst="roundRect">
            <a:avLst>
              <a:gd fmla="val 3703" name="adj"/>
            </a:avLst>
          </a:prstGeom>
          <a:noFill/>
          <a:ln>
            <a:noFill/>
          </a:ln>
        </p:spPr>
      </p:pic>
      <p:grpSp>
        <p:nvGrpSpPr>
          <p:cNvPr id="86" name="Google Shape;86;p14"/>
          <p:cNvGrpSpPr/>
          <p:nvPr/>
        </p:nvGrpSpPr>
        <p:grpSpPr>
          <a:xfrm>
            <a:off x="762000" y="571500"/>
            <a:ext cx="5545900" cy="1666875"/>
            <a:chOff x="0" y="0"/>
            <a:chExt cx="5238900" cy="1666875"/>
          </a:xfrm>
        </p:grpSpPr>
        <p:sp>
          <p:nvSpPr>
            <p:cNvPr id="87" name="Google Shape;87;p14"/>
            <p:cNvSpPr txBox="1"/>
            <p:nvPr/>
          </p:nvSpPr>
          <p:spPr>
            <a:xfrm>
              <a:off x="0" y="0"/>
              <a:ext cx="5238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365">
                  <a:solidFill>
                    <a:srgbClr val="FCFBF7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Agri</a:t>
              </a:r>
              <a:r>
                <a:rPr b="1" i="1" lang="en-US" sz="5365">
                  <a:solidFill>
                    <a:srgbClr val="C6A87C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Verse</a:t>
              </a:r>
              <a:endParaRPr b="1" sz="5365">
                <a:solidFill>
                  <a:srgbClr val="FCFBF7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0" y="904875"/>
              <a:ext cx="514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>
                  <a:solidFill>
                    <a:srgbClr val="A4B5AA"/>
                  </a:solidFill>
                  <a:latin typeface="DM Sans"/>
                  <a:ea typeface="DM Sans"/>
                  <a:cs typeface="DM Sans"/>
                  <a:sym typeface="DM Sans"/>
                </a:rPr>
                <a:t>Intelligent Farm Operations Platform with a Smart Agro Precision System</a:t>
              </a:r>
              <a:endParaRPr b="0" i="1" sz="1800">
                <a:solidFill>
                  <a:srgbClr val="A4B5A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89" name="Google Shape;89;p14"/>
            <p:cNvCxnSpPr/>
            <p:nvPr/>
          </p:nvCxnSpPr>
          <p:spPr>
            <a:xfrm>
              <a:off x="0" y="1666875"/>
              <a:ext cx="5143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24A3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0" name="Google Shape;90;p14"/>
          <p:cNvGrpSpPr/>
          <p:nvPr/>
        </p:nvGrpSpPr>
        <p:grpSpPr>
          <a:xfrm>
            <a:off x="548200" y="2362200"/>
            <a:ext cx="5759177" cy="4069625"/>
            <a:chOff x="0" y="0"/>
            <a:chExt cx="5143500" cy="3524400"/>
          </a:xfrm>
        </p:grpSpPr>
        <p:grpSp>
          <p:nvGrpSpPr>
            <p:cNvPr id="91" name="Google Shape;91;p14"/>
            <p:cNvGrpSpPr/>
            <p:nvPr/>
          </p:nvGrpSpPr>
          <p:grpSpPr>
            <a:xfrm>
              <a:off x="0" y="0"/>
              <a:ext cx="5143500" cy="762000"/>
              <a:chOff x="0" y="0"/>
              <a:chExt cx="5143500" cy="762000"/>
            </a:xfrm>
          </p:grpSpPr>
          <p:sp>
            <p:nvSpPr>
              <p:cNvPr id="92" name="Google Shape;92;p14"/>
              <p:cNvSpPr/>
              <p:nvPr/>
            </p:nvSpPr>
            <p:spPr>
              <a:xfrm>
                <a:off x="0" y="0"/>
                <a:ext cx="51435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24382C"/>
              </a:solidFill>
              <a:ln cap="flat" cmpd="sng" w="9525">
                <a:solidFill>
                  <a:srgbClr val="324A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>
                <a:off x="0" y="0"/>
                <a:ext cx="38100" cy="7620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 txBox="1"/>
              <p:nvPr/>
            </p:nvSpPr>
            <p:spPr>
              <a:xfrm>
                <a:off x="228600" y="0"/>
                <a:ext cx="4667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THEME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FCFBF7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Agriculture, Food Tech &amp; Rural Development</a:t>
                </a:r>
                <a:endParaRPr b="0" sz="1800">
                  <a:solidFill>
                    <a:srgbClr val="FCFBF7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</p:txBody>
          </p:sp>
        </p:grpSp>
        <p:grpSp>
          <p:nvGrpSpPr>
            <p:cNvPr id="95" name="Google Shape;95;p14"/>
            <p:cNvGrpSpPr/>
            <p:nvPr/>
          </p:nvGrpSpPr>
          <p:grpSpPr>
            <a:xfrm>
              <a:off x="0" y="904875"/>
              <a:ext cx="5143500" cy="666900"/>
              <a:chOff x="0" y="0"/>
              <a:chExt cx="5143500" cy="666900"/>
            </a:xfrm>
          </p:grpSpPr>
          <p:sp>
            <p:nvSpPr>
              <p:cNvPr id="96" name="Google Shape;96;p14"/>
              <p:cNvSpPr/>
              <p:nvPr/>
            </p:nvSpPr>
            <p:spPr>
              <a:xfrm>
                <a:off x="0" y="0"/>
                <a:ext cx="51435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24382C"/>
              </a:solidFill>
              <a:ln cap="flat" cmpd="sng" w="9525">
                <a:solidFill>
                  <a:srgbClr val="324A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>
                <a:off x="0" y="0"/>
                <a:ext cx="38100" cy="666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 txBox="1"/>
              <p:nvPr/>
            </p:nvSpPr>
            <p:spPr>
              <a:xfrm>
                <a:off x="228600" y="0"/>
                <a:ext cx="46674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PRESENTED BY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FCFBF7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Team C</a:t>
                </a:r>
                <a:endParaRPr b="0" sz="1800">
                  <a:solidFill>
                    <a:srgbClr val="FCFBF7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</p:txBody>
          </p:sp>
        </p:grpSp>
        <p:grpSp>
          <p:nvGrpSpPr>
            <p:cNvPr id="99" name="Google Shape;99;p14"/>
            <p:cNvGrpSpPr/>
            <p:nvPr/>
          </p:nvGrpSpPr>
          <p:grpSpPr>
            <a:xfrm>
              <a:off x="0" y="1714500"/>
              <a:ext cx="5143500" cy="1000200"/>
              <a:chOff x="0" y="0"/>
              <a:chExt cx="5143500" cy="1000200"/>
            </a:xfrm>
          </p:grpSpPr>
          <p:sp>
            <p:nvSpPr>
              <p:cNvPr id="100" name="Google Shape;100;p14"/>
              <p:cNvSpPr/>
              <p:nvPr/>
            </p:nvSpPr>
            <p:spPr>
              <a:xfrm>
                <a:off x="0" y="0"/>
                <a:ext cx="51435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24382C"/>
              </a:solidFill>
              <a:ln cap="flat" cmpd="sng" w="9525">
                <a:solidFill>
                  <a:srgbClr val="324A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4"/>
              <p:cNvSpPr/>
              <p:nvPr/>
            </p:nvSpPr>
            <p:spPr>
              <a:xfrm>
                <a:off x="0" y="0"/>
                <a:ext cx="38100" cy="10002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4"/>
              <p:cNvSpPr txBox="1"/>
              <p:nvPr/>
            </p:nvSpPr>
            <p:spPr>
              <a:xfrm>
                <a:off x="228600" y="0"/>
                <a:ext cx="46674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MEMBERS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FCFBF7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Puspal Das · Mittapalli Praharsha</a:t>
                </a:r>
                <a:endParaRPr b="0" sz="1800">
                  <a:solidFill>
                    <a:srgbClr val="FCFBF7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FCFBF7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Muthyala Meghana · Ramanaboina Sowjanya</a:t>
                </a:r>
                <a:endParaRPr b="0" sz="1800">
                  <a:solidFill>
                    <a:srgbClr val="FCFBF7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03" name="Google Shape;103;p14"/>
            <p:cNvGrpSpPr/>
            <p:nvPr/>
          </p:nvGrpSpPr>
          <p:grpSpPr>
            <a:xfrm>
              <a:off x="0" y="2857500"/>
              <a:ext cx="5143500" cy="666900"/>
              <a:chOff x="0" y="0"/>
              <a:chExt cx="5143500" cy="666900"/>
            </a:xfrm>
          </p:grpSpPr>
          <p:sp>
            <p:nvSpPr>
              <p:cNvPr id="104" name="Google Shape;104;p14"/>
              <p:cNvSpPr/>
              <p:nvPr/>
            </p:nvSpPr>
            <p:spPr>
              <a:xfrm>
                <a:off x="0" y="0"/>
                <a:ext cx="51435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24382C"/>
              </a:solidFill>
              <a:ln cap="flat" cmpd="sng" w="9525">
                <a:solidFill>
                  <a:srgbClr val="324A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0" y="0"/>
                <a:ext cx="38100" cy="666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4"/>
              <p:cNvSpPr txBox="1"/>
              <p:nvPr/>
            </p:nvSpPr>
            <p:spPr>
              <a:xfrm>
                <a:off x="228600" y="0"/>
                <a:ext cx="46674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GUIDE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FCFBF7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Ragul S</a:t>
                </a:r>
                <a:endParaRPr b="0" sz="1800">
                  <a:solidFill>
                    <a:srgbClr val="FCFBF7"/>
                  </a:solidFill>
                  <a:latin typeface="DM Sans Medium"/>
                  <a:ea typeface="DM Sans Medium"/>
                  <a:cs typeface="DM Sans Medium"/>
                  <a:sym typeface="DM Sans Medium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high quality professional photo of dry, cracked farmland soil during a drought, showing the severe challenges in traditional agriculture, subtle lighting, editorial style.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2588" r="2598" t="0"/>
          <a:stretch/>
        </p:blipFill>
        <p:spPr>
          <a:xfrm>
            <a:off x="0" y="0"/>
            <a:ext cx="122646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grpSp>
        <p:nvGrpSpPr>
          <p:cNvPr id="112" name="Google Shape;112;p15"/>
          <p:cNvGrpSpPr/>
          <p:nvPr/>
        </p:nvGrpSpPr>
        <p:grpSpPr>
          <a:xfrm>
            <a:off x="661610" y="180104"/>
            <a:ext cx="11187455" cy="1648607"/>
            <a:chOff x="5334009" y="643784"/>
            <a:chExt cx="6286500" cy="1184940"/>
          </a:xfrm>
        </p:grpSpPr>
        <p:sp>
          <p:nvSpPr>
            <p:cNvPr id="113" name="Google Shape;113;p15"/>
            <p:cNvSpPr txBox="1"/>
            <p:nvPr/>
          </p:nvSpPr>
          <p:spPr>
            <a:xfrm>
              <a:off x="5334009" y="643784"/>
              <a:ext cx="62865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0F172A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CHALLENGE</a:t>
              </a:r>
              <a:endParaRPr b="1" sz="975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5334009" y="812040"/>
              <a:ext cx="62865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Problem Statement</a:t>
              </a:r>
              <a:endPara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5334009" y="1242824"/>
              <a:ext cx="62865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Agriculture faces systemic inefficiencies due to limited access to modern digital technologies and integrated farming solutions.</a:t>
              </a:r>
              <a:endParaRPr b="0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6" name="Google Shape;116;p15"/>
          <p:cNvGrpSpPr/>
          <p:nvPr/>
        </p:nvGrpSpPr>
        <p:grpSpPr>
          <a:xfrm>
            <a:off x="661733" y="1971753"/>
            <a:ext cx="11188145" cy="4702507"/>
            <a:chOff x="5334000" y="1971750"/>
            <a:chExt cx="6286534" cy="4105200"/>
          </a:xfrm>
        </p:grpSpPr>
        <p:grpSp>
          <p:nvGrpSpPr>
            <p:cNvPr id="117" name="Google Shape;117;p15"/>
            <p:cNvGrpSpPr/>
            <p:nvPr/>
          </p:nvGrpSpPr>
          <p:grpSpPr>
            <a:xfrm>
              <a:off x="5334000" y="1971750"/>
              <a:ext cx="6286534" cy="752400"/>
              <a:chOff x="0" y="-28500"/>
              <a:chExt cx="6286534" cy="752400"/>
            </a:xfrm>
          </p:grpSpPr>
          <p:sp>
            <p:nvSpPr>
              <p:cNvPr id="118" name="Google Shape;118;p15"/>
              <p:cNvSpPr/>
              <p:nvPr/>
            </p:nvSpPr>
            <p:spPr>
              <a:xfrm>
                <a:off x="34" y="-28500"/>
                <a:ext cx="6286500" cy="723900"/>
              </a:xfrm>
              <a:prstGeom prst="roundRect">
                <a:avLst>
                  <a:gd fmla="val 7894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0" y="0"/>
                <a:ext cx="38100" cy="723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20" name="Google Shape;120;p15"/>
              <p:cNvSpPr txBox="1"/>
              <p:nvPr/>
            </p:nvSpPr>
            <p:spPr>
              <a:xfrm>
                <a:off x="228600" y="152400"/>
                <a:ext cx="381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01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121" name="Google Shape;121;p15"/>
              <p:cNvSpPr txBox="1"/>
              <p:nvPr/>
            </p:nvSpPr>
            <p:spPr>
              <a:xfrm>
                <a:off x="666750" y="152400"/>
                <a:ext cx="5334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Lack of a unified platform for managing agricultural activities.</a:t>
                </a:r>
                <a:endParaRPr b="0" sz="18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22" name="Google Shape;122;p15"/>
            <p:cNvGrpSpPr/>
            <p:nvPr/>
          </p:nvGrpSpPr>
          <p:grpSpPr>
            <a:xfrm>
              <a:off x="5334000" y="2838450"/>
              <a:ext cx="6286500" cy="723900"/>
              <a:chOff x="0" y="0"/>
              <a:chExt cx="6286500" cy="723900"/>
            </a:xfrm>
          </p:grpSpPr>
          <p:sp>
            <p:nvSpPr>
              <p:cNvPr id="123" name="Google Shape;123;p15"/>
              <p:cNvSpPr/>
              <p:nvPr/>
            </p:nvSpPr>
            <p:spPr>
              <a:xfrm>
                <a:off x="0" y="0"/>
                <a:ext cx="6286500" cy="723900"/>
              </a:xfrm>
              <a:prstGeom prst="roundRect">
                <a:avLst>
                  <a:gd fmla="val 7894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0" y="0"/>
                <a:ext cx="38100" cy="723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25" name="Google Shape;125;p15"/>
              <p:cNvSpPr txBox="1"/>
              <p:nvPr/>
            </p:nvSpPr>
            <p:spPr>
              <a:xfrm>
                <a:off x="228600" y="152400"/>
                <a:ext cx="381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02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126" name="Google Shape;126;p15"/>
              <p:cNvSpPr txBox="1"/>
              <p:nvPr/>
            </p:nvSpPr>
            <p:spPr>
              <a:xfrm>
                <a:off x="666750" y="152400"/>
                <a:ext cx="5334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Limited access to expert guidance for crop planning and disease management.</a:t>
                </a:r>
                <a:endParaRPr b="0" sz="18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27" name="Google Shape;127;p15"/>
            <p:cNvGrpSpPr/>
            <p:nvPr/>
          </p:nvGrpSpPr>
          <p:grpSpPr>
            <a:xfrm>
              <a:off x="5334000" y="3676650"/>
              <a:ext cx="6286500" cy="723900"/>
              <a:chOff x="0" y="0"/>
              <a:chExt cx="6286500" cy="723900"/>
            </a:xfrm>
          </p:grpSpPr>
          <p:sp>
            <p:nvSpPr>
              <p:cNvPr id="128" name="Google Shape;128;p15"/>
              <p:cNvSpPr/>
              <p:nvPr/>
            </p:nvSpPr>
            <p:spPr>
              <a:xfrm>
                <a:off x="0" y="0"/>
                <a:ext cx="6286500" cy="723900"/>
              </a:xfrm>
              <a:prstGeom prst="roundRect">
                <a:avLst>
                  <a:gd fmla="val 7894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0" y="0"/>
                <a:ext cx="38100" cy="723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30" name="Google Shape;130;p15"/>
              <p:cNvSpPr txBox="1"/>
              <p:nvPr/>
            </p:nvSpPr>
            <p:spPr>
              <a:xfrm>
                <a:off x="228600" y="152400"/>
                <a:ext cx="381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03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131" name="Google Shape;131;p15"/>
              <p:cNvSpPr txBox="1"/>
              <p:nvPr/>
            </p:nvSpPr>
            <p:spPr>
              <a:xfrm>
                <a:off x="666750" y="152400"/>
                <a:ext cx="5334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Delayed pest identification leading to significantly reduced crop productivity.</a:t>
                </a:r>
                <a:endParaRPr b="0" sz="18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32" name="Google Shape;132;p15"/>
            <p:cNvGrpSpPr/>
            <p:nvPr/>
          </p:nvGrpSpPr>
          <p:grpSpPr>
            <a:xfrm>
              <a:off x="5334000" y="4514850"/>
              <a:ext cx="6286500" cy="723900"/>
              <a:chOff x="0" y="0"/>
              <a:chExt cx="6286500" cy="723900"/>
            </a:xfrm>
          </p:grpSpPr>
          <p:sp>
            <p:nvSpPr>
              <p:cNvPr id="133" name="Google Shape;133;p15"/>
              <p:cNvSpPr/>
              <p:nvPr/>
            </p:nvSpPr>
            <p:spPr>
              <a:xfrm>
                <a:off x="0" y="0"/>
                <a:ext cx="6286500" cy="723900"/>
              </a:xfrm>
              <a:prstGeom prst="roundRect">
                <a:avLst>
                  <a:gd fmla="val 7894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0" y="0"/>
                <a:ext cx="38100" cy="723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35" name="Google Shape;135;p15"/>
              <p:cNvSpPr txBox="1"/>
              <p:nvPr/>
            </p:nvSpPr>
            <p:spPr>
              <a:xfrm>
                <a:off x="228600" y="152400"/>
                <a:ext cx="381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04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136" name="Google Shape;136;p15"/>
              <p:cNvSpPr txBox="1"/>
              <p:nvPr/>
            </p:nvSpPr>
            <p:spPr>
              <a:xfrm>
                <a:off x="666750" y="152400"/>
                <a:ext cx="5334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Limited access to real-time weather forecasts and market price information.</a:t>
                </a:r>
                <a:endParaRPr b="0" sz="18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37" name="Google Shape;137;p15"/>
            <p:cNvGrpSpPr/>
            <p:nvPr/>
          </p:nvGrpSpPr>
          <p:grpSpPr>
            <a:xfrm>
              <a:off x="5334000" y="5353050"/>
              <a:ext cx="6286500" cy="723900"/>
              <a:chOff x="0" y="0"/>
              <a:chExt cx="6286500" cy="723900"/>
            </a:xfrm>
          </p:grpSpPr>
          <p:sp>
            <p:nvSpPr>
              <p:cNvPr id="138" name="Google Shape;138;p15"/>
              <p:cNvSpPr/>
              <p:nvPr/>
            </p:nvSpPr>
            <p:spPr>
              <a:xfrm>
                <a:off x="0" y="0"/>
                <a:ext cx="6286500" cy="723900"/>
              </a:xfrm>
              <a:prstGeom prst="roundRect">
                <a:avLst>
                  <a:gd fmla="val 7894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0" y="0"/>
                <a:ext cx="38100" cy="723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40" name="Google Shape;140;p15"/>
              <p:cNvSpPr txBox="1"/>
              <p:nvPr/>
            </p:nvSpPr>
            <p:spPr>
              <a:xfrm>
                <a:off x="228600" y="152400"/>
                <a:ext cx="381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05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141" name="Google Shape;141;p15"/>
              <p:cNvSpPr txBox="1"/>
              <p:nvPr/>
            </p:nvSpPr>
            <p:spPr>
              <a:xfrm>
                <a:off x="666750" y="152400"/>
                <a:ext cx="5334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Inefficient record management and decision-making processes.</a:t>
                </a:r>
                <a:endParaRPr b="0" sz="18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sh, vibrant high-tech agricultural field with modern smart farming tech overlay, green crops, warm natural sunlight, professional agriculture presentation visual." id="146" name="Google Shape;146;p16"/>
          <p:cNvPicPr preferRelativeResize="0"/>
          <p:nvPr/>
        </p:nvPicPr>
        <p:blipFill rotWithShape="1">
          <a:blip r:embed="rId4">
            <a:alphaModFix/>
          </a:blip>
          <a:srcRect b="0" l="2588" r="2598" t="0"/>
          <a:stretch/>
        </p:blipFill>
        <p:spPr>
          <a:xfrm>
            <a:off x="0" y="0"/>
            <a:ext cx="48768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16"/>
          <p:cNvGrpSpPr/>
          <p:nvPr/>
        </p:nvGrpSpPr>
        <p:grpSpPr>
          <a:xfrm>
            <a:off x="5334000" y="110825"/>
            <a:ext cx="6286500" cy="1489607"/>
            <a:chOff x="0" y="0"/>
            <a:chExt cx="6286500" cy="1219390"/>
          </a:xfrm>
        </p:grpSpPr>
        <p:sp>
          <p:nvSpPr>
            <p:cNvPr id="148" name="Google Shape;148;p16"/>
            <p:cNvSpPr txBox="1"/>
            <p:nvPr/>
          </p:nvSpPr>
          <p:spPr>
            <a:xfrm>
              <a:off x="0" y="0"/>
              <a:ext cx="6286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SOLUTION</a:t>
              </a:r>
              <a:endParaRPr b="1" sz="10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0" y="228597"/>
              <a:ext cx="6286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3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Proposed Solution &amp; Objectives</a:t>
              </a:r>
              <a:endParaRPr b="1" sz="33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150" name="Google Shape;150;p16"/>
            <p:cNvSpPr txBox="1"/>
            <p:nvPr/>
          </p:nvSpPr>
          <p:spPr>
            <a:xfrm>
              <a:off x="0" y="858190"/>
              <a:ext cx="6083400" cy="36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pc="-31" sz="1900">
                  <a:solidFill>
                    <a:srgbClr val="27252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Agriculture remains one of the most important sectors of the economy, yet many farmers face challenges due to limited access to modern digital technologies and integrated farming solutions.</a:t>
              </a:r>
              <a:endParaRPr spc="-31" sz="190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1" name="Google Shape;151;p16"/>
          <p:cNvGrpSpPr/>
          <p:nvPr/>
        </p:nvGrpSpPr>
        <p:grpSpPr>
          <a:xfrm>
            <a:off x="5334000" y="1762125"/>
            <a:ext cx="6286500" cy="838200"/>
            <a:chOff x="0" y="0"/>
            <a:chExt cx="6286500" cy="838200"/>
          </a:xfrm>
        </p:grpSpPr>
        <p:sp>
          <p:nvSpPr>
            <p:cNvPr id="152" name="Google Shape;152;p16"/>
            <p:cNvSpPr/>
            <p:nvPr/>
          </p:nvSpPr>
          <p:spPr>
            <a:xfrm>
              <a:off x="0" y="0"/>
              <a:ext cx="6286500" cy="838200"/>
            </a:xfrm>
            <a:prstGeom prst="roundRect">
              <a:avLst>
                <a:gd fmla="val 6818" name="adj"/>
              </a:avLst>
            </a:prstGeom>
            <a:solidFill>
              <a:srgbClr val="F4F1EA"/>
            </a:solidFill>
            <a:ln>
              <a:noFill/>
            </a:ln>
            <a:effectLst>
              <a:reflection blurRad="0" dir="5400000" dist="38100" endA="0" endPos="20000" fadeDir="5400012" kx="0" rotWithShape="0" algn="bl" stA="0" stPos="0" sy="-100000" ky="0"/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0" y="0"/>
              <a:ext cx="38100" cy="8382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 txBox="1"/>
            <p:nvPr/>
          </p:nvSpPr>
          <p:spPr>
            <a:xfrm>
              <a:off x="113700" y="304800"/>
              <a:ext cx="38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01</a:t>
              </a:r>
              <a:endParaRPr b="1" sz="17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570300" y="201750"/>
              <a:ext cx="5716200" cy="6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pc="-31" sz="2000">
                  <a:solidFill>
                    <a:srgbClr val="27252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Lack of a unified platform for managing agricultural activities</a:t>
              </a:r>
              <a:endParaRPr spc="-31" sz="200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6" name="Google Shape;156;p16"/>
          <p:cNvGrpSpPr/>
          <p:nvPr/>
        </p:nvGrpSpPr>
        <p:grpSpPr>
          <a:xfrm>
            <a:off x="5334000" y="2714625"/>
            <a:ext cx="6286500" cy="838200"/>
            <a:chOff x="0" y="0"/>
            <a:chExt cx="6286500" cy="838200"/>
          </a:xfrm>
        </p:grpSpPr>
        <p:sp>
          <p:nvSpPr>
            <p:cNvPr id="157" name="Google Shape;157;p16"/>
            <p:cNvSpPr/>
            <p:nvPr/>
          </p:nvSpPr>
          <p:spPr>
            <a:xfrm>
              <a:off x="0" y="0"/>
              <a:ext cx="6286500" cy="838200"/>
            </a:xfrm>
            <a:prstGeom prst="roundRect">
              <a:avLst>
                <a:gd fmla="val 6818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0" y="0"/>
              <a:ext cx="38100" cy="8382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 txBox="1"/>
            <p:nvPr/>
          </p:nvSpPr>
          <p:spPr>
            <a:xfrm>
              <a:off x="161925" y="304788"/>
              <a:ext cx="38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02</a:t>
              </a:r>
              <a:endParaRPr b="1" sz="17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60" name="Google Shape;160;p16"/>
            <p:cNvSpPr txBox="1"/>
            <p:nvPr/>
          </p:nvSpPr>
          <p:spPr>
            <a:xfrm>
              <a:off x="542925" y="304800"/>
              <a:ext cx="5743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pc="-31" sz="2000">
                  <a:solidFill>
                    <a:srgbClr val="27252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Limited access to expert guidance for crop planning and disease management</a:t>
              </a:r>
              <a:endParaRPr spc="-31" sz="200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1" name="Google Shape;161;p16"/>
          <p:cNvGrpSpPr/>
          <p:nvPr/>
        </p:nvGrpSpPr>
        <p:grpSpPr>
          <a:xfrm>
            <a:off x="5334000" y="3667125"/>
            <a:ext cx="6286500" cy="838200"/>
            <a:chOff x="0" y="0"/>
            <a:chExt cx="6286500" cy="838200"/>
          </a:xfrm>
        </p:grpSpPr>
        <p:sp>
          <p:nvSpPr>
            <p:cNvPr id="162" name="Google Shape;162;p16"/>
            <p:cNvSpPr/>
            <p:nvPr/>
          </p:nvSpPr>
          <p:spPr>
            <a:xfrm>
              <a:off x="0" y="0"/>
              <a:ext cx="6286500" cy="838200"/>
            </a:xfrm>
            <a:prstGeom prst="roundRect">
              <a:avLst>
                <a:gd fmla="val 6818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0" y="0"/>
              <a:ext cx="38100" cy="8382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6"/>
            <p:cNvSpPr txBox="1"/>
            <p:nvPr/>
          </p:nvSpPr>
          <p:spPr>
            <a:xfrm>
              <a:off x="128450" y="304800"/>
              <a:ext cx="38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03</a:t>
              </a:r>
              <a:endParaRPr b="1" sz="17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65" name="Google Shape;165;p16"/>
            <p:cNvSpPr txBox="1"/>
            <p:nvPr/>
          </p:nvSpPr>
          <p:spPr>
            <a:xfrm>
              <a:off x="509450" y="0"/>
              <a:ext cx="5424300" cy="81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pc="-31" sz="2000">
                  <a:solidFill>
                    <a:srgbClr val="27252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Delayed pest identification leading to reduced crop productivity</a:t>
              </a:r>
              <a:endParaRPr sz="20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6" name="Google Shape;166;p16"/>
          <p:cNvGrpSpPr/>
          <p:nvPr/>
        </p:nvGrpSpPr>
        <p:grpSpPr>
          <a:xfrm>
            <a:off x="5334000" y="4619625"/>
            <a:ext cx="6286500" cy="838263"/>
            <a:chOff x="0" y="0"/>
            <a:chExt cx="6286500" cy="838263"/>
          </a:xfrm>
        </p:grpSpPr>
        <p:sp>
          <p:nvSpPr>
            <p:cNvPr id="167" name="Google Shape;167;p16"/>
            <p:cNvSpPr/>
            <p:nvPr/>
          </p:nvSpPr>
          <p:spPr>
            <a:xfrm>
              <a:off x="0" y="0"/>
              <a:ext cx="6286500" cy="838200"/>
            </a:xfrm>
            <a:prstGeom prst="roundRect">
              <a:avLst>
                <a:gd fmla="val 6818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0" y="0"/>
              <a:ext cx="38100" cy="8382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161925" y="304800"/>
              <a:ext cx="38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04</a:t>
              </a:r>
              <a:endParaRPr b="1" sz="17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70" name="Google Shape;170;p16"/>
            <p:cNvSpPr txBox="1"/>
            <p:nvPr/>
          </p:nvSpPr>
          <p:spPr>
            <a:xfrm>
              <a:off x="542925" y="40263"/>
              <a:ext cx="5743500" cy="7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pc="-31" sz="2000">
                  <a:solidFill>
                    <a:srgbClr val="27252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Limited access to real-time weather forecasts and market price information</a:t>
              </a:r>
              <a:endParaRPr spc="-31" sz="200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1" name="Google Shape;171;p16"/>
          <p:cNvGrpSpPr/>
          <p:nvPr/>
        </p:nvGrpSpPr>
        <p:grpSpPr>
          <a:xfrm>
            <a:off x="5334000" y="5572125"/>
            <a:ext cx="6286725" cy="838650"/>
            <a:chOff x="0" y="0"/>
            <a:chExt cx="6286725" cy="838650"/>
          </a:xfrm>
        </p:grpSpPr>
        <p:sp>
          <p:nvSpPr>
            <p:cNvPr id="172" name="Google Shape;172;p16"/>
            <p:cNvSpPr/>
            <p:nvPr/>
          </p:nvSpPr>
          <p:spPr>
            <a:xfrm>
              <a:off x="0" y="0"/>
              <a:ext cx="6286500" cy="838200"/>
            </a:xfrm>
            <a:prstGeom prst="roundRect">
              <a:avLst>
                <a:gd fmla="val 6818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0" y="0"/>
              <a:ext cx="38100" cy="8382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6"/>
            <p:cNvSpPr txBox="1"/>
            <p:nvPr/>
          </p:nvSpPr>
          <p:spPr>
            <a:xfrm>
              <a:off x="161925" y="304950"/>
              <a:ext cx="38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05</a:t>
              </a:r>
              <a:endParaRPr b="1" sz="17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542925" y="192450"/>
              <a:ext cx="5743800" cy="6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pc="-31" sz="2000">
                  <a:solidFill>
                    <a:srgbClr val="27252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Inefficient record management and decision-making processes</a:t>
              </a:r>
              <a:endParaRPr spc="-31" sz="200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high quality aesthetic vertical photography showing abstract lines of code on a modern monitor, dark minimalist atmosphere, subtle warm lighting, deep green and gold color palette, professional tech presentation" id="180" name="Google Shape;180;p17"/>
          <p:cNvPicPr preferRelativeResize="0"/>
          <p:nvPr/>
        </p:nvPicPr>
        <p:blipFill rotWithShape="1">
          <a:blip r:embed="rId4">
            <a:alphaModFix/>
          </a:blip>
          <a:srcRect b="0" l="5556" r="5556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grpSp>
        <p:nvGrpSpPr>
          <p:cNvPr id="181" name="Google Shape;181;p17"/>
          <p:cNvGrpSpPr/>
          <p:nvPr/>
        </p:nvGrpSpPr>
        <p:grpSpPr>
          <a:xfrm>
            <a:off x="910925" y="208772"/>
            <a:ext cx="10804684" cy="1560559"/>
            <a:chOff x="0" y="175974"/>
            <a:chExt cx="6667500" cy="947976"/>
          </a:xfrm>
        </p:grpSpPr>
        <p:sp>
          <p:nvSpPr>
            <p:cNvPr id="182" name="Google Shape;182;p17"/>
            <p:cNvSpPr txBox="1"/>
            <p:nvPr/>
          </p:nvSpPr>
          <p:spPr>
            <a:xfrm>
              <a:off x="0" y="175974"/>
              <a:ext cx="666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TECH STACK ARCHITECTURE</a:t>
              </a:r>
              <a:endParaRPr b="1" sz="12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83" name="Google Shape;183;p17"/>
            <p:cNvSpPr txBox="1"/>
            <p:nvPr/>
          </p:nvSpPr>
          <p:spPr>
            <a:xfrm>
              <a:off x="0" y="366467"/>
              <a:ext cx="66675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Technology &amp; Implementation</a:t>
              </a:r>
              <a:endPara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184" name="Google Shape;184;p17"/>
            <p:cNvSpPr txBox="1"/>
            <p:nvPr/>
          </p:nvSpPr>
          <p:spPr>
            <a:xfrm>
              <a:off x="0" y="742950"/>
              <a:ext cx="666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A robust, scalable end-to-end architecture built with modern web technologies, secure backend services, and cloud-ready deployment toolings.</a:t>
              </a:r>
              <a:endParaRPr b="0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5" name="Google Shape;185;p17"/>
          <p:cNvGrpSpPr/>
          <p:nvPr/>
        </p:nvGrpSpPr>
        <p:grpSpPr>
          <a:xfrm>
            <a:off x="910925" y="1972850"/>
            <a:ext cx="10804684" cy="4716414"/>
            <a:chOff x="0" y="0"/>
            <a:chExt cx="6667500" cy="4476900"/>
          </a:xfrm>
        </p:grpSpPr>
        <p:grpSp>
          <p:nvGrpSpPr>
            <p:cNvPr id="186" name="Google Shape;186;p17"/>
            <p:cNvGrpSpPr/>
            <p:nvPr/>
          </p:nvGrpSpPr>
          <p:grpSpPr>
            <a:xfrm>
              <a:off x="0" y="0"/>
              <a:ext cx="3238500" cy="1571700"/>
              <a:chOff x="0" y="0"/>
              <a:chExt cx="3238500" cy="1571700"/>
            </a:xfrm>
          </p:grpSpPr>
          <p:sp>
            <p:nvSpPr>
              <p:cNvPr id="187" name="Google Shape;187;p17"/>
              <p:cNvSpPr/>
              <p:nvPr/>
            </p:nvSpPr>
            <p:spPr>
              <a:xfrm>
                <a:off x="0" y="0"/>
                <a:ext cx="3238500" cy="1571700"/>
              </a:xfrm>
              <a:prstGeom prst="roundRect">
                <a:avLst>
                  <a:gd fmla="val 3636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88" name="Google Shape;188;p17"/>
              <p:cNvSpPr/>
              <p:nvPr/>
            </p:nvSpPr>
            <p:spPr>
              <a:xfrm>
                <a:off x="0" y="0"/>
                <a:ext cx="38100" cy="15717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89" name="Google Shape;189;p17"/>
              <p:cNvSpPr txBox="1"/>
              <p:nvPr/>
            </p:nvSpPr>
            <p:spPr>
              <a:xfrm>
                <a:off x="190500" y="133350"/>
                <a:ext cx="2857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01 </a:t>
                </a:r>
                <a:r>
                  <a:rPr b="1" lang="en-US" sz="18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Frontend Layer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190" name="Google Shape;190;p17"/>
              <p:cNvSpPr txBox="1"/>
              <p:nvPr/>
            </p:nvSpPr>
            <p:spPr>
              <a:xfrm>
                <a:off x="190500" y="457200"/>
                <a:ext cx="28575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HTML5, CSS3, Vanilla JS</a:t>
                </a:r>
                <a:endParaRPr b="1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Responsive user interface designed for optimal performance, smooth interactions, and cross-browser accessibility.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91" name="Google Shape;191;p17"/>
            <p:cNvGrpSpPr/>
            <p:nvPr/>
          </p:nvGrpSpPr>
          <p:grpSpPr>
            <a:xfrm>
              <a:off x="3429000" y="0"/>
              <a:ext cx="3238500" cy="1571700"/>
              <a:chOff x="0" y="0"/>
              <a:chExt cx="3238500" cy="1571700"/>
            </a:xfrm>
          </p:grpSpPr>
          <p:sp>
            <p:nvSpPr>
              <p:cNvPr id="192" name="Google Shape;192;p17"/>
              <p:cNvSpPr/>
              <p:nvPr/>
            </p:nvSpPr>
            <p:spPr>
              <a:xfrm>
                <a:off x="0" y="0"/>
                <a:ext cx="3238500" cy="1571700"/>
              </a:xfrm>
              <a:prstGeom prst="roundRect">
                <a:avLst>
                  <a:gd fmla="val 3636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>
                <a:off x="0" y="0"/>
                <a:ext cx="38100" cy="15717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94" name="Google Shape;194;p17"/>
              <p:cNvSpPr txBox="1"/>
              <p:nvPr/>
            </p:nvSpPr>
            <p:spPr>
              <a:xfrm>
                <a:off x="190500" y="133350"/>
                <a:ext cx="2857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02 </a:t>
                </a:r>
                <a:r>
                  <a:rPr b="1" lang="en-US" sz="18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Backend Core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195" name="Google Shape;195;p17"/>
              <p:cNvSpPr txBox="1"/>
              <p:nvPr/>
            </p:nvSpPr>
            <p:spPr>
              <a:xfrm>
                <a:off x="190500" y="457200"/>
                <a:ext cx="28575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Spring Boot &amp; REST APIs</a:t>
                </a:r>
                <a:endParaRPr b="1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Enterprise-grade Java backend providing robust RESTful web services, modular architecture, and high throughput.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96" name="Google Shape;196;p17"/>
            <p:cNvGrpSpPr/>
            <p:nvPr/>
          </p:nvGrpSpPr>
          <p:grpSpPr>
            <a:xfrm>
              <a:off x="0" y="1714500"/>
              <a:ext cx="3238500" cy="1571700"/>
              <a:chOff x="0" y="0"/>
              <a:chExt cx="3238500" cy="1571700"/>
            </a:xfrm>
          </p:grpSpPr>
          <p:sp>
            <p:nvSpPr>
              <p:cNvPr id="197" name="Google Shape;197;p17"/>
              <p:cNvSpPr/>
              <p:nvPr/>
            </p:nvSpPr>
            <p:spPr>
              <a:xfrm>
                <a:off x="0" y="0"/>
                <a:ext cx="3238500" cy="1571700"/>
              </a:xfrm>
              <a:prstGeom prst="roundRect">
                <a:avLst>
                  <a:gd fmla="val 3636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98" name="Google Shape;198;p17"/>
              <p:cNvSpPr/>
              <p:nvPr/>
            </p:nvSpPr>
            <p:spPr>
              <a:xfrm>
                <a:off x="0" y="0"/>
                <a:ext cx="38100" cy="15717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199" name="Google Shape;199;p17"/>
              <p:cNvSpPr txBox="1"/>
              <p:nvPr/>
            </p:nvSpPr>
            <p:spPr>
              <a:xfrm>
                <a:off x="190500" y="133350"/>
                <a:ext cx="2857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03 </a:t>
                </a:r>
                <a:r>
                  <a:rPr b="1" lang="en-US" sz="18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Security &amp; Auth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200" name="Google Shape;200;p17"/>
              <p:cNvSpPr txBox="1"/>
              <p:nvPr/>
            </p:nvSpPr>
            <p:spPr>
              <a:xfrm>
                <a:off x="190500" y="457200"/>
                <a:ext cx="28575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Spring Security &amp; JWT</a:t>
                </a:r>
                <a:endParaRPr b="1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Stateless authentication, role-based access control, and encrypted token management for enterprise protection.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01" name="Google Shape;201;p17"/>
            <p:cNvGrpSpPr/>
            <p:nvPr/>
          </p:nvGrpSpPr>
          <p:grpSpPr>
            <a:xfrm>
              <a:off x="3429000" y="1714500"/>
              <a:ext cx="3238500" cy="1571700"/>
              <a:chOff x="0" y="0"/>
              <a:chExt cx="3238500" cy="1571700"/>
            </a:xfrm>
          </p:grpSpPr>
          <p:sp>
            <p:nvSpPr>
              <p:cNvPr id="202" name="Google Shape;202;p17"/>
              <p:cNvSpPr/>
              <p:nvPr/>
            </p:nvSpPr>
            <p:spPr>
              <a:xfrm>
                <a:off x="0" y="0"/>
                <a:ext cx="3238500" cy="1571700"/>
              </a:xfrm>
              <a:prstGeom prst="roundRect">
                <a:avLst>
                  <a:gd fmla="val 3636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203" name="Google Shape;203;p17"/>
              <p:cNvSpPr/>
              <p:nvPr/>
            </p:nvSpPr>
            <p:spPr>
              <a:xfrm>
                <a:off x="0" y="0"/>
                <a:ext cx="38100" cy="15717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204" name="Google Shape;204;p17"/>
              <p:cNvSpPr txBox="1"/>
              <p:nvPr/>
            </p:nvSpPr>
            <p:spPr>
              <a:xfrm>
                <a:off x="190500" y="133350"/>
                <a:ext cx="2857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04 </a:t>
                </a:r>
                <a:r>
                  <a:rPr b="1" lang="en-US" sz="18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Data Architecture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205" name="Google Shape;205;p17"/>
              <p:cNvSpPr txBox="1"/>
              <p:nvPr/>
            </p:nvSpPr>
            <p:spPr>
              <a:xfrm>
                <a:off x="190500" y="457200"/>
                <a:ext cx="28575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MongoDB &amp; Spring Data JPA</a:t>
                </a:r>
                <a:endParaRPr b="1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Flexible document storage paired with powerful object mapping for reliable and scalable data persistence.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06" name="Google Shape;206;p17"/>
            <p:cNvGrpSpPr/>
            <p:nvPr/>
          </p:nvGrpSpPr>
          <p:grpSpPr>
            <a:xfrm>
              <a:off x="0" y="3429000"/>
              <a:ext cx="6667500" cy="1047900"/>
              <a:chOff x="0" y="0"/>
              <a:chExt cx="6667500" cy="1047900"/>
            </a:xfrm>
          </p:grpSpPr>
          <p:sp>
            <p:nvSpPr>
              <p:cNvPr id="207" name="Google Shape;207;p17"/>
              <p:cNvSpPr/>
              <p:nvPr/>
            </p:nvSpPr>
            <p:spPr>
              <a:xfrm>
                <a:off x="0" y="0"/>
                <a:ext cx="66675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208" name="Google Shape;208;p17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209" name="Google Shape;209;p17"/>
              <p:cNvSpPr txBox="1"/>
              <p:nvPr/>
            </p:nvSpPr>
            <p:spPr>
              <a:xfrm>
                <a:off x="190500" y="133350"/>
                <a:ext cx="6286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05 </a:t>
                </a:r>
                <a:r>
                  <a:rPr b="1" lang="en-US" sz="18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Build &amp; Version Operations</a:t>
                </a:r>
                <a:endParaRPr b="1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</p:txBody>
          </p:sp>
          <p:sp>
            <p:nvSpPr>
              <p:cNvPr id="210" name="Google Shape;210;p17"/>
              <p:cNvSpPr txBox="1"/>
              <p:nvPr/>
            </p:nvSpPr>
            <p:spPr>
              <a:xfrm>
                <a:off x="190497" y="342895"/>
                <a:ext cx="6286500" cy="6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Maven, Git &amp; GitHub</a:t>
                </a:r>
                <a:endParaRPr b="1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Standardized dependency lifecycle management via Maven combined with collaborative Git workflow repositories.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ophisticated close-up photograph of modern server rack infrastructure with glowing green and soft amber LED lights, subtle depth of field, high-tech agricultural tech backend aesthetic, dark minimalist composition." id="215" name="Google Shape;215;p18"/>
          <p:cNvPicPr preferRelativeResize="0"/>
          <p:nvPr/>
        </p:nvPicPr>
        <p:blipFill rotWithShape="1">
          <a:blip r:embed="rId4">
            <a:alphaModFix/>
          </a:blip>
          <a:srcRect b="0" l="5556" r="5556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1007950" y="232075"/>
            <a:ext cx="107079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rPr>
              <a:t>SYSTEM ARCHITECTURE</a:t>
            </a:r>
            <a:endParaRPr b="1" sz="1110">
              <a:solidFill>
                <a:srgbClr val="C6A87C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921325" y="400050"/>
            <a:ext cx="10794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2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 Architecture &amp; Workflow</a:t>
            </a:r>
            <a:endParaRPr b="1" sz="362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1007750" y="976750"/>
            <a:ext cx="10707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 modular, end-to-end cloud platform designed for scalable AI advisory, secure authentication, and real-time data processing.</a:t>
            </a:r>
            <a:endParaRPr b="0"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9" name="Google Shape;219;p18"/>
          <p:cNvGrpSpPr/>
          <p:nvPr/>
        </p:nvGrpSpPr>
        <p:grpSpPr>
          <a:xfrm>
            <a:off x="702299" y="1642150"/>
            <a:ext cx="5298187" cy="1691800"/>
            <a:chOff x="-190504" y="-71625"/>
            <a:chExt cx="3238500" cy="1691800"/>
          </a:xfrm>
        </p:grpSpPr>
        <p:sp>
          <p:nvSpPr>
            <p:cNvPr id="220" name="Google Shape;220;p18"/>
            <p:cNvSpPr/>
            <p:nvPr/>
          </p:nvSpPr>
          <p:spPr>
            <a:xfrm>
              <a:off x="-190503" y="-71625"/>
              <a:ext cx="3238500" cy="1691700"/>
            </a:xfrm>
            <a:prstGeom prst="roundRect">
              <a:avLst>
                <a:gd fmla="val 3529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-190504" y="1075"/>
              <a:ext cx="38100" cy="16191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 txBox="1"/>
            <p:nvPr/>
          </p:nvSpPr>
          <p:spPr>
            <a:xfrm>
              <a:off x="19093" y="65038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01 </a:t>
              </a:r>
              <a:r>
                <a:rPr b="1" lang="en-US" sz="17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Three-Tier Architecture</a:t>
              </a:r>
              <a:endParaRPr b="1" sz="17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23" name="Google Shape;223;p18"/>
            <p:cNvSpPr txBox="1"/>
            <p:nvPr/>
          </p:nvSpPr>
          <p:spPr>
            <a:xfrm>
              <a:off x="-19201" y="319650"/>
              <a:ext cx="2895900" cy="12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Frontend → Spring Boot → AI Service</a:t>
              </a:r>
              <a:endParaRPr b="1"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just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Frontend connects to a robust Spring Boot API, which integrates with a specialized Spring AI Microservice for modularity.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24" name="Google Shape;224;p18"/>
          <p:cNvGrpSpPr/>
          <p:nvPr/>
        </p:nvGrpSpPr>
        <p:grpSpPr>
          <a:xfrm>
            <a:off x="6417575" y="1642275"/>
            <a:ext cx="5254790" cy="1619100"/>
            <a:chOff x="0" y="0"/>
            <a:chExt cx="3238500" cy="1619100"/>
          </a:xfrm>
        </p:grpSpPr>
        <p:sp>
          <p:nvSpPr>
            <p:cNvPr id="225" name="Google Shape;225;p18"/>
            <p:cNvSpPr/>
            <p:nvPr/>
          </p:nvSpPr>
          <p:spPr>
            <a:xfrm>
              <a:off x="0" y="0"/>
              <a:ext cx="3238500" cy="1619100"/>
            </a:xfrm>
            <a:prstGeom prst="roundRect">
              <a:avLst>
                <a:gd fmla="val 3529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0" y="0"/>
              <a:ext cx="38100" cy="16191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 txBox="1"/>
            <p:nvPr/>
          </p:nvSpPr>
          <p:spPr>
            <a:xfrm>
              <a:off x="190611" y="136525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02 </a:t>
              </a:r>
              <a:r>
                <a:rPr b="1" lang="en-US" sz="17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Data Flow Pipeline</a:t>
              </a:r>
              <a:endParaRPr b="1" sz="17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28" name="Google Shape;228;p18"/>
            <p:cNvSpPr txBox="1"/>
            <p:nvPr/>
          </p:nvSpPr>
          <p:spPr>
            <a:xfrm>
              <a:off x="228604" y="299900"/>
              <a:ext cx="2857500" cy="116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Authentication &amp; Request Routing</a:t>
              </a:r>
              <a:endParaRPr b="1"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just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Requests are authenticated by Spring Security, routed via @RestController to MongoDB Atlas before delivering a response.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29" name="Google Shape;229;p18"/>
          <p:cNvGrpSpPr/>
          <p:nvPr/>
        </p:nvGrpSpPr>
        <p:grpSpPr>
          <a:xfrm>
            <a:off x="705324" y="3441300"/>
            <a:ext cx="5298186" cy="1619100"/>
            <a:chOff x="-285732" y="35750"/>
            <a:chExt cx="3238500" cy="1619100"/>
          </a:xfrm>
        </p:grpSpPr>
        <p:sp>
          <p:nvSpPr>
            <p:cNvPr id="230" name="Google Shape;230;p18"/>
            <p:cNvSpPr/>
            <p:nvPr/>
          </p:nvSpPr>
          <p:spPr>
            <a:xfrm>
              <a:off x="-285732" y="35750"/>
              <a:ext cx="3238500" cy="1619100"/>
            </a:xfrm>
            <a:prstGeom prst="roundRect">
              <a:avLst>
                <a:gd fmla="val 3529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-285723" y="35750"/>
              <a:ext cx="57000" cy="16191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8"/>
            <p:cNvSpPr txBox="1"/>
            <p:nvPr/>
          </p:nvSpPr>
          <p:spPr>
            <a:xfrm>
              <a:off x="-4" y="19050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03 </a:t>
              </a:r>
              <a:r>
                <a:rPr b="1" lang="en-US" sz="17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AI Advisory Pipeline</a:t>
              </a:r>
              <a:endParaRPr b="1" sz="17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-190484" y="419100"/>
              <a:ext cx="3048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Google Gemini &amp; Disease AI</a:t>
              </a:r>
              <a:endParaRPr b="1"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just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Transforms raw images via Google Gemini API for real-time generative advisory and advanced crop disease classification.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6417750" y="3405025"/>
            <a:ext cx="5254790" cy="1619100"/>
            <a:chOff x="0" y="0"/>
            <a:chExt cx="3238500" cy="1619100"/>
          </a:xfrm>
        </p:grpSpPr>
        <p:sp>
          <p:nvSpPr>
            <p:cNvPr id="235" name="Google Shape;235;p18"/>
            <p:cNvSpPr/>
            <p:nvPr/>
          </p:nvSpPr>
          <p:spPr>
            <a:xfrm>
              <a:off x="0" y="0"/>
              <a:ext cx="3238500" cy="1619100"/>
            </a:xfrm>
            <a:prstGeom prst="roundRect">
              <a:avLst>
                <a:gd fmla="val 3529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0" y="0"/>
              <a:ext cx="38100" cy="16191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 txBox="1"/>
            <p:nvPr/>
          </p:nvSpPr>
          <p:spPr>
            <a:xfrm>
              <a:off x="190500" y="13335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04 </a:t>
              </a:r>
              <a:r>
                <a:rPr b="1" lang="en-US" sz="17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Database Infrastructure</a:t>
              </a:r>
              <a:endParaRPr b="1" sz="17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38" name="Google Shape;238;p18"/>
            <p:cNvSpPr txBox="1"/>
            <p:nvPr/>
          </p:nvSpPr>
          <p:spPr>
            <a:xfrm>
              <a:off x="190510" y="361951"/>
              <a:ext cx="2857500" cy="11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MongoDB Atlas Collections</a:t>
              </a:r>
              <a:endParaRPr b="1"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just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MongoDB stores complex application and telemetry data using highly scalable NoSQL Document Collections.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39" name="Google Shape;239;p18"/>
          <p:cNvGrpSpPr/>
          <p:nvPr/>
        </p:nvGrpSpPr>
        <p:grpSpPr>
          <a:xfrm>
            <a:off x="702300" y="5167750"/>
            <a:ext cx="10970106" cy="1356806"/>
            <a:chOff x="0" y="0"/>
            <a:chExt cx="6640500" cy="1619100"/>
          </a:xfrm>
        </p:grpSpPr>
        <p:sp>
          <p:nvSpPr>
            <p:cNvPr id="240" name="Google Shape;240;p18"/>
            <p:cNvSpPr/>
            <p:nvPr/>
          </p:nvSpPr>
          <p:spPr>
            <a:xfrm>
              <a:off x="0" y="0"/>
              <a:ext cx="6640500" cy="1619100"/>
            </a:xfrm>
            <a:prstGeom prst="roundRect">
              <a:avLst>
                <a:gd fmla="val 3529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0" y="0"/>
              <a:ext cx="38100" cy="16191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42" name="Google Shape;242;p18"/>
            <p:cNvSpPr txBox="1"/>
            <p:nvPr/>
          </p:nvSpPr>
          <p:spPr>
            <a:xfrm>
              <a:off x="190500" y="133350"/>
              <a:ext cx="6286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05 </a:t>
              </a:r>
              <a:r>
                <a:rPr b="1" lang="en-US" sz="17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Authentication &amp; Authorization Security</a:t>
              </a:r>
              <a:endParaRPr b="1" sz="17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43" name="Google Shape;243;p18"/>
            <p:cNvSpPr txBox="1"/>
            <p:nvPr/>
          </p:nvSpPr>
          <p:spPr>
            <a:xfrm>
              <a:off x="190496" y="361963"/>
              <a:ext cx="6286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Spring Security, JWT &amp; Role-Based Control</a:t>
              </a:r>
              <a:endParaRPr b="1"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just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Stateless, enterprise-grade authentication powered by Spring Security and JWT, enforcing strict role-based access control policies customized for Farmers, Vets, and Admins.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/>
          <p:nvPr/>
        </p:nvSpPr>
        <p:spPr>
          <a:xfrm>
            <a:off x="762000" y="28575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rPr>
              <a:t>DATABASE ARCHITECTURE</a:t>
            </a:r>
            <a:endParaRPr b="1" sz="1100">
              <a:solidFill>
                <a:srgbClr val="C6A87C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762000" y="377775"/>
            <a:ext cx="106680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Database Design &amp; Schema</a:t>
            </a:r>
            <a:endParaRPr b="1" sz="36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762075" y="1019626"/>
            <a:ext cx="106680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MySQL stores all application data using relational tables structured for high performance and integrity.</a:t>
            </a:r>
            <a:endParaRPr b="0"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1" name="Google Shape;251;p19"/>
          <p:cNvGrpSpPr/>
          <p:nvPr/>
        </p:nvGrpSpPr>
        <p:grpSpPr>
          <a:xfrm>
            <a:off x="762000" y="1743372"/>
            <a:ext cx="3333900" cy="1388402"/>
            <a:chOff x="0" y="0"/>
            <a:chExt cx="3333900" cy="1095300"/>
          </a:xfrm>
        </p:grpSpPr>
        <p:sp>
          <p:nvSpPr>
            <p:cNvPr id="252" name="Google Shape;252;p19"/>
            <p:cNvSpPr/>
            <p:nvPr/>
          </p:nvSpPr>
          <p:spPr>
            <a:xfrm>
              <a:off x="0" y="0"/>
              <a:ext cx="3333900" cy="1095300"/>
            </a:xfrm>
            <a:prstGeom prst="roundRect">
              <a:avLst>
                <a:gd fmla="val 5217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 txBox="1"/>
            <p:nvPr/>
          </p:nvSpPr>
          <p:spPr>
            <a:xfrm>
              <a:off x="190500" y="114300"/>
              <a:ext cx="295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01 </a:t>
              </a:r>
              <a:r>
                <a:rPr b="1" lang="en-US" sz="17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Users</a:t>
              </a:r>
              <a:endParaRPr b="1" sz="17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190500" y="381000"/>
              <a:ext cx="2952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Authentication, roles, and profile details for farmers, buyers, and administrators.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56" name="Google Shape;256;p19"/>
          <p:cNvGrpSpPr/>
          <p:nvPr/>
        </p:nvGrpSpPr>
        <p:grpSpPr>
          <a:xfrm>
            <a:off x="4429125" y="1743372"/>
            <a:ext cx="3333900" cy="1388402"/>
            <a:chOff x="0" y="0"/>
            <a:chExt cx="3333900" cy="1095300"/>
          </a:xfrm>
        </p:grpSpPr>
        <p:sp>
          <p:nvSpPr>
            <p:cNvPr id="257" name="Google Shape;257;p19"/>
            <p:cNvSpPr/>
            <p:nvPr/>
          </p:nvSpPr>
          <p:spPr>
            <a:xfrm>
              <a:off x="0" y="0"/>
              <a:ext cx="3333900" cy="1095300"/>
            </a:xfrm>
            <a:prstGeom prst="roundRect">
              <a:avLst>
                <a:gd fmla="val 5217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190500" y="114300"/>
              <a:ext cx="295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02 </a:t>
              </a:r>
              <a:r>
                <a:rPr b="1" lang="en-US" sz="17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Crops</a:t>
              </a:r>
              <a:endParaRPr b="1" sz="17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190500" y="381000"/>
              <a:ext cx="2952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Crop records with planting details, disease status, and cultivation metadata.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61" name="Google Shape;261;p19"/>
          <p:cNvGrpSpPr/>
          <p:nvPr/>
        </p:nvGrpSpPr>
        <p:grpSpPr>
          <a:xfrm>
            <a:off x="8096250" y="1776525"/>
            <a:ext cx="3333900" cy="1355215"/>
            <a:chOff x="0" y="0"/>
            <a:chExt cx="3333900" cy="1095300"/>
          </a:xfrm>
        </p:grpSpPr>
        <p:sp>
          <p:nvSpPr>
            <p:cNvPr id="262" name="Google Shape;262;p19"/>
            <p:cNvSpPr/>
            <p:nvPr/>
          </p:nvSpPr>
          <p:spPr>
            <a:xfrm>
              <a:off x="0" y="0"/>
              <a:ext cx="3333900" cy="1095300"/>
            </a:xfrm>
            <a:prstGeom prst="roundRect">
              <a:avLst>
                <a:gd fmla="val 5217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 txBox="1"/>
            <p:nvPr/>
          </p:nvSpPr>
          <p:spPr>
            <a:xfrm>
              <a:off x="190500" y="114300"/>
              <a:ext cx="295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03 </a:t>
              </a:r>
              <a:r>
                <a:rPr b="1" lang="en-US" sz="18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Products</a:t>
              </a:r>
              <a:endParaRPr b="1" sz="18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190500" y="381000"/>
              <a:ext cx="2952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Marketplace product listings linked directly to crop inventory and availability.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66" name="Google Shape;266;p19"/>
          <p:cNvGrpSpPr/>
          <p:nvPr/>
        </p:nvGrpSpPr>
        <p:grpSpPr>
          <a:xfrm>
            <a:off x="762000" y="3429000"/>
            <a:ext cx="3333900" cy="1388402"/>
            <a:chOff x="0" y="0"/>
            <a:chExt cx="3333900" cy="1095300"/>
          </a:xfrm>
        </p:grpSpPr>
        <p:sp>
          <p:nvSpPr>
            <p:cNvPr id="267" name="Google Shape;267;p19"/>
            <p:cNvSpPr/>
            <p:nvPr/>
          </p:nvSpPr>
          <p:spPr>
            <a:xfrm>
              <a:off x="0" y="0"/>
              <a:ext cx="3333900" cy="1095300"/>
            </a:xfrm>
            <a:prstGeom prst="roundRect">
              <a:avLst>
                <a:gd fmla="val 5217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 txBox="1"/>
            <p:nvPr/>
          </p:nvSpPr>
          <p:spPr>
            <a:xfrm>
              <a:off x="190500" y="114300"/>
              <a:ext cx="295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04 </a:t>
              </a:r>
              <a:r>
                <a:rPr b="1" lang="en-US" sz="15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Orders</a:t>
              </a:r>
              <a:endParaRPr b="1" sz="13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70" name="Google Shape;270;p19"/>
            <p:cNvSpPr txBox="1"/>
            <p:nvPr/>
          </p:nvSpPr>
          <p:spPr>
            <a:xfrm>
              <a:off x="190500" y="381000"/>
              <a:ext cx="2952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Purchase transactions, order status tracking, quantities, and delivery details.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71" name="Google Shape;271;p19"/>
          <p:cNvGrpSpPr/>
          <p:nvPr/>
        </p:nvGrpSpPr>
        <p:grpSpPr>
          <a:xfrm>
            <a:off x="4429125" y="3429000"/>
            <a:ext cx="3333900" cy="1388402"/>
            <a:chOff x="0" y="0"/>
            <a:chExt cx="3333900" cy="1095300"/>
          </a:xfrm>
        </p:grpSpPr>
        <p:sp>
          <p:nvSpPr>
            <p:cNvPr id="272" name="Google Shape;272;p19"/>
            <p:cNvSpPr/>
            <p:nvPr/>
          </p:nvSpPr>
          <p:spPr>
            <a:xfrm>
              <a:off x="0" y="0"/>
              <a:ext cx="3333900" cy="1095300"/>
            </a:xfrm>
            <a:prstGeom prst="roundRect">
              <a:avLst>
                <a:gd fmla="val 5217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9"/>
            <p:cNvSpPr txBox="1"/>
            <p:nvPr/>
          </p:nvSpPr>
          <p:spPr>
            <a:xfrm>
              <a:off x="190500" y="114300"/>
              <a:ext cx="295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05 </a:t>
              </a:r>
              <a:r>
                <a:rPr b="1" lang="en-US" sz="15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Consultations</a:t>
              </a:r>
              <a:endParaRPr b="1" sz="13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190500" y="381000"/>
              <a:ext cx="2952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Expert advice sessions, diagnosis notes, and tailored farming recommendations.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76" name="Google Shape;276;p19"/>
          <p:cNvGrpSpPr/>
          <p:nvPr/>
        </p:nvGrpSpPr>
        <p:grpSpPr>
          <a:xfrm>
            <a:off x="8096250" y="3429000"/>
            <a:ext cx="3333900" cy="1388402"/>
            <a:chOff x="0" y="0"/>
            <a:chExt cx="3333900" cy="1095300"/>
          </a:xfrm>
        </p:grpSpPr>
        <p:sp>
          <p:nvSpPr>
            <p:cNvPr id="277" name="Google Shape;277;p19"/>
            <p:cNvSpPr/>
            <p:nvPr/>
          </p:nvSpPr>
          <p:spPr>
            <a:xfrm>
              <a:off x="0" y="0"/>
              <a:ext cx="3333900" cy="1095300"/>
            </a:xfrm>
            <a:prstGeom prst="roundRect">
              <a:avLst>
                <a:gd fmla="val 5217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 txBox="1"/>
            <p:nvPr/>
          </p:nvSpPr>
          <p:spPr>
            <a:xfrm>
              <a:off x="190500" y="114300"/>
              <a:ext cx="295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06 </a:t>
              </a:r>
              <a:r>
                <a:rPr b="1" lang="en-US" sz="15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Weather</a:t>
              </a:r>
              <a:endParaRPr b="1" sz="13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80" name="Google Shape;280;p19"/>
            <p:cNvSpPr txBox="1"/>
            <p:nvPr/>
          </p:nvSpPr>
          <p:spPr>
            <a:xfrm>
              <a:off x="190500" y="381000"/>
              <a:ext cx="2952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Location-based forecasts, weather alerts, and environmental condition logs.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1" name="Google Shape;281;p19"/>
          <p:cNvGrpSpPr/>
          <p:nvPr/>
        </p:nvGrpSpPr>
        <p:grpSpPr>
          <a:xfrm>
            <a:off x="681275" y="5114700"/>
            <a:ext cx="10668000" cy="1236409"/>
            <a:chOff x="0" y="0"/>
            <a:chExt cx="10668000" cy="904800"/>
          </a:xfrm>
        </p:grpSpPr>
        <p:sp>
          <p:nvSpPr>
            <p:cNvPr id="282" name="Google Shape;282;p19"/>
            <p:cNvSpPr/>
            <p:nvPr/>
          </p:nvSpPr>
          <p:spPr>
            <a:xfrm>
              <a:off x="0" y="0"/>
              <a:ext cx="10668000" cy="904800"/>
            </a:xfrm>
            <a:prstGeom prst="roundRect">
              <a:avLst>
                <a:gd fmla="val 6315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0" y="0"/>
              <a:ext cx="38100" cy="9048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 txBox="1"/>
            <p:nvPr/>
          </p:nvSpPr>
          <p:spPr>
            <a:xfrm>
              <a:off x="190500" y="114300"/>
              <a:ext cx="1028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07 </a:t>
              </a:r>
              <a:r>
                <a:rPr b="1" lang="en-US" sz="15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Marketplace &amp; Interactions</a:t>
              </a:r>
              <a:endParaRPr b="1" sz="13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285" name="Google Shape;285;p19"/>
            <p:cNvSpPr txBox="1"/>
            <p:nvPr/>
          </p:nvSpPr>
          <p:spPr>
            <a:xfrm>
              <a:off x="190500" y="381000"/>
              <a:ext cx="10287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Comprehensive listings, dynamic pricing structures, item categories, and direct buyer-seller interactions across the entire platform ecosystem.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 txBox="1"/>
          <p:nvPr/>
        </p:nvSpPr>
        <p:spPr>
          <a:xfrm>
            <a:off x="762000" y="238125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rPr>
              <a:t>SYSTEM WORKFLOW &amp; SECURITY</a:t>
            </a:r>
            <a:endParaRPr b="1" sz="1100">
              <a:solidFill>
                <a:srgbClr val="C6A87C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762000" y="457200"/>
            <a:ext cx="10668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Application Workflow &amp; Access Control</a:t>
            </a:r>
            <a:endParaRPr b="1" sz="32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762000" y="93345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A4B5AA"/>
                </a:solidFill>
                <a:latin typeface="DM Sans"/>
                <a:ea typeface="DM Sans"/>
                <a:cs typeface="DM Sans"/>
                <a:sym typeface="DM Sans"/>
              </a:rPr>
              <a:t>AgriVerse ensures secure access through role-based authentication and controlled application workflow.</a:t>
            </a:r>
            <a:endParaRPr b="0" sz="1700">
              <a:solidFill>
                <a:srgbClr val="A4B5A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4" name="Google Shape;294;p20"/>
          <p:cNvGrpSpPr/>
          <p:nvPr/>
        </p:nvGrpSpPr>
        <p:grpSpPr>
          <a:xfrm>
            <a:off x="762000" y="1428750"/>
            <a:ext cx="11075990" cy="2667000"/>
            <a:chOff x="0" y="0"/>
            <a:chExt cx="10947900" cy="2667000"/>
          </a:xfrm>
        </p:grpSpPr>
        <p:sp>
          <p:nvSpPr>
            <p:cNvPr id="295" name="Google Shape;295;p20"/>
            <p:cNvSpPr/>
            <p:nvPr/>
          </p:nvSpPr>
          <p:spPr>
            <a:xfrm>
              <a:off x="0" y="0"/>
              <a:ext cx="10947900" cy="2667000"/>
            </a:xfrm>
            <a:prstGeom prst="roundRect">
              <a:avLst>
                <a:gd fmla="val 2857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0" y="0"/>
              <a:ext cx="10668000" cy="381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0"/>
            <p:cNvSpPr txBox="1"/>
            <p:nvPr/>
          </p:nvSpPr>
          <p:spPr>
            <a:xfrm>
              <a:off x="285750" y="190500"/>
              <a:ext cx="1009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Application Workflow</a:t>
              </a:r>
              <a:endParaRPr b="1" sz="18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grpSp>
          <p:nvGrpSpPr>
            <p:cNvPr id="298" name="Google Shape;298;p20"/>
            <p:cNvGrpSpPr/>
            <p:nvPr/>
          </p:nvGrpSpPr>
          <p:grpSpPr>
            <a:xfrm>
              <a:off x="238125" y="619125"/>
              <a:ext cx="10477500" cy="1714500"/>
              <a:chOff x="0" y="0"/>
              <a:chExt cx="10477500" cy="1714500"/>
            </a:xfrm>
          </p:grpSpPr>
          <p:grpSp>
            <p:nvGrpSpPr>
              <p:cNvPr id="299" name="Google Shape;299;p20"/>
              <p:cNvGrpSpPr/>
              <p:nvPr/>
            </p:nvGrpSpPr>
            <p:grpSpPr>
              <a:xfrm>
                <a:off x="0" y="0"/>
                <a:ext cx="1905000" cy="1714500"/>
                <a:chOff x="0" y="0"/>
                <a:chExt cx="1905000" cy="1714500"/>
              </a:xfrm>
            </p:grpSpPr>
            <p:sp>
              <p:nvSpPr>
                <p:cNvPr id="300" name="Google Shape;300;p20"/>
                <p:cNvSpPr/>
                <p:nvPr/>
              </p:nvSpPr>
              <p:spPr>
                <a:xfrm>
                  <a:off x="0" y="0"/>
                  <a:ext cx="1905000" cy="1714500"/>
                </a:xfrm>
                <a:prstGeom prst="roundRect">
                  <a:avLst>
                    <a:gd fmla="val 3333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20"/>
                <p:cNvSpPr/>
                <p:nvPr/>
              </p:nvSpPr>
              <p:spPr>
                <a:xfrm>
                  <a:off x="0" y="0"/>
                  <a:ext cx="38100" cy="17145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C6A87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2" name="Google Shape;302;p20"/>
                <p:cNvSpPr txBox="1"/>
                <p:nvPr/>
              </p:nvSpPr>
              <p:spPr>
                <a:xfrm>
                  <a:off x="142875" y="142875"/>
                  <a:ext cx="1619100" cy="142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6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01</a:t>
                  </a:r>
                  <a:endParaRPr b="1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b="1" lang="en-US" sz="1600">
                      <a:solidFill>
                        <a:srgbClr val="1A2B22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User Login</a:t>
                  </a:r>
                  <a:endParaRPr b="1" sz="16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-US" sz="1600">
                      <a:solidFill>
                        <a:srgbClr val="3A4F41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Credentials submission via portal</a:t>
                  </a:r>
                  <a:endParaRPr b="0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pic>
            <p:nvPicPr>
              <p:cNvPr id="303" name="Google Shape;303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971675" y="847725"/>
                <a:ext cx="1047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04" name="Google Shape;304;p20"/>
              <p:cNvGrpSpPr/>
              <p:nvPr/>
            </p:nvGrpSpPr>
            <p:grpSpPr>
              <a:xfrm>
                <a:off x="2143125" y="0"/>
                <a:ext cx="1905000" cy="1714500"/>
                <a:chOff x="0" y="0"/>
                <a:chExt cx="1905000" cy="1714500"/>
              </a:xfrm>
            </p:grpSpPr>
            <p:sp>
              <p:nvSpPr>
                <p:cNvPr id="305" name="Google Shape;305;p20"/>
                <p:cNvSpPr/>
                <p:nvPr/>
              </p:nvSpPr>
              <p:spPr>
                <a:xfrm>
                  <a:off x="0" y="0"/>
                  <a:ext cx="1905000" cy="1714500"/>
                </a:xfrm>
                <a:prstGeom prst="roundRect">
                  <a:avLst>
                    <a:gd fmla="val 3333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" name="Google Shape;306;p20"/>
                <p:cNvSpPr/>
                <p:nvPr/>
              </p:nvSpPr>
              <p:spPr>
                <a:xfrm>
                  <a:off x="0" y="0"/>
                  <a:ext cx="38100" cy="17145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C6A87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7" name="Google Shape;307;p20"/>
                <p:cNvSpPr txBox="1"/>
                <p:nvPr/>
              </p:nvSpPr>
              <p:spPr>
                <a:xfrm>
                  <a:off x="142875" y="142875"/>
                  <a:ext cx="1619100" cy="142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6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02</a:t>
                  </a:r>
                  <a:endParaRPr b="1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b="1" lang="en-US" sz="1600">
                      <a:solidFill>
                        <a:srgbClr val="1A2B22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Role Verification</a:t>
                  </a:r>
                  <a:endParaRPr b="1" sz="16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-US" sz="1600">
                      <a:solidFill>
                        <a:srgbClr val="3A4F41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Identifies Farmer, Vet, or Admin</a:t>
                  </a:r>
                  <a:endParaRPr b="0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pic>
            <p:nvPicPr>
              <p:cNvPr id="308" name="Google Shape;308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114800" y="847725"/>
                <a:ext cx="1047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09" name="Google Shape;309;p20"/>
              <p:cNvGrpSpPr/>
              <p:nvPr/>
            </p:nvGrpSpPr>
            <p:grpSpPr>
              <a:xfrm>
                <a:off x="4286250" y="0"/>
                <a:ext cx="1905000" cy="1714500"/>
                <a:chOff x="0" y="0"/>
                <a:chExt cx="1905000" cy="1714500"/>
              </a:xfrm>
            </p:grpSpPr>
            <p:sp>
              <p:nvSpPr>
                <p:cNvPr id="310" name="Google Shape;310;p20"/>
                <p:cNvSpPr/>
                <p:nvPr/>
              </p:nvSpPr>
              <p:spPr>
                <a:xfrm>
                  <a:off x="0" y="0"/>
                  <a:ext cx="1905000" cy="1714500"/>
                </a:xfrm>
                <a:prstGeom prst="roundRect">
                  <a:avLst>
                    <a:gd fmla="val 3333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" name="Google Shape;311;p20"/>
                <p:cNvSpPr/>
                <p:nvPr/>
              </p:nvSpPr>
              <p:spPr>
                <a:xfrm>
                  <a:off x="0" y="0"/>
                  <a:ext cx="38100" cy="17145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C6A87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" name="Google Shape;312;p20"/>
                <p:cNvSpPr txBox="1"/>
                <p:nvPr/>
              </p:nvSpPr>
              <p:spPr>
                <a:xfrm>
                  <a:off x="142875" y="142875"/>
                  <a:ext cx="1619100" cy="142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6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03</a:t>
                  </a:r>
                  <a:endParaRPr b="1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b="1" lang="en-US" sz="1600">
                      <a:solidFill>
                        <a:srgbClr val="1A2B22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JWT Auth</a:t>
                  </a:r>
                  <a:endParaRPr b="1" sz="16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-US" sz="1600">
                      <a:solidFill>
                        <a:srgbClr val="3A4F41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Generates secure session token</a:t>
                  </a:r>
                  <a:endParaRPr b="0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pic>
            <p:nvPicPr>
              <p:cNvPr id="313" name="Google Shape;313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257925" y="847725"/>
                <a:ext cx="1047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14" name="Google Shape;314;p20"/>
              <p:cNvGrpSpPr/>
              <p:nvPr/>
            </p:nvGrpSpPr>
            <p:grpSpPr>
              <a:xfrm>
                <a:off x="6429375" y="0"/>
                <a:ext cx="1905000" cy="1714500"/>
                <a:chOff x="0" y="0"/>
                <a:chExt cx="1905000" cy="1714500"/>
              </a:xfrm>
            </p:grpSpPr>
            <p:sp>
              <p:nvSpPr>
                <p:cNvPr id="315" name="Google Shape;315;p20"/>
                <p:cNvSpPr/>
                <p:nvPr/>
              </p:nvSpPr>
              <p:spPr>
                <a:xfrm>
                  <a:off x="0" y="0"/>
                  <a:ext cx="1905000" cy="1714500"/>
                </a:xfrm>
                <a:prstGeom prst="roundRect">
                  <a:avLst>
                    <a:gd fmla="val 3333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" name="Google Shape;316;p20"/>
                <p:cNvSpPr/>
                <p:nvPr/>
              </p:nvSpPr>
              <p:spPr>
                <a:xfrm>
                  <a:off x="0" y="0"/>
                  <a:ext cx="38100" cy="17145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C6A87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20"/>
                <p:cNvSpPr txBox="1"/>
                <p:nvPr/>
              </p:nvSpPr>
              <p:spPr>
                <a:xfrm>
                  <a:off x="142875" y="142875"/>
                  <a:ext cx="1619100" cy="142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6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04</a:t>
                  </a:r>
                  <a:endParaRPr b="1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b="1" lang="en-US" sz="1600">
                      <a:solidFill>
                        <a:srgbClr val="1A2B22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Dashboard</a:t>
                  </a:r>
                  <a:endParaRPr b="1" sz="16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-US" sz="1600">
                      <a:solidFill>
                        <a:srgbClr val="3A4F41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Loads personalized user interface</a:t>
                  </a:r>
                  <a:endParaRPr b="0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pic>
            <p:nvPicPr>
              <p:cNvPr id="318" name="Google Shape;318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401050" y="847725"/>
                <a:ext cx="1047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19" name="Google Shape;319;p20"/>
              <p:cNvGrpSpPr/>
              <p:nvPr/>
            </p:nvGrpSpPr>
            <p:grpSpPr>
              <a:xfrm>
                <a:off x="8572500" y="0"/>
                <a:ext cx="1905000" cy="1714500"/>
                <a:chOff x="0" y="0"/>
                <a:chExt cx="1905000" cy="1714500"/>
              </a:xfrm>
            </p:grpSpPr>
            <p:sp>
              <p:nvSpPr>
                <p:cNvPr id="320" name="Google Shape;320;p20"/>
                <p:cNvSpPr/>
                <p:nvPr/>
              </p:nvSpPr>
              <p:spPr>
                <a:xfrm>
                  <a:off x="0" y="0"/>
                  <a:ext cx="1905000" cy="1714500"/>
                </a:xfrm>
                <a:prstGeom prst="roundRect">
                  <a:avLst>
                    <a:gd fmla="val 3333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20"/>
                <p:cNvSpPr/>
                <p:nvPr/>
              </p:nvSpPr>
              <p:spPr>
                <a:xfrm>
                  <a:off x="0" y="0"/>
                  <a:ext cx="38100" cy="17145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C6A87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20"/>
                <p:cNvSpPr txBox="1"/>
                <p:nvPr/>
              </p:nvSpPr>
              <p:spPr>
                <a:xfrm>
                  <a:off x="142875" y="142875"/>
                  <a:ext cx="1619100" cy="142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6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05</a:t>
                  </a:r>
                  <a:endParaRPr b="1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b="1" lang="en-US" sz="1600">
                      <a:solidFill>
                        <a:srgbClr val="1A2B22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Access Features</a:t>
                  </a:r>
                  <a:endParaRPr b="1" sz="1600">
                    <a:solidFill>
                      <a:srgbClr val="1A2B22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-US" sz="1600">
                      <a:solidFill>
                        <a:srgbClr val="3A4F41"/>
                      </a:solidFill>
                      <a:latin typeface="DM Sans"/>
                      <a:ea typeface="DM Sans"/>
                      <a:cs typeface="DM Sans"/>
                      <a:sym typeface="DM Sans"/>
                    </a:rPr>
                    <a:t>Grants authorized module tools</a:t>
                  </a:r>
                  <a:endParaRPr b="0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</p:grpSp>
      </p:grpSp>
      <p:grpSp>
        <p:nvGrpSpPr>
          <p:cNvPr id="323" name="Google Shape;323;p20"/>
          <p:cNvGrpSpPr/>
          <p:nvPr/>
        </p:nvGrpSpPr>
        <p:grpSpPr>
          <a:xfrm>
            <a:off x="762000" y="4316300"/>
            <a:ext cx="11075673" cy="1905000"/>
            <a:chOff x="0" y="0"/>
            <a:chExt cx="10668150" cy="1905000"/>
          </a:xfrm>
        </p:grpSpPr>
        <p:grpSp>
          <p:nvGrpSpPr>
            <p:cNvPr id="324" name="Google Shape;324;p20"/>
            <p:cNvGrpSpPr/>
            <p:nvPr/>
          </p:nvGrpSpPr>
          <p:grpSpPr>
            <a:xfrm>
              <a:off x="0" y="0"/>
              <a:ext cx="3333900" cy="1905000"/>
              <a:chOff x="0" y="0"/>
              <a:chExt cx="3333900" cy="1905000"/>
            </a:xfrm>
          </p:grpSpPr>
          <p:sp>
            <p:nvSpPr>
              <p:cNvPr id="325" name="Google Shape;325;p20"/>
              <p:cNvSpPr/>
              <p:nvPr/>
            </p:nvSpPr>
            <p:spPr>
              <a:xfrm>
                <a:off x="0" y="0"/>
                <a:ext cx="3333900" cy="1905000"/>
              </a:xfrm>
              <a:prstGeom prst="roundRect">
                <a:avLst>
                  <a:gd fmla="val 4000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20"/>
              <p:cNvSpPr/>
              <p:nvPr/>
            </p:nvSpPr>
            <p:spPr>
              <a:xfrm>
                <a:off x="0" y="0"/>
                <a:ext cx="38100" cy="19050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20"/>
              <p:cNvSpPr txBox="1"/>
              <p:nvPr/>
            </p:nvSpPr>
            <p:spPr>
              <a:xfrm>
                <a:off x="190500" y="190500"/>
                <a:ext cx="29529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01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Spring Security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Robust framework providing comprehensive authentication and authorization protection.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28" name="Google Shape;328;p20"/>
            <p:cNvGrpSpPr/>
            <p:nvPr/>
          </p:nvGrpSpPr>
          <p:grpSpPr>
            <a:xfrm>
              <a:off x="3667125" y="0"/>
              <a:ext cx="3333900" cy="1905000"/>
              <a:chOff x="0" y="0"/>
              <a:chExt cx="3333900" cy="1905000"/>
            </a:xfrm>
          </p:grpSpPr>
          <p:sp>
            <p:nvSpPr>
              <p:cNvPr id="329" name="Google Shape;329;p20"/>
              <p:cNvSpPr/>
              <p:nvPr/>
            </p:nvSpPr>
            <p:spPr>
              <a:xfrm>
                <a:off x="0" y="0"/>
                <a:ext cx="3333900" cy="1905000"/>
              </a:xfrm>
              <a:prstGeom prst="roundRect">
                <a:avLst>
                  <a:gd fmla="val 4000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0"/>
              <p:cNvSpPr/>
              <p:nvPr/>
            </p:nvSpPr>
            <p:spPr>
              <a:xfrm>
                <a:off x="0" y="0"/>
                <a:ext cx="38100" cy="19050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0"/>
              <p:cNvSpPr txBox="1"/>
              <p:nvPr/>
            </p:nvSpPr>
            <p:spPr>
              <a:xfrm>
                <a:off x="190500" y="190500"/>
                <a:ext cx="29529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02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JWT Auth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Stateless token-based authentication enabling secure, scalable API request routing.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32" name="Google Shape;332;p20"/>
            <p:cNvGrpSpPr/>
            <p:nvPr/>
          </p:nvGrpSpPr>
          <p:grpSpPr>
            <a:xfrm>
              <a:off x="7334250" y="0"/>
              <a:ext cx="3333900" cy="1905000"/>
              <a:chOff x="0" y="0"/>
              <a:chExt cx="3333900" cy="1905000"/>
            </a:xfrm>
          </p:grpSpPr>
          <p:sp>
            <p:nvSpPr>
              <p:cNvPr id="333" name="Google Shape;333;p20"/>
              <p:cNvSpPr/>
              <p:nvPr/>
            </p:nvSpPr>
            <p:spPr>
              <a:xfrm>
                <a:off x="0" y="0"/>
                <a:ext cx="3333900" cy="1905000"/>
              </a:xfrm>
              <a:prstGeom prst="roundRect">
                <a:avLst>
                  <a:gd fmla="val 4000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0"/>
              <p:cNvSpPr/>
              <p:nvPr/>
            </p:nvSpPr>
            <p:spPr>
              <a:xfrm>
                <a:off x="0" y="0"/>
                <a:ext cx="38100" cy="19050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0"/>
              <p:cNvSpPr txBox="1"/>
              <p:nvPr/>
            </p:nvSpPr>
            <p:spPr>
              <a:xfrm>
                <a:off x="190500" y="190500"/>
                <a:ext cx="29529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03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Role-Based Access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Strict permission policies tailored specifically for Farmers, Vets, and Administrators.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/>
        </p:nvSpPr>
        <p:spPr>
          <a:xfrm>
            <a:off x="762000" y="238125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rPr>
              <a:t>CORE FEATURES &amp; MODULES</a:t>
            </a:r>
            <a:endParaRPr b="1" sz="1100">
              <a:solidFill>
                <a:srgbClr val="C6A87C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762000" y="457200"/>
            <a:ext cx="10668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Complete Digital Farming Ecosystem</a:t>
            </a:r>
            <a:endParaRPr b="1" sz="3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762000" y="93345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Combining secure farm management, intelligent decision support, and role-based services on a single platform.</a:t>
            </a:r>
            <a:endParaRPr b="0"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43" name="Google Shape;343;p21"/>
          <p:cNvGrpSpPr/>
          <p:nvPr/>
        </p:nvGrpSpPr>
        <p:grpSpPr>
          <a:xfrm>
            <a:off x="762000" y="1428750"/>
            <a:ext cx="3333900" cy="4953000"/>
            <a:chOff x="0" y="0"/>
            <a:chExt cx="3333900" cy="4953000"/>
          </a:xfrm>
        </p:grpSpPr>
        <p:sp>
          <p:nvSpPr>
            <p:cNvPr id="344" name="Google Shape;344;p21"/>
            <p:cNvSpPr/>
            <p:nvPr/>
          </p:nvSpPr>
          <p:spPr>
            <a:xfrm>
              <a:off x="0" y="0"/>
              <a:ext cx="3333900" cy="4953000"/>
            </a:xfrm>
            <a:prstGeom prst="roundRect">
              <a:avLst>
                <a:gd fmla="val 2285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0" y="0"/>
              <a:ext cx="38100" cy="49530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21"/>
            <p:cNvSpPr txBox="1"/>
            <p:nvPr/>
          </p:nvSpPr>
          <p:spPr>
            <a:xfrm>
              <a:off x="238125" y="1905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Core Features</a:t>
              </a:r>
              <a:endParaRPr b="1" sz="18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grpSp>
          <p:nvGrpSpPr>
            <p:cNvPr id="347" name="Google Shape;347;p21"/>
            <p:cNvGrpSpPr/>
            <p:nvPr/>
          </p:nvGrpSpPr>
          <p:grpSpPr>
            <a:xfrm>
              <a:off x="238125" y="666750"/>
              <a:ext cx="2857500" cy="4029000"/>
              <a:chOff x="0" y="0"/>
              <a:chExt cx="2857500" cy="4029000"/>
            </a:xfrm>
          </p:grpSpPr>
          <p:grpSp>
            <p:nvGrpSpPr>
              <p:cNvPr id="348" name="Google Shape;348;p21"/>
              <p:cNvGrpSpPr/>
              <p:nvPr/>
            </p:nvGrpSpPr>
            <p:grpSpPr>
              <a:xfrm>
                <a:off x="0" y="0"/>
                <a:ext cx="2857500" cy="714300"/>
                <a:chOff x="0" y="0"/>
                <a:chExt cx="2857500" cy="714300"/>
              </a:xfrm>
            </p:grpSpPr>
            <p:sp>
              <p:nvSpPr>
                <p:cNvPr id="349" name="Google Shape;349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50" name="Google Shape;350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01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Secure Authentication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  <p:grpSp>
            <p:nvGrpSpPr>
              <p:cNvPr id="351" name="Google Shape;351;p21"/>
              <p:cNvGrpSpPr/>
              <p:nvPr/>
            </p:nvGrpSpPr>
            <p:grpSpPr>
              <a:xfrm>
                <a:off x="0" y="828675"/>
                <a:ext cx="2857500" cy="714300"/>
                <a:chOff x="0" y="0"/>
                <a:chExt cx="2857500" cy="714300"/>
              </a:xfrm>
            </p:grpSpPr>
            <p:sp>
              <p:nvSpPr>
                <p:cNvPr id="352" name="Google Shape;352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53" name="Google Shape;353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02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Crop Management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  <p:grpSp>
            <p:nvGrpSpPr>
              <p:cNvPr id="354" name="Google Shape;354;p21"/>
              <p:cNvGrpSpPr/>
              <p:nvPr/>
            </p:nvGrpSpPr>
            <p:grpSpPr>
              <a:xfrm>
                <a:off x="0" y="1657350"/>
                <a:ext cx="2857500" cy="714300"/>
                <a:chOff x="0" y="0"/>
                <a:chExt cx="2857500" cy="714300"/>
              </a:xfrm>
            </p:grpSpPr>
            <p:sp>
              <p:nvSpPr>
                <p:cNvPr id="355" name="Google Shape;355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56" name="Google Shape;356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03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Weather Insights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  <p:grpSp>
            <p:nvGrpSpPr>
              <p:cNvPr id="357" name="Google Shape;357;p21"/>
              <p:cNvGrpSpPr/>
              <p:nvPr/>
            </p:nvGrpSpPr>
            <p:grpSpPr>
              <a:xfrm>
                <a:off x="0" y="2486025"/>
                <a:ext cx="2857500" cy="714300"/>
                <a:chOff x="0" y="0"/>
                <a:chExt cx="2857500" cy="714300"/>
              </a:xfrm>
            </p:grpSpPr>
            <p:sp>
              <p:nvSpPr>
                <p:cNvPr id="358" name="Google Shape;358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59" name="Google Shape;359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04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Digital Marketplace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  <p:grpSp>
            <p:nvGrpSpPr>
              <p:cNvPr id="360" name="Google Shape;360;p21"/>
              <p:cNvGrpSpPr/>
              <p:nvPr/>
            </p:nvGrpSpPr>
            <p:grpSpPr>
              <a:xfrm>
                <a:off x="0" y="3314700"/>
                <a:ext cx="2857500" cy="714300"/>
                <a:chOff x="0" y="0"/>
                <a:chExt cx="2857500" cy="714300"/>
              </a:xfrm>
            </p:grpSpPr>
            <p:sp>
              <p:nvSpPr>
                <p:cNvPr id="361" name="Google Shape;361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62" name="Google Shape;362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05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Analytics Dashboard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</p:grpSp>
      </p:grpSp>
      <p:grpSp>
        <p:nvGrpSpPr>
          <p:cNvPr id="363" name="Google Shape;363;p21"/>
          <p:cNvGrpSpPr/>
          <p:nvPr/>
        </p:nvGrpSpPr>
        <p:grpSpPr>
          <a:xfrm>
            <a:off x="4429125" y="1428750"/>
            <a:ext cx="3333900" cy="4953000"/>
            <a:chOff x="0" y="0"/>
            <a:chExt cx="3333900" cy="4953000"/>
          </a:xfrm>
        </p:grpSpPr>
        <p:sp>
          <p:nvSpPr>
            <p:cNvPr id="364" name="Google Shape;364;p21"/>
            <p:cNvSpPr/>
            <p:nvPr/>
          </p:nvSpPr>
          <p:spPr>
            <a:xfrm>
              <a:off x="0" y="0"/>
              <a:ext cx="3333900" cy="4953000"/>
            </a:xfrm>
            <a:prstGeom prst="roundRect">
              <a:avLst>
                <a:gd fmla="val 2285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0" y="0"/>
              <a:ext cx="38100" cy="49530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21"/>
            <p:cNvSpPr txBox="1"/>
            <p:nvPr/>
          </p:nvSpPr>
          <p:spPr>
            <a:xfrm>
              <a:off x="238125" y="1905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Application Modules</a:t>
              </a:r>
              <a:endParaRPr b="1" sz="18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grpSp>
          <p:nvGrpSpPr>
            <p:cNvPr id="367" name="Google Shape;367;p21"/>
            <p:cNvGrpSpPr/>
            <p:nvPr/>
          </p:nvGrpSpPr>
          <p:grpSpPr>
            <a:xfrm>
              <a:off x="238125" y="666750"/>
              <a:ext cx="2857500" cy="4029000"/>
              <a:chOff x="0" y="0"/>
              <a:chExt cx="2857500" cy="4029000"/>
            </a:xfrm>
          </p:grpSpPr>
          <p:grpSp>
            <p:nvGrpSpPr>
              <p:cNvPr id="368" name="Google Shape;368;p21"/>
              <p:cNvGrpSpPr/>
              <p:nvPr/>
            </p:nvGrpSpPr>
            <p:grpSpPr>
              <a:xfrm>
                <a:off x="0" y="0"/>
                <a:ext cx="2857500" cy="714300"/>
                <a:chOff x="0" y="0"/>
                <a:chExt cx="2857500" cy="714300"/>
              </a:xfrm>
            </p:grpSpPr>
            <p:sp>
              <p:nvSpPr>
                <p:cNvPr id="369" name="Google Shape;369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70" name="Google Shape;370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01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Farmer Portal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  <p:grpSp>
            <p:nvGrpSpPr>
              <p:cNvPr id="371" name="Google Shape;371;p21"/>
              <p:cNvGrpSpPr/>
              <p:nvPr/>
            </p:nvGrpSpPr>
            <p:grpSpPr>
              <a:xfrm>
                <a:off x="0" y="828675"/>
                <a:ext cx="2857500" cy="714300"/>
                <a:chOff x="0" y="0"/>
                <a:chExt cx="2857500" cy="714300"/>
              </a:xfrm>
            </p:grpSpPr>
            <p:sp>
              <p:nvSpPr>
                <p:cNvPr id="372" name="Google Shape;372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73" name="Google Shape;373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02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Expert Portal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  <p:grpSp>
            <p:nvGrpSpPr>
              <p:cNvPr id="374" name="Google Shape;374;p21"/>
              <p:cNvGrpSpPr/>
              <p:nvPr/>
            </p:nvGrpSpPr>
            <p:grpSpPr>
              <a:xfrm>
                <a:off x="0" y="1657350"/>
                <a:ext cx="2857500" cy="714300"/>
                <a:chOff x="0" y="0"/>
                <a:chExt cx="2857500" cy="714300"/>
              </a:xfrm>
            </p:grpSpPr>
            <p:sp>
              <p:nvSpPr>
                <p:cNvPr id="375" name="Google Shape;375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76" name="Google Shape;376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03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Marketplace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  <p:grpSp>
            <p:nvGrpSpPr>
              <p:cNvPr id="377" name="Google Shape;377;p21"/>
              <p:cNvGrpSpPr/>
              <p:nvPr/>
            </p:nvGrpSpPr>
            <p:grpSpPr>
              <a:xfrm>
                <a:off x="0" y="2486025"/>
                <a:ext cx="2857500" cy="714300"/>
                <a:chOff x="0" y="0"/>
                <a:chExt cx="2857500" cy="714300"/>
              </a:xfrm>
            </p:grpSpPr>
            <p:sp>
              <p:nvSpPr>
                <p:cNvPr id="378" name="Google Shape;378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79" name="Google Shape;379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04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Admin Dashboard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  <p:grpSp>
            <p:nvGrpSpPr>
              <p:cNvPr id="380" name="Google Shape;380;p21"/>
              <p:cNvGrpSpPr/>
              <p:nvPr/>
            </p:nvGrpSpPr>
            <p:grpSpPr>
              <a:xfrm>
                <a:off x="0" y="3314700"/>
                <a:ext cx="2857500" cy="714300"/>
                <a:chOff x="0" y="0"/>
                <a:chExt cx="2857500" cy="714300"/>
              </a:xfrm>
            </p:grpSpPr>
            <p:sp>
              <p:nvSpPr>
                <p:cNvPr id="381" name="Google Shape;381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82" name="Google Shape;382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05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Role-Based Access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</p:grpSp>
      </p:grpSp>
      <p:grpSp>
        <p:nvGrpSpPr>
          <p:cNvPr id="383" name="Google Shape;383;p21"/>
          <p:cNvGrpSpPr/>
          <p:nvPr/>
        </p:nvGrpSpPr>
        <p:grpSpPr>
          <a:xfrm>
            <a:off x="8096250" y="1428750"/>
            <a:ext cx="3333900" cy="4953000"/>
            <a:chOff x="0" y="0"/>
            <a:chExt cx="3333900" cy="4953000"/>
          </a:xfrm>
        </p:grpSpPr>
        <p:sp>
          <p:nvSpPr>
            <p:cNvPr id="384" name="Google Shape;384;p21"/>
            <p:cNvSpPr/>
            <p:nvPr/>
          </p:nvSpPr>
          <p:spPr>
            <a:xfrm>
              <a:off x="0" y="0"/>
              <a:ext cx="3333900" cy="4953000"/>
            </a:xfrm>
            <a:prstGeom prst="roundRect">
              <a:avLst>
                <a:gd fmla="val 2285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21"/>
            <p:cNvSpPr/>
            <p:nvPr/>
          </p:nvSpPr>
          <p:spPr>
            <a:xfrm>
              <a:off x="0" y="0"/>
              <a:ext cx="38100" cy="49530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21"/>
            <p:cNvSpPr txBox="1"/>
            <p:nvPr/>
          </p:nvSpPr>
          <p:spPr>
            <a:xfrm>
              <a:off x="238125" y="1905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AI &amp; Smart Services</a:t>
              </a:r>
              <a:endParaRPr b="1" sz="18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grpSp>
          <p:nvGrpSpPr>
            <p:cNvPr id="387" name="Google Shape;387;p21"/>
            <p:cNvGrpSpPr/>
            <p:nvPr/>
          </p:nvGrpSpPr>
          <p:grpSpPr>
            <a:xfrm>
              <a:off x="238125" y="666750"/>
              <a:ext cx="2857500" cy="4029000"/>
              <a:chOff x="0" y="0"/>
              <a:chExt cx="2857500" cy="4029000"/>
            </a:xfrm>
          </p:grpSpPr>
          <p:grpSp>
            <p:nvGrpSpPr>
              <p:cNvPr id="388" name="Google Shape;388;p21"/>
              <p:cNvGrpSpPr/>
              <p:nvPr/>
            </p:nvGrpSpPr>
            <p:grpSpPr>
              <a:xfrm>
                <a:off x="0" y="0"/>
                <a:ext cx="2857500" cy="714300"/>
                <a:chOff x="0" y="0"/>
                <a:chExt cx="2857500" cy="714300"/>
              </a:xfrm>
            </p:grpSpPr>
            <p:sp>
              <p:nvSpPr>
                <p:cNvPr id="389" name="Google Shape;389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90" name="Google Shape;390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01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AI Crop Advisory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  <p:grpSp>
            <p:nvGrpSpPr>
              <p:cNvPr id="391" name="Google Shape;391;p21"/>
              <p:cNvGrpSpPr/>
              <p:nvPr/>
            </p:nvGrpSpPr>
            <p:grpSpPr>
              <a:xfrm>
                <a:off x="0" y="828675"/>
                <a:ext cx="2857500" cy="714300"/>
                <a:chOff x="0" y="0"/>
                <a:chExt cx="2857500" cy="714300"/>
              </a:xfrm>
            </p:grpSpPr>
            <p:sp>
              <p:nvSpPr>
                <p:cNvPr id="392" name="Google Shape;392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93" name="Google Shape;393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02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Pest Detection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  <p:grpSp>
            <p:nvGrpSpPr>
              <p:cNvPr id="394" name="Google Shape;394;p21"/>
              <p:cNvGrpSpPr/>
              <p:nvPr/>
            </p:nvGrpSpPr>
            <p:grpSpPr>
              <a:xfrm>
                <a:off x="0" y="1657350"/>
                <a:ext cx="2857500" cy="714300"/>
                <a:chOff x="0" y="0"/>
                <a:chExt cx="2857500" cy="714300"/>
              </a:xfrm>
            </p:grpSpPr>
            <p:sp>
              <p:nvSpPr>
                <p:cNvPr id="395" name="Google Shape;395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96" name="Google Shape;396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03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Weather Analysis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  <p:grpSp>
            <p:nvGrpSpPr>
              <p:cNvPr id="397" name="Google Shape;397;p21"/>
              <p:cNvGrpSpPr/>
              <p:nvPr/>
            </p:nvGrpSpPr>
            <p:grpSpPr>
              <a:xfrm>
                <a:off x="0" y="2486025"/>
                <a:ext cx="2857500" cy="714300"/>
                <a:chOff x="0" y="0"/>
                <a:chExt cx="2857500" cy="714300"/>
              </a:xfrm>
            </p:grpSpPr>
            <p:sp>
              <p:nvSpPr>
                <p:cNvPr id="398" name="Google Shape;398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399" name="Google Shape;399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04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Market Price Insights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  <p:grpSp>
            <p:nvGrpSpPr>
              <p:cNvPr id="400" name="Google Shape;400;p21"/>
              <p:cNvGrpSpPr/>
              <p:nvPr/>
            </p:nvGrpSpPr>
            <p:grpSpPr>
              <a:xfrm>
                <a:off x="0" y="3314700"/>
                <a:ext cx="2857500" cy="714300"/>
                <a:chOff x="0" y="0"/>
                <a:chExt cx="2857500" cy="714300"/>
              </a:xfrm>
            </p:grpSpPr>
            <p:sp>
              <p:nvSpPr>
                <p:cNvPr id="401" name="Google Shape;401;p21"/>
                <p:cNvSpPr/>
                <p:nvPr/>
              </p:nvSpPr>
              <p:spPr>
                <a:xfrm>
                  <a:off x="0" y="0"/>
                  <a:ext cx="2857500" cy="7143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402" name="Google Shape;402;p21"/>
                <p:cNvSpPr txBox="1"/>
                <p:nvPr/>
              </p:nvSpPr>
              <p:spPr>
                <a:xfrm>
                  <a:off x="142875" y="114300"/>
                  <a:ext cx="25719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800">
                      <a:solidFill>
                        <a:srgbClr val="C6A87C"/>
                      </a:solidFill>
                      <a:latin typeface="Space Mono"/>
                      <a:ea typeface="Space Mono"/>
                      <a:cs typeface="Space Mono"/>
                      <a:sym typeface="Space Mono"/>
                    </a:rPr>
                    <a:t>05</a:t>
                  </a:r>
                  <a:endParaRPr b="1" sz="18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1A2B22"/>
                      </a:solidFill>
                      <a:latin typeface="DM Sans Medium"/>
                      <a:ea typeface="DM Sans Medium"/>
                      <a:cs typeface="DM Sans Medium"/>
                      <a:sym typeface="DM Sans Medium"/>
                    </a:rPr>
                    <a:t>Smart Recommendations</a:t>
                  </a:r>
                  <a:endParaRPr b="0" sz="1800">
                    <a:solidFill>
                      <a:srgbClr val="1A2B22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2"/>
          <p:cNvSpPr txBox="1"/>
          <p:nvPr/>
        </p:nvSpPr>
        <p:spPr>
          <a:xfrm>
            <a:off x="762000" y="28575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rPr>
              <a:t>KEY INNOVATIONS</a:t>
            </a:r>
            <a:endParaRPr b="1" sz="1100">
              <a:solidFill>
                <a:srgbClr val="C6A87C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62000" y="495300"/>
            <a:ext cx="10668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Intelligent &amp; Scalable Digital Farming</a:t>
            </a:r>
            <a:endParaRPr b="1" sz="3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762000" y="9525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AgriVerse combines modern Java Full Stack technologies with AI-powered services.</a:t>
            </a:r>
            <a:endParaRPr b="0"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10" name="Google Shape;410;p22"/>
          <p:cNvGrpSpPr/>
          <p:nvPr/>
        </p:nvGrpSpPr>
        <p:grpSpPr>
          <a:xfrm>
            <a:off x="762000" y="1476375"/>
            <a:ext cx="10668150" cy="4572150"/>
            <a:chOff x="0" y="0"/>
            <a:chExt cx="10668150" cy="4572150"/>
          </a:xfrm>
        </p:grpSpPr>
        <p:grpSp>
          <p:nvGrpSpPr>
            <p:cNvPr id="411" name="Google Shape;411;p22"/>
            <p:cNvGrpSpPr/>
            <p:nvPr/>
          </p:nvGrpSpPr>
          <p:grpSpPr>
            <a:xfrm>
              <a:off x="0" y="0"/>
              <a:ext cx="3333900" cy="2190900"/>
              <a:chOff x="0" y="0"/>
              <a:chExt cx="3333900" cy="2190900"/>
            </a:xfrm>
          </p:grpSpPr>
          <p:sp>
            <p:nvSpPr>
              <p:cNvPr id="412" name="Google Shape;412;p22"/>
              <p:cNvSpPr/>
              <p:nvPr/>
            </p:nvSpPr>
            <p:spPr>
              <a:xfrm>
                <a:off x="0" y="0"/>
                <a:ext cx="3333900" cy="2190900"/>
              </a:xfrm>
              <a:prstGeom prst="roundRect">
                <a:avLst>
                  <a:gd fmla="val 3478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2"/>
              <p:cNvSpPr/>
              <p:nvPr/>
            </p:nvSpPr>
            <p:spPr>
              <a:xfrm>
                <a:off x="0" y="0"/>
                <a:ext cx="381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2"/>
              <p:cNvSpPr txBox="1"/>
              <p:nvPr/>
            </p:nvSpPr>
            <p:spPr>
              <a:xfrm>
                <a:off x="190500" y="190500"/>
                <a:ext cx="29529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01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Real Time Generative Advisory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Personalized crop recommendations based on farming data.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15" name="Google Shape;415;p22"/>
            <p:cNvGrpSpPr/>
            <p:nvPr/>
          </p:nvGrpSpPr>
          <p:grpSpPr>
            <a:xfrm>
              <a:off x="3667125" y="0"/>
              <a:ext cx="3333900" cy="2190900"/>
              <a:chOff x="0" y="0"/>
              <a:chExt cx="3333900" cy="2190900"/>
            </a:xfrm>
          </p:grpSpPr>
          <p:sp>
            <p:nvSpPr>
              <p:cNvPr id="416" name="Google Shape;416;p22"/>
              <p:cNvSpPr/>
              <p:nvPr/>
            </p:nvSpPr>
            <p:spPr>
              <a:xfrm>
                <a:off x="0" y="0"/>
                <a:ext cx="3333900" cy="2190900"/>
              </a:xfrm>
              <a:prstGeom prst="roundRect">
                <a:avLst>
                  <a:gd fmla="val 3478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2"/>
              <p:cNvSpPr/>
              <p:nvPr/>
            </p:nvSpPr>
            <p:spPr>
              <a:xfrm>
                <a:off x="0" y="0"/>
                <a:ext cx="381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2"/>
              <p:cNvSpPr txBox="1"/>
              <p:nvPr/>
            </p:nvSpPr>
            <p:spPr>
              <a:xfrm>
                <a:off x="190500" y="190500"/>
                <a:ext cx="29529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02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Secure Access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JWT authentication with role-based authorization.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19" name="Google Shape;419;p22"/>
            <p:cNvGrpSpPr/>
            <p:nvPr/>
          </p:nvGrpSpPr>
          <p:grpSpPr>
            <a:xfrm>
              <a:off x="7334250" y="0"/>
              <a:ext cx="3333900" cy="2190900"/>
              <a:chOff x="0" y="0"/>
              <a:chExt cx="3333900" cy="2190900"/>
            </a:xfrm>
          </p:grpSpPr>
          <p:sp>
            <p:nvSpPr>
              <p:cNvPr id="420" name="Google Shape;420;p22"/>
              <p:cNvSpPr/>
              <p:nvPr/>
            </p:nvSpPr>
            <p:spPr>
              <a:xfrm>
                <a:off x="0" y="0"/>
                <a:ext cx="3333900" cy="2190900"/>
              </a:xfrm>
              <a:prstGeom prst="roundRect">
                <a:avLst>
                  <a:gd fmla="val 3478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2"/>
              <p:cNvSpPr/>
              <p:nvPr/>
            </p:nvSpPr>
            <p:spPr>
              <a:xfrm>
                <a:off x="0" y="0"/>
                <a:ext cx="381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2"/>
              <p:cNvSpPr txBox="1"/>
              <p:nvPr/>
            </p:nvSpPr>
            <p:spPr>
              <a:xfrm>
                <a:off x="190500" y="190500"/>
                <a:ext cx="29529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03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Smart Insights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Real-time weather and market price updates.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23" name="Google Shape;423;p22"/>
            <p:cNvGrpSpPr/>
            <p:nvPr/>
          </p:nvGrpSpPr>
          <p:grpSpPr>
            <a:xfrm>
              <a:off x="1828800" y="2381250"/>
              <a:ext cx="3333900" cy="2190900"/>
              <a:chOff x="0" y="0"/>
              <a:chExt cx="3333900" cy="2190900"/>
            </a:xfrm>
          </p:grpSpPr>
          <p:sp>
            <p:nvSpPr>
              <p:cNvPr id="424" name="Google Shape;424;p22"/>
              <p:cNvSpPr/>
              <p:nvPr/>
            </p:nvSpPr>
            <p:spPr>
              <a:xfrm>
                <a:off x="0" y="0"/>
                <a:ext cx="3333900" cy="2190900"/>
              </a:xfrm>
              <a:prstGeom prst="roundRect">
                <a:avLst>
                  <a:gd fmla="val 3478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2"/>
              <p:cNvSpPr/>
              <p:nvPr/>
            </p:nvSpPr>
            <p:spPr>
              <a:xfrm>
                <a:off x="0" y="0"/>
                <a:ext cx="381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2"/>
              <p:cNvSpPr txBox="1"/>
              <p:nvPr/>
            </p:nvSpPr>
            <p:spPr>
              <a:xfrm>
                <a:off x="190500" y="190500"/>
                <a:ext cx="29529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04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Digital Marketplace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Direct farmer-to-buyer trading platform.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27" name="Google Shape;427;p22"/>
            <p:cNvGrpSpPr/>
            <p:nvPr/>
          </p:nvGrpSpPr>
          <p:grpSpPr>
            <a:xfrm>
              <a:off x="5495925" y="2381250"/>
              <a:ext cx="3333900" cy="2190900"/>
              <a:chOff x="0" y="0"/>
              <a:chExt cx="3333900" cy="2190900"/>
            </a:xfrm>
          </p:grpSpPr>
          <p:sp>
            <p:nvSpPr>
              <p:cNvPr id="428" name="Google Shape;428;p22"/>
              <p:cNvSpPr/>
              <p:nvPr/>
            </p:nvSpPr>
            <p:spPr>
              <a:xfrm>
                <a:off x="0" y="0"/>
                <a:ext cx="3333900" cy="2190900"/>
              </a:xfrm>
              <a:prstGeom prst="roundRect">
                <a:avLst>
                  <a:gd fmla="val 3478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2"/>
              <p:cNvSpPr/>
              <p:nvPr/>
            </p:nvSpPr>
            <p:spPr>
              <a:xfrm>
                <a:off x="0" y="0"/>
                <a:ext cx="381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2"/>
              <p:cNvSpPr txBox="1"/>
              <p:nvPr/>
            </p:nvSpPr>
            <p:spPr>
              <a:xfrm>
                <a:off x="190500" y="190500"/>
                <a:ext cx="29529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05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Analytics Dashboard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Visual reports for better decision-making.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oogle Shape;435;p23"/>
          <p:cNvGrpSpPr/>
          <p:nvPr/>
        </p:nvGrpSpPr>
        <p:grpSpPr>
          <a:xfrm>
            <a:off x="762000" y="381000"/>
            <a:ext cx="10668000" cy="1009800"/>
            <a:chOff x="0" y="0"/>
            <a:chExt cx="10668000" cy="1009800"/>
          </a:xfrm>
        </p:grpSpPr>
        <p:sp>
          <p:nvSpPr>
            <p:cNvPr id="436" name="Google Shape;436;p23"/>
            <p:cNvSpPr txBox="1"/>
            <p:nvPr/>
          </p:nvSpPr>
          <p:spPr>
            <a:xfrm>
              <a:off x="0" y="0"/>
              <a:ext cx="1066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MARKET POSITIONING</a:t>
              </a:r>
              <a:endParaRPr b="1" sz="11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437" name="Google Shape;437;p23"/>
            <p:cNvSpPr txBox="1"/>
            <p:nvPr/>
          </p:nvSpPr>
          <p:spPr>
            <a:xfrm>
              <a:off x="0" y="228600"/>
              <a:ext cx="10668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Competitive Advantage</a:t>
              </a:r>
              <a:endParaRPr b="1" sz="36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8" name="Google Shape;438;p23"/>
            <p:cNvSpPr txBox="1"/>
            <p:nvPr/>
          </p:nvSpPr>
          <p:spPr>
            <a:xfrm>
              <a:off x="0" y="72390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How AgriVerse outperforms traditional farming approaches across key metrics.</a:t>
              </a:r>
              <a:endParaRPr b="0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39" name="Google Shape;439;p23"/>
          <p:cNvGrpSpPr/>
          <p:nvPr/>
        </p:nvGrpSpPr>
        <p:grpSpPr>
          <a:xfrm>
            <a:off x="952500" y="1571625"/>
            <a:ext cx="10287000" cy="228600"/>
            <a:chOff x="190500" y="0"/>
            <a:chExt cx="10287000" cy="228600"/>
          </a:xfrm>
        </p:grpSpPr>
        <p:sp>
          <p:nvSpPr>
            <p:cNvPr id="440" name="Google Shape;440;p23"/>
            <p:cNvSpPr txBox="1"/>
            <p:nvPr/>
          </p:nvSpPr>
          <p:spPr>
            <a:xfrm>
              <a:off x="190500" y="0"/>
              <a:ext cx="266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FEATURE</a:t>
              </a:r>
              <a:endParaRPr b="1" sz="11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441" name="Google Shape;441;p23"/>
            <p:cNvSpPr txBox="1"/>
            <p:nvPr/>
          </p:nvSpPr>
          <p:spPr>
            <a:xfrm>
              <a:off x="3048000" y="0"/>
              <a:ext cx="3238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A4B5AA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TRADITIONAL METHODS</a:t>
              </a:r>
              <a:endParaRPr b="1" sz="1100">
                <a:solidFill>
                  <a:srgbClr val="A4B5AA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442" name="Google Shape;442;p23"/>
            <p:cNvSpPr txBox="1"/>
            <p:nvPr/>
          </p:nvSpPr>
          <p:spPr>
            <a:xfrm>
              <a:off x="6667500" y="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AGRIVERSE</a:t>
              </a:r>
              <a:endParaRPr b="1" sz="11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443" name="Google Shape;443;p23"/>
          <p:cNvGrpSpPr/>
          <p:nvPr/>
        </p:nvGrpSpPr>
        <p:grpSpPr>
          <a:xfrm>
            <a:off x="952500" y="1885950"/>
            <a:ext cx="10477500" cy="590700"/>
            <a:chOff x="190500" y="0"/>
            <a:chExt cx="10477500" cy="590700"/>
          </a:xfrm>
        </p:grpSpPr>
        <p:sp>
          <p:nvSpPr>
            <p:cNvPr id="444" name="Google Shape;444;p23"/>
            <p:cNvSpPr/>
            <p:nvPr/>
          </p:nvSpPr>
          <p:spPr>
            <a:xfrm>
              <a:off x="2857500" y="0"/>
              <a:ext cx="3429000" cy="590700"/>
            </a:xfrm>
            <a:prstGeom prst="roundRect">
              <a:avLst>
                <a:gd fmla="val 12903" name="adj"/>
              </a:avLst>
            </a:prstGeom>
            <a:solidFill>
              <a:srgbClr val="24382C"/>
            </a:solidFill>
            <a:ln cap="flat" cmpd="sng" w="9525">
              <a:solidFill>
                <a:srgbClr val="324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3"/>
            <p:cNvSpPr/>
            <p:nvPr/>
          </p:nvSpPr>
          <p:spPr>
            <a:xfrm>
              <a:off x="6477000" y="0"/>
              <a:ext cx="4191000" cy="590700"/>
            </a:xfrm>
            <a:prstGeom prst="roundRect">
              <a:avLst>
                <a:gd fmla="val 12903" name="adj"/>
              </a:avLst>
            </a:prstGeom>
            <a:solidFill>
              <a:srgbClr val="24382C"/>
            </a:solidFill>
            <a:ln cap="flat" cmpd="sng" w="14300">
              <a:solidFill>
                <a:srgbClr val="C6A8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6477000" y="0"/>
              <a:ext cx="47700" cy="590700"/>
            </a:xfrm>
            <a:prstGeom prst="roundRect">
              <a:avLst>
                <a:gd fmla="val 4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3"/>
            <p:cNvSpPr txBox="1"/>
            <p:nvPr/>
          </p:nvSpPr>
          <p:spPr>
            <a:xfrm>
              <a:off x="190500" y="0"/>
              <a:ext cx="2476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Crop Management</a:t>
              </a:r>
              <a:endParaRPr b="1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8" name="Google Shape;448;p23"/>
            <p:cNvSpPr txBox="1"/>
            <p:nvPr/>
          </p:nvSpPr>
          <p:spPr>
            <a:xfrm>
              <a:off x="3048000" y="0"/>
              <a:ext cx="3048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A4B5AA"/>
                  </a:solidFill>
                  <a:latin typeface="DM Sans"/>
                  <a:ea typeface="DM Sans"/>
                  <a:cs typeface="DM Sans"/>
                  <a:sym typeface="DM Sans"/>
                </a:rPr>
                <a:t>Manual</a:t>
              </a:r>
              <a:endParaRPr b="0" sz="1500">
                <a:solidFill>
                  <a:srgbClr val="A4B5A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9" name="Google Shape;449;p23"/>
            <p:cNvSpPr txBox="1"/>
            <p:nvPr/>
          </p:nvSpPr>
          <p:spPr>
            <a:xfrm>
              <a:off x="6715125" y="0"/>
              <a:ext cx="37623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CFBF7"/>
                  </a:solidFill>
                  <a:latin typeface="DM Sans"/>
                  <a:ea typeface="DM Sans"/>
                  <a:cs typeface="DM Sans"/>
                  <a:sym typeface="DM Sans"/>
                </a:rPr>
                <a:t>Digital</a:t>
              </a:r>
              <a:endParaRPr b="1" sz="1600">
                <a:solidFill>
                  <a:srgbClr val="FCFBF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50" name="Google Shape;450;p23"/>
          <p:cNvGrpSpPr/>
          <p:nvPr/>
        </p:nvGrpSpPr>
        <p:grpSpPr>
          <a:xfrm>
            <a:off x="952500" y="2590800"/>
            <a:ext cx="10477500" cy="590700"/>
            <a:chOff x="190500" y="0"/>
            <a:chExt cx="10477500" cy="590700"/>
          </a:xfrm>
        </p:grpSpPr>
        <p:sp>
          <p:nvSpPr>
            <p:cNvPr id="451" name="Google Shape;451;p23"/>
            <p:cNvSpPr/>
            <p:nvPr/>
          </p:nvSpPr>
          <p:spPr>
            <a:xfrm>
              <a:off x="2857500" y="0"/>
              <a:ext cx="3429000" cy="590700"/>
            </a:xfrm>
            <a:prstGeom prst="roundRect">
              <a:avLst>
                <a:gd fmla="val 12903" name="adj"/>
              </a:avLst>
            </a:prstGeom>
            <a:solidFill>
              <a:srgbClr val="24382C"/>
            </a:solidFill>
            <a:ln cap="flat" cmpd="sng" w="9525">
              <a:solidFill>
                <a:srgbClr val="324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6477000" y="0"/>
              <a:ext cx="4191000" cy="590700"/>
            </a:xfrm>
            <a:prstGeom prst="roundRect">
              <a:avLst>
                <a:gd fmla="val 12903" name="adj"/>
              </a:avLst>
            </a:prstGeom>
            <a:solidFill>
              <a:srgbClr val="24382C"/>
            </a:solidFill>
            <a:ln cap="flat" cmpd="sng" w="14300">
              <a:solidFill>
                <a:srgbClr val="C6A8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6477000" y="0"/>
              <a:ext cx="47700" cy="590700"/>
            </a:xfrm>
            <a:prstGeom prst="roundRect">
              <a:avLst>
                <a:gd fmla="val 4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3"/>
            <p:cNvSpPr txBox="1"/>
            <p:nvPr/>
          </p:nvSpPr>
          <p:spPr>
            <a:xfrm>
              <a:off x="190500" y="0"/>
              <a:ext cx="2476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Expert Consultation</a:t>
              </a:r>
              <a:endParaRPr b="1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5" name="Google Shape;455;p23"/>
            <p:cNvSpPr txBox="1"/>
            <p:nvPr/>
          </p:nvSpPr>
          <p:spPr>
            <a:xfrm>
              <a:off x="3048000" y="0"/>
              <a:ext cx="3048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A4B5AA"/>
                  </a:solidFill>
                  <a:latin typeface="DM Sans"/>
                  <a:ea typeface="DM Sans"/>
                  <a:cs typeface="DM Sans"/>
                  <a:sym typeface="DM Sans"/>
                </a:rPr>
                <a:t>Offline</a:t>
              </a:r>
              <a:endParaRPr b="0" sz="1500">
                <a:solidFill>
                  <a:srgbClr val="A4B5A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6" name="Google Shape;456;p23"/>
            <p:cNvSpPr txBox="1"/>
            <p:nvPr/>
          </p:nvSpPr>
          <p:spPr>
            <a:xfrm>
              <a:off x="6715125" y="0"/>
              <a:ext cx="37623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CFBF7"/>
                  </a:solidFill>
                  <a:latin typeface="DM Sans"/>
                  <a:ea typeface="DM Sans"/>
                  <a:cs typeface="DM Sans"/>
                  <a:sym typeface="DM Sans"/>
                </a:rPr>
                <a:t>Online</a:t>
              </a:r>
              <a:endParaRPr b="1" sz="1600">
                <a:solidFill>
                  <a:srgbClr val="FCFBF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57" name="Google Shape;457;p23"/>
          <p:cNvGrpSpPr/>
          <p:nvPr/>
        </p:nvGrpSpPr>
        <p:grpSpPr>
          <a:xfrm>
            <a:off x="952500" y="3295650"/>
            <a:ext cx="10477500" cy="590700"/>
            <a:chOff x="190500" y="0"/>
            <a:chExt cx="10477500" cy="590700"/>
          </a:xfrm>
        </p:grpSpPr>
        <p:sp>
          <p:nvSpPr>
            <p:cNvPr id="458" name="Google Shape;458;p23"/>
            <p:cNvSpPr/>
            <p:nvPr/>
          </p:nvSpPr>
          <p:spPr>
            <a:xfrm>
              <a:off x="2857500" y="0"/>
              <a:ext cx="3429000" cy="590700"/>
            </a:xfrm>
            <a:prstGeom prst="roundRect">
              <a:avLst>
                <a:gd fmla="val 12903" name="adj"/>
              </a:avLst>
            </a:prstGeom>
            <a:solidFill>
              <a:srgbClr val="24382C"/>
            </a:solidFill>
            <a:ln cap="flat" cmpd="sng" w="9525">
              <a:solidFill>
                <a:srgbClr val="324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6477000" y="0"/>
              <a:ext cx="4191000" cy="590700"/>
            </a:xfrm>
            <a:prstGeom prst="roundRect">
              <a:avLst>
                <a:gd fmla="val 12903" name="adj"/>
              </a:avLst>
            </a:prstGeom>
            <a:solidFill>
              <a:srgbClr val="24382C"/>
            </a:solidFill>
            <a:ln cap="flat" cmpd="sng" w="14300">
              <a:solidFill>
                <a:srgbClr val="C6A8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6477000" y="0"/>
              <a:ext cx="47700" cy="590700"/>
            </a:xfrm>
            <a:prstGeom prst="roundRect">
              <a:avLst>
                <a:gd fmla="val 4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3"/>
            <p:cNvSpPr txBox="1"/>
            <p:nvPr/>
          </p:nvSpPr>
          <p:spPr>
            <a:xfrm>
              <a:off x="190500" y="0"/>
              <a:ext cx="2476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Weather Insights</a:t>
              </a:r>
              <a:endParaRPr b="1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2" name="Google Shape;462;p23"/>
            <p:cNvSpPr txBox="1"/>
            <p:nvPr/>
          </p:nvSpPr>
          <p:spPr>
            <a:xfrm>
              <a:off x="3048000" y="0"/>
              <a:ext cx="3048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A4B5AA"/>
                  </a:solidFill>
                  <a:latin typeface="DM Sans"/>
                  <a:ea typeface="DM Sans"/>
                  <a:cs typeface="DM Sans"/>
                  <a:sym typeface="DM Sans"/>
                </a:rPr>
                <a:t>Separate Apps</a:t>
              </a:r>
              <a:endParaRPr b="0" sz="1500">
                <a:solidFill>
                  <a:srgbClr val="A4B5A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3" name="Google Shape;463;p23"/>
            <p:cNvSpPr txBox="1"/>
            <p:nvPr/>
          </p:nvSpPr>
          <p:spPr>
            <a:xfrm>
              <a:off x="6715125" y="0"/>
              <a:ext cx="37623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CFBF7"/>
                  </a:solidFill>
                  <a:latin typeface="DM Sans"/>
                  <a:ea typeface="DM Sans"/>
                  <a:cs typeface="DM Sans"/>
                  <a:sym typeface="DM Sans"/>
                </a:rPr>
                <a:t>Integrated</a:t>
              </a:r>
              <a:endParaRPr b="1" sz="1600">
                <a:solidFill>
                  <a:srgbClr val="FCFBF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64" name="Google Shape;464;p23"/>
          <p:cNvGrpSpPr/>
          <p:nvPr/>
        </p:nvGrpSpPr>
        <p:grpSpPr>
          <a:xfrm>
            <a:off x="952500" y="4000500"/>
            <a:ext cx="10477500" cy="590700"/>
            <a:chOff x="190500" y="0"/>
            <a:chExt cx="10477500" cy="590700"/>
          </a:xfrm>
        </p:grpSpPr>
        <p:sp>
          <p:nvSpPr>
            <p:cNvPr id="465" name="Google Shape;465;p23"/>
            <p:cNvSpPr/>
            <p:nvPr/>
          </p:nvSpPr>
          <p:spPr>
            <a:xfrm>
              <a:off x="2857500" y="0"/>
              <a:ext cx="3429000" cy="590700"/>
            </a:xfrm>
            <a:prstGeom prst="roundRect">
              <a:avLst>
                <a:gd fmla="val 12903" name="adj"/>
              </a:avLst>
            </a:prstGeom>
            <a:solidFill>
              <a:srgbClr val="24382C"/>
            </a:solidFill>
            <a:ln cap="flat" cmpd="sng" w="9525">
              <a:solidFill>
                <a:srgbClr val="324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6477000" y="0"/>
              <a:ext cx="4191000" cy="590700"/>
            </a:xfrm>
            <a:prstGeom prst="roundRect">
              <a:avLst>
                <a:gd fmla="val 12903" name="adj"/>
              </a:avLst>
            </a:prstGeom>
            <a:solidFill>
              <a:srgbClr val="24382C"/>
            </a:solidFill>
            <a:ln cap="flat" cmpd="sng" w="14300">
              <a:solidFill>
                <a:srgbClr val="C6A8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6477000" y="0"/>
              <a:ext cx="47700" cy="590700"/>
            </a:xfrm>
            <a:prstGeom prst="roundRect">
              <a:avLst>
                <a:gd fmla="val 4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3"/>
            <p:cNvSpPr txBox="1"/>
            <p:nvPr/>
          </p:nvSpPr>
          <p:spPr>
            <a:xfrm>
              <a:off x="190500" y="0"/>
              <a:ext cx="2476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Marketplace</a:t>
              </a:r>
              <a:endParaRPr b="1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9" name="Google Shape;469;p23"/>
            <p:cNvSpPr txBox="1"/>
            <p:nvPr/>
          </p:nvSpPr>
          <p:spPr>
            <a:xfrm>
              <a:off x="3048000" y="0"/>
              <a:ext cx="3048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A4B5AA"/>
                  </a:solidFill>
                  <a:latin typeface="DM Sans"/>
                  <a:ea typeface="DM Sans"/>
                  <a:cs typeface="DM Sans"/>
                  <a:sym typeface="DM Sans"/>
                </a:rPr>
                <a:t>Middlemen</a:t>
              </a:r>
              <a:endParaRPr b="0" sz="1500">
                <a:solidFill>
                  <a:srgbClr val="A4B5A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70" name="Google Shape;470;p23"/>
            <p:cNvSpPr txBox="1"/>
            <p:nvPr/>
          </p:nvSpPr>
          <p:spPr>
            <a:xfrm>
              <a:off x="6715125" y="0"/>
              <a:ext cx="37623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CFBF7"/>
                  </a:solidFill>
                  <a:latin typeface="DM Sans"/>
                  <a:ea typeface="DM Sans"/>
                  <a:cs typeface="DM Sans"/>
                  <a:sym typeface="DM Sans"/>
                </a:rPr>
                <a:t>Direct Trading</a:t>
              </a:r>
              <a:endParaRPr b="1" sz="1600">
                <a:solidFill>
                  <a:srgbClr val="FCFBF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71" name="Google Shape;471;p23"/>
          <p:cNvGrpSpPr/>
          <p:nvPr/>
        </p:nvGrpSpPr>
        <p:grpSpPr>
          <a:xfrm>
            <a:off x="952500" y="4705350"/>
            <a:ext cx="10477500" cy="590700"/>
            <a:chOff x="190500" y="0"/>
            <a:chExt cx="10477500" cy="590700"/>
          </a:xfrm>
        </p:grpSpPr>
        <p:sp>
          <p:nvSpPr>
            <p:cNvPr id="472" name="Google Shape;472;p23"/>
            <p:cNvSpPr/>
            <p:nvPr/>
          </p:nvSpPr>
          <p:spPr>
            <a:xfrm>
              <a:off x="2857500" y="0"/>
              <a:ext cx="3429000" cy="590700"/>
            </a:xfrm>
            <a:prstGeom prst="roundRect">
              <a:avLst>
                <a:gd fmla="val 12903" name="adj"/>
              </a:avLst>
            </a:prstGeom>
            <a:solidFill>
              <a:srgbClr val="24382C"/>
            </a:solidFill>
            <a:ln cap="flat" cmpd="sng" w="9525">
              <a:solidFill>
                <a:srgbClr val="324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6477000" y="0"/>
              <a:ext cx="4191000" cy="590700"/>
            </a:xfrm>
            <a:prstGeom prst="roundRect">
              <a:avLst>
                <a:gd fmla="val 12903" name="adj"/>
              </a:avLst>
            </a:prstGeom>
            <a:solidFill>
              <a:srgbClr val="24382C"/>
            </a:solidFill>
            <a:ln cap="flat" cmpd="sng" w="14300">
              <a:solidFill>
                <a:srgbClr val="C6A8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6477000" y="0"/>
              <a:ext cx="47700" cy="590700"/>
            </a:xfrm>
            <a:prstGeom prst="roundRect">
              <a:avLst>
                <a:gd fmla="val 4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3"/>
            <p:cNvSpPr txBox="1"/>
            <p:nvPr/>
          </p:nvSpPr>
          <p:spPr>
            <a:xfrm>
              <a:off x="190500" y="0"/>
              <a:ext cx="2476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AI Recommendations</a:t>
              </a:r>
              <a:endParaRPr b="1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76" name="Google Shape;476;p23"/>
            <p:cNvSpPr txBox="1"/>
            <p:nvPr/>
          </p:nvSpPr>
          <p:spPr>
            <a:xfrm>
              <a:off x="3048000" y="0"/>
              <a:ext cx="3048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A4B5AA"/>
                  </a:solidFill>
                  <a:latin typeface="DM Sans"/>
                  <a:ea typeface="DM Sans"/>
                  <a:cs typeface="DM Sans"/>
                  <a:sym typeface="DM Sans"/>
                </a:rPr>
                <a:t>Not Available</a:t>
              </a:r>
              <a:endParaRPr b="0" sz="1500">
                <a:solidFill>
                  <a:srgbClr val="A4B5A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77" name="Google Shape;477;p23"/>
            <p:cNvSpPr txBox="1"/>
            <p:nvPr/>
          </p:nvSpPr>
          <p:spPr>
            <a:xfrm>
              <a:off x="6715125" y="0"/>
              <a:ext cx="37623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CFBF7"/>
                  </a:solidFill>
                  <a:latin typeface="DM Sans"/>
                  <a:ea typeface="DM Sans"/>
                  <a:cs typeface="DM Sans"/>
                  <a:sym typeface="DM Sans"/>
                </a:rPr>
                <a:t>Intelligent Advisory</a:t>
              </a:r>
              <a:endParaRPr b="1" sz="1600">
                <a:solidFill>
                  <a:srgbClr val="FCFBF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78" name="Google Shape;478;p23"/>
          <p:cNvGrpSpPr/>
          <p:nvPr/>
        </p:nvGrpSpPr>
        <p:grpSpPr>
          <a:xfrm>
            <a:off x="952500" y="5410200"/>
            <a:ext cx="10477500" cy="590700"/>
            <a:chOff x="190500" y="0"/>
            <a:chExt cx="10477500" cy="590700"/>
          </a:xfrm>
        </p:grpSpPr>
        <p:sp>
          <p:nvSpPr>
            <p:cNvPr id="479" name="Google Shape;479;p23"/>
            <p:cNvSpPr/>
            <p:nvPr/>
          </p:nvSpPr>
          <p:spPr>
            <a:xfrm>
              <a:off x="2857500" y="0"/>
              <a:ext cx="3429000" cy="590700"/>
            </a:xfrm>
            <a:prstGeom prst="roundRect">
              <a:avLst>
                <a:gd fmla="val 12903" name="adj"/>
              </a:avLst>
            </a:prstGeom>
            <a:solidFill>
              <a:srgbClr val="24382C"/>
            </a:solidFill>
            <a:ln cap="flat" cmpd="sng" w="9525">
              <a:solidFill>
                <a:srgbClr val="324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6477000" y="0"/>
              <a:ext cx="4191000" cy="590700"/>
            </a:xfrm>
            <a:prstGeom prst="roundRect">
              <a:avLst>
                <a:gd fmla="val 12903" name="adj"/>
              </a:avLst>
            </a:prstGeom>
            <a:solidFill>
              <a:srgbClr val="24382C"/>
            </a:solidFill>
            <a:ln cap="flat" cmpd="sng" w="14300">
              <a:solidFill>
                <a:srgbClr val="C6A8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6477000" y="0"/>
              <a:ext cx="47700" cy="590700"/>
            </a:xfrm>
            <a:prstGeom prst="roundRect">
              <a:avLst>
                <a:gd fmla="val 4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3"/>
            <p:cNvSpPr txBox="1"/>
            <p:nvPr/>
          </p:nvSpPr>
          <p:spPr>
            <a:xfrm>
              <a:off x="190500" y="0"/>
              <a:ext cx="24765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Secure Platform</a:t>
              </a:r>
              <a:endParaRPr b="1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3" name="Google Shape;483;p23"/>
            <p:cNvSpPr txBox="1"/>
            <p:nvPr/>
          </p:nvSpPr>
          <p:spPr>
            <a:xfrm>
              <a:off x="3048000" y="0"/>
              <a:ext cx="3048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A4B5AA"/>
                  </a:solidFill>
                  <a:latin typeface="DM Sans"/>
                  <a:ea typeface="DM Sans"/>
                  <a:cs typeface="DM Sans"/>
                  <a:sym typeface="DM Sans"/>
                </a:rPr>
                <a:t>Limited</a:t>
              </a:r>
              <a:endParaRPr b="0" sz="1500">
                <a:solidFill>
                  <a:srgbClr val="A4B5A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4" name="Google Shape;484;p23"/>
            <p:cNvSpPr txBox="1"/>
            <p:nvPr/>
          </p:nvSpPr>
          <p:spPr>
            <a:xfrm>
              <a:off x="6715125" y="0"/>
              <a:ext cx="37623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CFBF7"/>
                  </a:solidFill>
                  <a:latin typeface="DM Sans"/>
                  <a:ea typeface="DM Sans"/>
                  <a:cs typeface="DM Sans"/>
                  <a:sym typeface="DM Sans"/>
                </a:rPr>
                <a:t>JWT + Spring Security</a:t>
              </a:r>
              <a:endParaRPr b="1" sz="1600">
                <a:solidFill>
                  <a:srgbClr val="FCFBF7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4"/>
          <p:cNvSpPr txBox="1"/>
          <p:nvPr/>
        </p:nvSpPr>
        <p:spPr>
          <a:xfrm>
            <a:off x="762000" y="28575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rPr>
              <a:t>EXPANSION ROADMAP</a:t>
            </a:r>
            <a:endParaRPr b="1" sz="1100">
              <a:solidFill>
                <a:srgbClr val="C6A87C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90" name="Google Shape;490;p24"/>
          <p:cNvSpPr txBox="1"/>
          <p:nvPr/>
        </p:nvSpPr>
        <p:spPr>
          <a:xfrm>
            <a:off x="762000" y="495300"/>
            <a:ext cx="10668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Future Scope &amp; Strategic Roadmap</a:t>
            </a:r>
            <a:endParaRPr b="1" sz="32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91" name="Google Shape;491;p24"/>
          <p:cNvSpPr txBox="1"/>
          <p:nvPr/>
        </p:nvSpPr>
        <p:spPr>
          <a:xfrm>
            <a:off x="762000" y="9525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Scaling AgriVerse with advanced hardware, deep AI predictions, and expanded financial ecosystem.</a:t>
            </a:r>
            <a:endParaRPr b="0" sz="20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92" name="Google Shape;492;p24"/>
          <p:cNvGrpSpPr/>
          <p:nvPr/>
        </p:nvGrpSpPr>
        <p:grpSpPr>
          <a:xfrm>
            <a:off x="762000" y="1476375"/>
            <a:ext cx="3333900" cy="2190900"/>
            <a:chOff x="0" y="0"/>
            <a:chExt cx="3333900" cy="2190900"/>
          </a:xfrm>
        </p:grpSpPr>
        <p:sp>
          <p:nvSpPr>
            <p:cNvPr id="493" name="Google Shape;493;p24"/>
            <p:cNvSpPr/>
            <p:nvPr/>
          </p:nvSpPr>
          <p:spPr>
            <a:xfrm>
              <a:off x="0" y="0"/>
              <a:ext cx="3333900" cy="2190900"/>
            </a:xfrm>
            <a:prstGeom prst="roundRect">
              <a:avLst>
                <a:gd fmla="val 3478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4"/>
            <p:cNvSpPr/>
            <p:nvPr/>
          </p:nvSpPr>
          <p:spPr>
            <a:xfrm>
              <a:off x="0" y="0"/>
              <a:ext cx="38100" cy="21909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4"/>
            <p:cNvSpPr txBox="1"/>
            <p:nvPr/>
          </p:nvSpPr>
          <p:spPr>
            <a:xfrm>
              <a:off x="190500" y="190500"/>
              <a:ext cx="2952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01</a:t>
              </a:r>
              <a:endParaRPr b="1" sz="16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IoT Sensor Integration</a:t>
              </a:r>
              <a:endParaRPr b="1" sz="16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Seamlessly integrate data from soil, weather, and crop health sensors for real-time insights.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96" name="Google Shape;496;p24"/>
          <p:cNvGrpSpPr/>
          <p:nvPr/>
        </p:nvGrpSpPr>
        <p:grpSpPr>
          <a:xfrm>
            <a:off x="4429125" y="1476375"/>
            <a:ext cx="3333900" cy="2190900"/>
            <a:chOff x="0" y="0"/>
            <a:chExt cx="3333900" cy="2190900"/>
          </a:xfrm>
        </p:grpSpPr>
        <p:sp>
          <p:nvSpPr>
            <p:cNvPr id="497" name="Google Shape;497;p24"/>
            <p:cNvSpPr/>
            <p:nvPr/>
          </p:nvSpPr>
          <p:spPr>
            <a:xfrm>
              <a:off x="0" y="0"/>
              <a:ext cx="3333900" cy="2190900"/>
            </a:xfrm>
            <a:prstGeom prst="roundRect">
              <a:avLst>
                <a:gd fmla="val 3478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4"/>
            <p:cNvSpPr/>
            <p:nvPr/>
          </p:nvSpPr>
          <p:spPr>
            <a:xfrm>
              <a:off x="0" y="0"/>
              <a:ext cx="38100" cy="21909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4"/>
            <p:cNvSpPr txBox="1"/>
            <p:nvPr/>
          </p:nvSpPr>
          <p:spPr>
            <a:xfrm>
              <a:off x="190500" y="190500"/>
              <a:ext cx="2952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02</a:t>
              </a:r>
              <a:endParaRPr b="1" sz="16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Drone Monitoring</a:t>
              </a:r>
              <a:endParaRPr b="1" sz="16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Utilize drones for aerial imaging, automated pest detection, and comprehensive crop analysis.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00" name="Google Shape;500;p24"/>
          <p:cNvGrpSpPr/>
          <p:nvPr/>
        </p:nvGrpSpPr>
        <p:grpSpPr>
          <a:xfrm>
            <a:off x="8096250" y="1476375"/>
            <a:ext cx="3333900" cy="2190900"/>
            <a:chOff x="0" y="0"/>
            <a:chExt cx="3333900" cy="2190900"/>
          </a:xfrm>
        </p:grpSpPr>
        <p:sp>
          <p:nvSpPr>
            <p:cNvPr id="501" name="Google Shape;501;p24"/>
            <p:cNvSpPr/>
            <p:nvPr/>
          </p:nvSpPr>
          <p:spPr>
            <a:xfrm>
              <a:off x="0" y="0"/>
              <a:ext cx="3333900" cy="2190900"/>
            </a:xfrm>
            <a:prstGeom prst="roundRect">
              <a:avLst>
                <a:gd fmla="val 3478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0" y="0"/>
              <a:ext cx="38100" cy="21909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4"/>
            <p:cNvSpPr txBox="1"/>
            <p:nvPr/>
          </p:nvSpPr>
          <p:spPr>
            <a:xfrm>
              <a:off x="190500" y="190500"/>
              <a:ext cx="2952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03</a:t>
              </a:r>
              <a:endParaRPr b="1" sz="14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AI Prediction Improvement</a:t>
              </a:r>
              <a:endParaRPr b="1" sz="16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Enhance AI models for more accurate yield predictions, disease forecasting, and resource management.</a:t>
              </a:r>
              <a:endParaRPr b="0" sz="13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04" name="Google Shape;504;p24"/>
          <p:cNvGrpSpPr/>
          <p:nvPr/>
        </p:nvGrpSpPr>
        <p:grpSpPr>
          <a:xfrm>
            <a:off x="762000" y="3905250"/>
            <a:ext cx="3333900" cy="2190900"/>
            <a:chOff x="0" y="0"/>
            <a:chExt cx="3333900" cy="2190900"/>
          </a:xfrm>
        </p:grpSpPr>
        <p:sp>
          <p:nvSpPr>
            <p:cNvPr id="505" name="Google Shape;505;p24"/>
            <p:cNvSpPr/>
            <p:nvPr/>
          </p:nvSpPr>
          <p:spPr>
            <a:xfrm>
              <a:off x="0" y="0"/>
              <a:ext cx="3333900" cy="2190900"/>
            </a:xfrm>
            <a:prstGeom prst="roundRect">
              <a:avLst>
                <a:gd fmla="val 3478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0" y="0"/>
              <a:ext cx="38100" cy="21909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4"/>
            <p:cNvSpPr txBox="1"/>
            <p:nvPr/>
          </p:nvSpPr>
          <p:spPr>
            <a:xfrm>
              <a:off x="190500" y="190500"/>
              <a:ext cx="2952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04</a:t>
              </a:r>
              <a:endParaRPr b="1" sz="16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Mobile Application</a:t>
              </a:r>
              <a:endParaRPr b="1" sz="16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Develop a dedicated mobile app for farmers to access AgriVerse features on-the-go.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08" name="Google Shape;508;p24"/>
          <p:cNvGrpSpPr/>
          <p:nvPr/>
        </p:nvGrpSpPr>
        <p:grpSpPr>
          <a:xfrm>
            <a:off x="4429125" y="3905250"/>
            <a:ext cx="3333900" cy="2190900"/>
            <a:chOff x="0" y="0"/>
            <a:chExt cx="3333900" cy="2190900"/>
          </a:xfrm>
        </p:grpSpPr>
        <p:sp>
          <p:nvSpPr>
            <p:cNvPr id="509" name="Google Shape;509;p24"/>
            <p:cNvSpPr/>
            <p:nvPr/>
          </p:nvSpPr>
          <p:spPr>
            <a:xfrm>
              <a:off x="0" y="0"/>
              <a:ext cx="3333900" cy="2190900"/>
            </a:xfrm>
            <a:prstGeom prst="roundRect">
              <a:avLst>
                <a:gd fmla="val 3478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0" y="0"/>
              <a:ext cx="38100" cy="21909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4"/>
            <p:cNvSpPr txBox="1"/>
            <p:nvPr/>
          </p:nvSpPr>
          <p:spPr>
            <a:xfrm>
              <a:off x="190500" y="190500"/>
              <a:ext cx="2952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05</a:t>
              </a:r>
              <a:endParaRPr b="1" sz="16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Government Scheme Integration</a:t>
              </a:r>
              <a:endParaRPr b="1" sz="16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Integrate with government agricultural schemes and subsidies to provide farmers with direct support.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12" name="Google Shape;512;p24"/>
          <p:cNvGrpSpPr/>
          <p:nvPr/>
        </p:nvGrpSpPr>
        <p:grpSpPr>
          <a:xfrm>
            <a:off x="8096250" y="3905250"/>
            <a:ext cx="3333900" cy="2190900"/>
            <a:chOff x="0" y="0"/>
            <a:chExt cx="3333900" cy="2190900"/>
          </a:xfrm>
        </p:grpSpPr>
        <p:sp>
          <p:nvSpPr>
            <p:cNvPr id="513" name="Google Shape;513;p24"/>
            <p:cNvSpPr/>
            <p:nvPr/>
          </p:nvSpPr>
          <p:spPr>
            <a:xfrm>
              <a:off x="0" y="0"/>
              <a:ext cx="3333900" cy="2190900"/>
            </a:xfrm>
            <a:prstGeom prst="roundRect">
              <a:avLst>
                <a:gd fmla="val 3478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0" y="0"/>
              <a:ext cx="38100" cy="2190900"/>
            </a:xfrm>
            <a:prstGeom prst="roundRect">
              <a:avLst>
                <a:gd fmla="val 5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4"/>
            <p:cNvSpPr txBox="1"/>
            <p:nvPr/>
          </p:nvSpPr>
          <p:spPr>
            <a:xfrm>
              <a:off x="190500" y="190500"/>
              <a:ext cx="2952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06</a:t>
              </a:r>
              <a:endParaRPr b="1" sz="16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Online Payments</a:t>
              </a:r>
              <a:endParaRPr b="1" sz="16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Implement secure online payment gateways for marketplace transactions and expert consultations.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25"/>
          <p:cNvGrpSpPr/>
          <p:nvPr/>
        </p:nvGrpSpPr>
        <p:grpSpPr>
          <a:xfrm>
            <a:off x="762000" y="285750"/>
            <a:ext cx="10668000" cy="1251300"/>
            <a:chOff x="0" y="0"/>
            <a:chExt cx="10668000" cy="1251300"/>
          </a:xfrm>
        </p:grpSpPr>
        <p:sp>
          <p:nvSpPr>
            <p:cNvPr id="521" name="Google Shape;521;p25"/>
            <p:cNvSpPr txBox="1"/>
            <p:nvPr/>
          </p:nvSpPr>
          <p:spPr>
            <a:xfrm>
              <a:off x="0" y="0"/>
              <a:ext cx="1066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RESULTS &amp; IMPACT</a:t>
              </a:r>
              <a:endParaRPr b="1" sz="11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522" name="Google Shape;522;p25"/>
            <p:cNvSpPr txBox="1"/>
            <p:nvPr/>
          </p:nvSpPr>
          <p:spPr>
            <a:xfrm>
              <a:off x="0" y="209550"/>
              <a:ext cx="10668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Results &amp; Benefits</a:t>
              </a:r>
              <a:endParaRPr b="1" sz="32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523" name="Google Shape;523;p25"/>
            <p:cNvSpPr txBox="1"/>
            <p:nvPr/>
          </p:nvSpPr>
          <p:spPr>
            <a:xfrm>
              <a:off x="0" y="685800"/>
              <a:ext cx="10668000" cy="56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Empowering farmers with data-driven operations, intelligent insights, and direct connectivity.</a:t>
              </a:r>
              <a:endParaRPr b="0" sz="20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24" name="Google Shape;524;p25"/>
          <p:cNvGrpSpPr/>
          <p:nvPr/>
        </p:nvGrpSpPr>
        <p:grpSpPr>
          <a:xfrm>
            <a:off x="762000" y="1712749"/>
            <a:ext cx="10668150" cy="4800758"/>
            <a:chOff x="0" y="0"/>
            <a:chExt cx="10668150" cy="4572150"/>
          </a:xfrm>
        </p:grpSpPr>
        <p:grpSp>
          <p:nvGrpSpPr>
            <p:cNvPr id="525" name="Google Shape;525;p25"/>
            <p:cNvGrpSpPr/>
            <p:nvPr/>
          </p:nvGrpSpPr>
          <p:grpSpPr>
            <a:xfrm>
              <a:off x="0" y="0"/>
              <a:ext cx="3333900" cy="2190900"/>
              <a:chOff x="0" y="0"/>
              <a:chExt cx="3333900" cy="2190900"/>
            </a:xfrm>
          </p:grpSpPr>
          <p:sp>
            <p:nvSpPr>
              <p:cNvPr id="526" name="Google Shape;526;p25"/>
              <p:cNvSpPr/>
              <p:nvPr/>
            </p:nvSpPr>
            <p:spPr>
              <a:xfrm>
                <a:off x="0" y="0"/>
                <a:ext cx="3333900" cy="2190900"/>
              </a:xfrm>
              <a:prstGeom prst="roundRect">
                <a:avLst>
                  <a:gd fmla="val 3478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5"/>
              <p:cNvSpPr/>
              <p:nvPr/>
            </p:nvSpPr>
            <p:spPr>
              <a:xfrm>
                <a:off x="0" y="0"/>
                <a:ext cx="381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5"/>
              <p:cNvSpPr txBox="1"/>
              <p:nvPr/>
            </p:nvSpPr>
            <p:spPr>
              <a:xfrm>
                <a:off x="190500" y="190500"/>
                <a:ext cx="29529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01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Improved Farm Management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Centralized management of crops, farming activities, and records.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29" name="Google Shape;529;p25"/>
            <p:cNvGrpSpPr/>
            <p:nvPr/>
          </p:nvGrpSpPr>
          <p:grpSpPr>
            <a:xfrm>
              <a:off x="3667125" y="0"/>
              <a:ext cx="3333900" cy="2190900"/>
              <a:chOff x="0" y="0"/>
              <a:chExt cx="3333900" cy="2190900"/>
            </a:xfrm>
          </p:grpSpPr>
          <p:sp>
            <p:nvSpPr>
              <p:cNvPr id="530" name="Google Shape;530;p25"/>
              <p:cNvSpPr/>
              <p:nvPr/>
            </p:nvSpPr>
            <p:spPr>
              <a:xfrm>
                <a:off x="0" y="0"/>
                <a:ext cx="3333900" cy="2190900"/>
              </a:xfrm>
              <a:prstGeom prst="roundRect">
                <a:avLst>
                  <a:gd fmla="val 3478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5"/>
              <p:cNvSpPr/>
              <p:nvPr/>
            </p:nvSpPr>
            <p:spPr>
              <a:xfrm>
                <a:off x="0" y="0"/>
                <a:ext cx="381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25"/>
              <p:cNvSpPr txBox="1"/>
              <p:nvPr/>
            </p:nvSpPr>
            <p:spPr>
              <a:xfrm>
                <a:off x="190500" y="190500"/>
                <a:ext cx="29529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02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Smarter Decisions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AI-based recommendations and real-time information support better decisions.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33" name="Google Shape;533;p25"/>
            <p:cNvGrpSpPr/>
            <p:nvPr/>
          </p:nvGrpSpPr>
          <p:grpSpPr>
            <a:xfrm>
              <a:off x="7334250" y="0"/>
              <a:ext cx="3333900" cy="2190900"/>
              <a:chOff x="0" y="0"/>
              <a:chExt cx="3333900" cy="2190900"/>
            </a:xfrm>
          </p:grpSpPr>
          <p:sp>
            <p:nvSpPr>
              <p:cNvPr id="534" name="Google Shape;534;p25"/>
              <p:cNvSpPr/>
              <p:nvPr/>
            </p:nvSpPr>
            <p:spPr>
              <a:xfrm>
                <a:off x="0" y="0"/>
                <a:ext cx="3333900" cy="2190900"/>
              </a:xfrm>
              <a:prstGeom prst="roundRect">
                <a:avLst>
                  <a:gd fmla="val 3478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25"/>
              <p:cNvSpPr/>
              <p:nvPr/>
            </p:nvSpPr>
            <p:spPr>
              <a:xfrm>
                <a:off x="0" y="0"/>
                <a:ext cx="381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25"/>
              <p:cNvSpPr txBox="1"/>
              <p:nvPr/>
            </p:nvSpPr>
            <p:spPr>
              <a:xfrm>
                <a:off x="190500" y="190500"/>
                <a:ext cx="29529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03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Early Detection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Helps identify crop-related issues faster and take timely action.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37" name="Google Shape;537;p25"/>
            <p:cNvGrpSpPr/>
            <p:nvPr/>
          </p:nvGrpSpPr>
          <p:grpSpPr>
            <a:xfrm>
              <a:off x="0" y="2381250"/>
              <a:ext cx="3333900" cy="2190900"/>
              <a:chOff x="0" y="0"/>
              <a:chExt cx="3333900" cy="2190900"/>
            </a:xfrm>
          </p:grpSpPr>
          <p:sp>
            <p:nvSpPr>
              <p:cNvPr id="538" name="Google Shape;538;p25"/>
              <p:cNvSpPr/>
              <p:nvPr/>
            </p:nvSpPr>
            <p:spPr>
              <a:xfrm>
                <a:off x="0" y="0"/>
                <a:ext cx="3333900" cy="2190900"/>
              </a:xfrm>
              <a:prstGeom prst="roundRect">
                <a:avLst>
                  <a:gd fmla="val 3478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25"/>
              <p:cNvSpPr/>
              <p:nvPr/>
            </p:nvSpPr>
            <p:spPr>
              <a:xfrm>
                <a:off x="0" y="0"/>
                <a:ext cx="381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25"/>
              <p:cNvSpPr txBox="1"/>
              <p:nvPr/>
            </p:nvSpPr>
            <p:spPr>
              <a:xfrm>
                <a:off x="190500" y="190500"/>
                <a:ext cx="29529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04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Real-Time Insights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Weather conditions and market prices are available in one platform.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41" name="Google Shape;541;p25"/>
            <p:cNvGrpSpPr/>
            <p:nvPr/>
          </p:nvGrpSpPr>
          <p:grpSpPr>
            <a:xfrm>
              <a:off x="3667125" y="2381250"/>
              <a:ext cx="3333900" cy="2190900"/>
              <a:chOff x="0" y="0"/>
              <a:chExt cx="3333900" cy="2190900"/>
            </a:xfrm>
          </p:grpSpPr>
          <p:sp>
            <p:nvSpPr>
              <p:cNvPr id="542" name="Google Shape;542;p25"/>
              <p:cNvSpPr/>
              <p:nvPr/>
            </p:nvSpPr>
            <p:spPr>
              <a:xfrm>
                <a:off x="0" y="0"/>
                <a:ext cx="3333900" cy="2190900"/>
              </a:xfrm>
              <a:prstGeom prst="roundRect">
                <a:avLst>
                  <a:gd fmla="val 3478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25"/>
              <p:cNvSpPr/>
              <p:nvPr/>
            </p:nvSpPr>
            <p:spPr>
              <a:xfrm>
                <a:off x="0" y="0"/>
                <a:ext cx="381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25"/>
              <p:cNvSpPr txBox="1"/>
              <p:nvPr/>
            </p:nvSpPr>
            <p:spPr>
              <a:xfrm>
                <a:off x="190500" y="190500"/>
                <a:ext cx="29529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05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Market Connectivity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Enables direct interaction between farmers and buyers, reducing middlemen.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45" name="Google Shape;545;p25"/>
            <p:cNvGrpSpPr/>
            <p:nvPr/>
          </p:nvGrpSpPr>
          <p:grpSpPr>
            <a:xfrm>
              <a:off x="7334250" y="2381250"/>
              <a:ext cx="3333900" cy="2190900"/>
              <a:chOff x="0" y="0"/>
              <a:chExt cx="3333900" cy="2190900"/>
            </a:xfrm>
          </p:grpSpPr>
          <p:sp>
            <p:nvSpPr>
              <p:cNvPr id="546" name="Google Shape;546;p25"/>
              <p:cNvSpPr/>
              <p:nvPr/>
            </p:nvSpPr>
            <p:spPr>
              <a:xfrm>
                <a:off x="0" y="0"/>
                <a:ext cx="3333900" cy="2190900"/>
              </a:xfrm>
              <a:prstGeom prst="roundRect">
                <a:avLst>
                  <a:gd fmla="val 3478" name="adj"/>
                </a:avLst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25"/>
              <p:cNvSpPr/>
              <p:nvPr/>
            </p:nvSpPr>
            <p:spPr>
              <a:xfrm>
                <a:off x="0" y="0"/>
                <a:ext cx="381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25"/>
              <p:cNvSpPr txBox="1"/>
              <p:nvPr/>
            </p:nvSpPr>
            <p:spPr>
              <a:xfrm>
                <a:off x="190500" y="190500"/>
                <a:ext cx="29529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C6A87C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06</a:t>
                </a:r>
                <a:endParaRPr b="1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A2B22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Secure Access</a:t>
                </a:r>
                <a:endParaRPr b="1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3A4F4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Role-based authentication provides secure access for different users.</a:t>
                </a:r>
                <a:endParaRPr b="0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6"/>
          <p:cNvSpPr txBox="1"/>
          <p:nvPr/>
        </p:nvSpPr>
        <p:spPr>
          <a:xfrm>
            <a:off x="762075" y="514675"/>
            <a:ext cx="10668000" cy="1230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CONCLUSION</a:t>
            </a:r>
            <a:endParaRPr b="1" sz="20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Summary &amp; Key Takeaways</a:t>
            </a:r>
            <a:endParaRPr b="1" sz="33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Transforming modern agriculture through a unified, secure, and intelligent ecosystem.</a:t>
            </a:r>
            <a:endParaRPr b="0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54" name="Google Shape;554;p26"/>
          <p:cNvGrpSpPr/>
          <p:nvPr/>
        </p:nvGrpSpPr>
        <p:grpSpPr>
          <a:xfrm>
            <a:off x="762000" y="1878274"/>
            <a:ext cx="3295800" cy="4265390"/>
            <a:chOff x="0" y="0"/>
            <a:chExt cx="3295800" cy="4381500"/>
          </a:xfrm>
        </p:grpSpPr>
        <p:sp>
          <p:nvSpPr>
            <p:cNvPr id="555" name="Google Shape;555;p26"/>
            <p:cNvSpPr/>
            <p:nvPr/>
          </p:nvSpPr>
          <p:spPr>
            <a:xfrm>
              <a:off x="0" y="0"/>
              <a:ext cx="3295800" cy="4381500"/>
            </a:xfrm>
            <a:prstGeom prst="roundRect">
              <a:avLst>
                <a:gd fmla="val 2890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6"/>
            <p:cNvSpPr/>
            <p:nvPr/>
          </p:nvSpPr>
          <p:spPr>
            <a:xfrm>
              <a:off x="0" y="0"/>
              <a:ext cx="47700" cy="4381500"/>
            </a:xfrm>
            <a:prstGeom prst="roundRect">
              <a:avLst>
                <a:gd fmla="val 4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6"/>
            <p:cNvSpPr txBox="1"/>
            <p:nvPr/>
          </p:nvSpPr>
          <p:spPr>
            <a:xfrm>
              <a:off x="238125" y="285750"/>
              <a:ext cx="28194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01</a:t>
              </a:r>
              <a:endParaRPr b="1" sz="16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Unified Platform</a:t>
              </a:r>
              <a:endParaRPr b="1" sz="16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Addresses core agricultural challenges by integrating essential operations into one seamless digital hub.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1A2B22"/>
                </a:buClr>
                <a:buSzPts val="1600"/>
                <a:buFont typeface="DM Sans"/>
                <a:buChar char="●"/>
              </a:pPr>
              <a:r>
                <a:rPr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Crop Management &amp; Weather Insights</a:t>
              </a:r>
              <a:endParaRPr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B22"/>
                </a:buClr>
                <a:buSzPts val="1600"/>
                <a:buFont typeface="DM Sans"/>
                <a:buChar char="●"/>
              </a:pPr>
              <a:r>
                <a:rPr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AI Crop Advisory &amp; Pest Detection</a:t>
              </a:r>
              <a:endParaRPr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B22"/>
                </a:buClr>
                <a:buSzPts val="1600"/>
                <a:buFont typeface="DM Sans"/>
                <a:buChar char="●"/>
              </a:pPr>
              <a:r>
                <a:rPr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Expert Consultations</a:t>
              </a:r>
              <a:endParaRPr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B22"/>
                </a:buClr>
                <a:buSzPts val="1600"/>
                <a:buFont typeface="DM Sans"/>
                <a:buChar char="●"/>
              </a:pPr>
              <a:r>
                <a:rPr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Digital Marketplace &amp; Price Info</a:t>
              </a:r>
              <a:endParaRPr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58" name="Google Shape;558;p26"/>
          <p:cNvGrpSpPr/>
          <p:nvPr/>
        </p:nvGrpSpPr>
        <p:grpSpPr>
          <a:xfrm>
            <a:off x="4448175" y="1878224"/>
            <a:ext cx="3295800" cy="4265390"/>
            <a:chOff x="0" y="0"/>
            <a:chExt cx="3295800" cy="4381500"/>
          </a:xfrm>
        </p:grpSpPr>
        <p:sp>
          <p:nvSpPr>
            <p:cNvPr id="559" name="Google Shape;559;p26"/>
            <p:cNvSpPr/>
            <p:nvPr/>
          </p:nvSpPr>
          <p:spPr>
            <a:xfrm>
              <a:off x="0" y="0"/>
              <a:ext cx="3295800" cy="4381500"/>
            </a:xfrm>
            <a:prstGeom prst="roundRect">
              <a:avLst>
                <a:gd fmla="val 2890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0" y="0"/>
              <a:ext cx="47700" cy="4381500"/>
            </a:xfrm>
            <a:prstGeom prst="roundRect">
              <a:avLst>
                <a:gd fmla="val 4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6"/>
            <p:cNvSpPr txBox="1"/>
            <p:nvPr/>
          </p:nvSpPr>
          <p:spPr>
            <a:xfrm>
              <a:off x="238125" y="285750"/>
              <a:ext cx="28194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02</a:t>
              </a:r>
              <a:endParaRPr b="1" sz="16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Scalable Architecture</a:t>
              </a:r>
              <a:endParaRPr b="1" sz="16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Built on robust modern technologies to support scalable growth and enterprise-grade security.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1A2B22"/>
                </a:buClr>
                <a:buSzPts val="1600"/>
                <a:buFont typeface="DM Sans"/>
                <a:buChar char="●"/>
              </a:pPr>
              <a:r>
                <a:rPr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HTML5, CSS3 &amp; Vanilla JavaScript</a:t>
              </a:r>
              <a:endParaRPr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B22"/>
                </a:buClr>
                <a:buSzPts val="1600"/>
                <a:buFont typeface="DM Sans"/>
                <a:buChar char="●"/>
              </a:pPr>
              <a:r>
                <a:rPr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Spring Boot, REST APIs &amp; MongoDB</a:t>
              </a:r>
              <a:endParaRPr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B22"/>
                </a:buClr>
                <a:buSzPts val="1600"/>
                <a:buFont typeface="DM Sans"/>
                <a:buChar char="●"/>
              </a:pPr>
              <a:r>
                <a:rPr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Spring Security &amp; JWT Auth</a:t>
              </a:r>
              <a:endParaRPr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B22"/>
                </a:buClr>
                <a:buSzPts val="1600"/>
                <a:buFont typeface="DM Sans"/>
                <a:buChar char="●"/>
              </a:pPr>
              <a:r>
                <a:rPr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Role-based Multi-user Access</a:t>
              </a:r>
              <a:endParaRPr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62" name="Google Shape;562;p26"/>
          <p:cNvGrpSpPr/>
          <p:nvPr/>
        </p:nvGrpSpPr>
        <p:grpSpPr>
          <a:xfrm>
            <a:off x="8134350" y="1878124"/>
            <a:ext cx="3295800" cy="4265390"/>
            <a:chOff x="0" y="0"/>
            <a:chExt cx="3295800" cy="4381500"/>
          </a:xfrm>
        </p:grpSpPr>
        <p:sp>
          <p:nvSpPr>
            <p:cNvPr id="563" name="Google Shape;563;p26"/>
            <p:cNvSpPr/>
            <p:nvPr/>
          </p:nvSpPr>
          <p:spPr>
            <a:xfrm>
              <a:off x="0" y="0"/>
              <a:ext cx="3295800" cy="4381500"/>
            </a:xfrm>
            <a:prstGeom prst="roundRect">
              <a:avLst>
                <a:gd fmla="val 2890" name="adj"/>
              </a:avLst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0" y="0"/>
              <a:ext cx="47700" cy="4381500"/>
            </a:xfrm>
            <a:prstGeom prst="roundRect">
              <a:avLst>
                <a:gd fmla="val 40000" name="adj"/>
              </a:avLst>
            </a:prstGeom>
            <a:solidFill>
              <a:srgbClr val="C6A87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6"/>
            <p:cNvSpPr txBox="1"/>
            <p:nvPr/>
          </p:nvSpPr>
          <p:spPr>
            <a:xfrm>
              <a:off x="238125" y="285750"/>
              <a:ext cx="28194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C6A87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03</a:t>
              </a:r>
              <a:endParaRPr b="1" sz="1600">
                <a:solidFill>
                  <a:srgbClr val="C6A87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2B22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Farmer Empowerment</a:t>
              </a:r>
              <a:endParaRPr b="1" sz="1600">
                <a:solidFill>
                  <a:srgbClr val="1A2B22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A4F41"/>
                  </a:solidFill>
                  <a:latin typeface="DM Sans"/>
                  <a:ea typeface="DM Sans"/>
                  <a:cs typeface="DM Sans"/>
                  <a:sym typeface="DM Sans"/>
                </a:rPr>
                <a:t>Drives digital transformation across agricultural workflows to maximize farming efficiency.</a:t>
              </a:r>
              <a:endParaRPr b="0" sz="1600">
                <a:solidFill>
                  <a:srgbClr val="3A4F4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1A2B22"/>
                </a:buClr>
                <a:buSzPts val="1600"/>
                <a:buFont typeface="DM Sans"/>
                <a:buChar char="●"/>
              </a:pPr>
              <a:r>
                <a:rPr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Data-Driven &amp; Faster Decisions</a:t>
              </a:r>
              <a:endParaRPr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B22"/>
                </a:buClr>
                <a:buSzPts val="1600"/>
                <a:buFont typeface="DM Sans"/>
                <a:buChar char="●"/>
              </a:pPr>
              <a:r>
                <a:rPr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Optimized Crop Planning</a:t>
              </a:r>
              <a:endParaRPr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B22"/>
                </a:buClr>
                <a:buSzPts val="1600"/>
                <a:buFont typeface="DM Sans"/>
                <a:buChar char="●"/>
              </a:pPr>
              <a:r>
                <a:rPr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Centralized Activity Management</a:t>
              </a:r>
              <a:endParaRPr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B22"/>
                </a:buClr>
                <a:buSzPts val="1600"/>
                <a:buFont typeface="DM Sans"/>
                <a:buChar char="●"/>
              </a:pPr>
              <a:r>
                <a:rPr lang="en-US" sz="1600">
                  <a:solidFill>
                    <a:srgbClr val="1A2B22"/>
                  </a:solidFill>
                  <a:latin typeface="DM Sans"/>
                  <a:ea typeface="DM Sans"/>
                  <a:cs typeface="DM Sans"/>
                  <a:sym typeface="DM Sans"/>
                </a:rPr>
                <a:t>Direct Buyer Connections</a:t>
              </a:r>
              <a:endParaRPr sz="1600">
                <a:solidFill>
                  <a:srgbClr val="1A2B2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0" name="Google Shape;570;p27"/>
          <p:cNvGrpSpPr/>
          <p:nvPr/>
        </p:nvGrpSpPr>
        <p:grpSpPr>
          <a:xfrm>
            <a:off x="772000" y="956791"/>
            <a:ext cx="10560930" cy="5416842"/>
            <a:chOff x="-12" y="150810"/>
            <a:chExt cx="5621703" cy="4421190"/>
          </a:xfrm>
        </p:grpSpPr>
        <p:sp>
          <p:nvSpPr>
            <p:cNvPr id="571" name="Google Shape;571;p27"/>
            <p:cNvSpPr txBox="1"/>
            <p:nvPr/>
          </p:nvSpPr>
          <p:spPr>
            <a:xfrm rot="-4811">
              <a:off x="47988" y="154710"/>
              <a:ext cx="5573705" cy="1655400"/>
            </a:xfrm>
            <a:prstGeom prst="rect">
              <a:avLst/>
            </a:prstGeom>
            <a:solidFill>
              <a:srgbClr val="F4F1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DISCUSSION &amp; COLLABORATION</a:t>
              </a:r>
              <a:endParaRPr b="1" sz="1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Thank You</a:t>
              </a:r>
              <a:endParaRPr b="1" sz="48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We welcome questions, critiques, and collaborations as we build the future of smart farming.</a:t>
              </a:r>
              <a:endPara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572" name="Google Shape;572;p27"/>
            <p:cNvGrpSpPr/>
            <p:nvPr/>
          </p:nvGrpSpPr>
          <p:grpSpPr>
            <a:xfrm>
              <a:off x="0" y="2000250"/>
              <a:ext cx="2714700" cy="1428901"/>
              <a:chOff x="0" y="0"/>
              <a:chExt cx="2714700" cy="1428901"/>
            </a:xfrm>
          </p:grpSpPr>
          <p:sp>
            <p:nvSpPr>
              <p:cNvPr id="573" name="Google Shape;573;p27"/>
              <p:cNvSpPr/>
              <p:nvPr/>
            </p:nvSpPr>
            <p:spPr>
              <a:xfrm>
                <a:off x="0" y="0"/>
                <a:ext cx="27147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4F1EA"/>
              </a:solidFill>
              <a:ln cap="flat" cmpd="sng" w="14300">
                <a:solidFill>
                  <a:srgbClr val="324A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7"/>
              <p:cNvSpPr/>
              <p:nvPr/>
            </p:nvSpPr>
            <p:spPr>
              <a:xfrm>
                <a:off x="0" y="0"/>
                <a:ext cx="47700" cy="1428900"/>
              </a:xfrm>
              <a:prstGeom prst="roundRect">
                <a:avLst>
                  <a:gd fmla="val 4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7"/>
              <p:cNvSpPr txBox="1"/>
              <p:nvPr/>
            </p:nvSpPr>
            <p:spPr>
              <a:xfrm>
                <a:off x="47989" y="1"/>
                <a:ext cx="2666700" cy="1428900"/>
              </a:xfrm>
              <a:prstGeom prst="rect">
                <a:avLst/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272525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PRESENTED BY</a:t>
                </a:r>
                <a:endParaRPr b="1" sz="2000">
                  <a:solidFill>
                    <a:srgbClr val="272525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272525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Team C</a:t>
                </a:r>
                <a:endParaRPr b="1" sz="2000">
                  <a:solidFill>
                    <a:srgbClr val="272525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72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AgriVerse Core Team</a:t>
                </a:r>
                <a:endParaRPr sz="2000">
                  <a:solidFill>
                    <a:srgbClr val="272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76" name="Google Shape;576;p27"/>
            <p:cNvGrpSpPr/>
            <p:nvPr/>
          </p:nvGrpSpPr>
          <p:grpSpPr>
            <a:xfrm>
              <a:off x="2905125" y="2000250"/>
              <a:ext cx="2714700" cy="1428901"/>
              <a:chOff x="0" y="0"/>
              <a:chExt cx="2714700" cy="1428901"/>
            </a:xfrm>
          </p:grpSpPr>
          <p:sp>
            <p:nvSpPr>
              <p:cNvPr id="577" name="Google Shape;577;p27"/>
              <p:cNvSpPr/>
              <p:nvPr/>
            </p:nvSpPr>
            <p:spPr>
              <a:xfrm>
                <a:off x="0" y="0"/>
                <a:ext cx="27147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4F1EA"/>
              </a:solidFill>
              <a:ln cap="flat" cmpd="sng" w="14300">
                <a:solidFill>
                  <a:srgbClr val="324A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7"/>
              <p:cNvSpPr/>
              <p:nvPr/>
            </p:nvSpPr>
            <p:spPr>
              <a:xfrm>
                <a:off x="0" y="0"/>
                <a:ext cx="47700" cy="1428900"/>
              </a:xfrm>
              <a:prstGeom prst="roundRect">
                <a:avLst>
                  <a:gd fmla="val 40000" name="adj"/>
                </a:avLst>
              </a:prstGeom>
              <a:solidFill>
                <a:srgbClr val="C6A87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7"/>
              <p:cNvSpPr txBox="1"/>
              <p:nvPr/>
            </p:nvSpPr>
            <p:spPr>
              <a:xfrm>
                <a:off x="47700" y="1"/>
                <a:ext cx="26667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dk1"/>
                    </a:solidFill>
                    <a:latin typeface="Space Mono"/>
                    <a:ea typeface="Space Mono"/>
                    <a:cs typeface="Space Mono"/>
                    <a:sym typeface="Space Mono"/>
                  </a:rPr>
                  <a:t>PROJECT GUIDE</a:t>
                </a:r>
                <a:endParaRPr b="1" sz="2000">
                  <a:solidFill>
                    <a:schemeClr val="dk1"/>
                  </a:solidFill>
                  <a:latin typeface="Space Mono"/>
                  <a:ea typeface="Space Mono"/>
                  <a:cs typeface="Space Mono"/>
                  <a:sym typeface="Space Mono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dk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Rahul S</a:t>
                </a:r>
                <a:endParaRPr b="1" sz="200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Strategic Advisor</a:t>
                </a:r>
                <a:endParaRPr sz="2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80" name="Google Shape;580;p27"/>
            <p:cNvGrpSpPr/>
            <p:nvPr/>
          </p:nvGrpSpPr>
          <p:grpSpPr>
            <a:xfrm>
              <a:off x="-12" y="3615375"/>
              <a:ext cx="5619912" cy="956625"/>
              <a:chOff x="-12" y="-4125"/>
              <a:chExt cx="5619912" cy="956625"/>
            </a:xfrm>
          </p:grpSpPr>
          <p:sp>
            <p:nvSpPr>
              <p:cNvPr id="581" name="Google Shape;581;p27"/>
              <p:cNvSpPr/>
              <p:nvPr/>
            </p:nvSpPr>
            <p:spPr>
              <a:xfrm>
                <a:off x="0" y="0"/>
                <a:ext cx="56199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4F1EA"/>
              </a:solidFill>
              <a:ln cap="flat" cmpd="sng" w="14300">
                <a:solidFill>
                  <a:srgbClr val="324A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7"/>
              <p:cNvSpPr txBox="1"/>
              <p:nvPr/>
            </p:nvSpPr>
            <p:spPr>
              <a:xfrm>
                <a:off x="-12" y="-4125"/>
                <a:ext cx="5619900" cy="952500"/>
              </a:xfrm>
              <a:prstGeom prst="rect">
                <a:avLst/>
              </a:prstGeom>
              <a:solidFill>
                <a:srgbClr val="F4F1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dk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Questions &amp; Open Floor</a:t>
                </a:r>
                <a:endParaRPr b="1" sz="200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Feel free to share your thoughts, ideas, or feedback.</a:t>
                </a:r>
                <a:endParaRPr sz="20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